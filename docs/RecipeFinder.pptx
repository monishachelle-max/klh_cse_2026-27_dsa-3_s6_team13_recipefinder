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0146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cover_photo.jpg"/>
          <p:cNvPicPr>
            <a:picLocks noChangeAspect="1"/>
          </p:cNvPicPr>
          <p:nvPr/>
        </p:nvPicPr>
        <p:blipFill>
          <a:blip r:embed="rId3"/>
          <a:srcRect/>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1C160F">
              <a:alpha val="58000"/>
            </a:srgbClr>
          </a:solidFill>
          <a:ln/>
        </p:spPr>
      </p:sp>
      <p:sp>
        <p:nvSpPr>
          <p:cNvPr id="4" name="Shape 1"/>
          <p:cNvSpPr/>
          <p:nvPr/>
        </p:nvSpPr>
        <p:spPr>
          <a:xfrm>
            <a:off x="0" y="0"/>
            <a:ext cx="12188952" cy="2331720"/>
          </a:xfrm>
          <a:prstGeom prst="rect">
            <a:avLst/>
          </a:prstGeom>
          <a:solidFill>
            <a:srgbClr val="000000">
              <a:alpha val="45000"/>
            </a:srgbClr>
          </a:solidFill>
          <a:ln/>
        </p:spPr>
      </p:sp>
      <p:sp>
        <p:nvSpPr>
          <p:cNvPr id="5" name="Shape 2"/>
          <p:cNvSpPr/>
          <p:nvPr/>
        </p:nvSpPr>
        <p:spPr>
          <a:xfrm>
            <a:off x="0" y="4389120"/>
            <a:ext cx="12188952" cy="2468880"/>
          </a:xfrm>
          <a:prstGeom prst="rect">
            <a:avLst/>
          </a:prstGeom>
          <a:solidFill>
            <a:srgbClr val="000000">
              <a:alpha val="70000"/>
            </a:srgbClr>
          </a:solidFill>
          <a:ln/>
        </p:spPr>
      </p:sp>
      <p:sp>
        <p:nvSpPr>
          <p:cNvPr id="6" name="Text 3"/>
          <p:cNvSpPr/>
          <p:nvPr/>
        </p:nvSpPr>
        <p:spPr>
          <a:xfrm>
            <a:off x="548640" y="292608"/>
            <a:ext cx="3657600" cy="365760"/>
          </a:xfrm>
          <a:prstGeom prst="rect">
            <a:avLst/>
          </a:prstGeom>
          <a:noFill/>
          <a:ln/>
        </p:spPr>
        <p:txBody>
          <a:bodyPr wrap="square" rtlCol="0" anchor="ctr"/>
          <a:lstStyle/>
          <a:p>
            <a:pPr marL="0" indent="0">
              <a:buNone/>
            </a:pPr>
            <a:r>
              <a:rPr lang="en-US" sz="1500" b="1" kern="0" spc="150" dirty="0">
                <a:solidFill>
                  <a:srgbClr val="FFFFFF"/>
                </a:solidFill>
                <a:latin typeface="Poppins" pitchFamily="34" charset="0"/>
                <a:ea typeface="Poppins" pitchFamily="34" charset="-122"/>
                <a:cs typeface="Poppins" pitchFamily="34" charset="-120"/>
              </a:rPr>
              <a:t>RECIPE FINDER</a:t>
            </a:r>
            <a:endParaRPr lang="en-US" sz="1500" dirty="0"/>
          </a:p>
        </p:txBody>
      </p:sp>
      <p:sp>
        <p:nvSpPr>
          <p:cNvPr id="7" name="Shape 4"/>
          <p:cNvSpPr/>
          <p:nvPr/>
        </p:nvSpPr>
        <p:spPr>
          <a:xfrm>
            <a:off x="548640" y="777240"/>
            <a:ext cx="11091672" cy="0"/>
          </a:xfrm>
          <a:prstGeom prst="line">
            <a:avLst/>
          </a:prstGeom>
          <a:noFill/>
          <a:ln w="9525">
            <a:solidFill>
              <a:srgbClr val="FFFFFF">
                <a:alpha val="40000"/>
              </a:srgbClr>
            </a:solidFill>
            <a:prstDash val="solid"/>
          </a:ln>
        </p:spPr>
      </p:sp>
      <p:sp>
        <p:nvSpPr>
          <p:cNvPr id="8" name="Text 5"/>
          <p:cNvSpPr/>
          <p:nvPr/>
        </p:nvSpPr>
        <p:spPr>
          <a:xfrm>
            <a:off x="548640" y="2331720"/>
            <a:ext cx="8686800" cy="1371600"/>
          </a:xfrm>
          <a:prstGeom prst="rect">
            <a:avLst/>
          </a:prstGeom>
          <a:noFill/>
          <a:ln/>
        </p:spPr>
        <p:txBody>
          <a:bodyPr wrap="square" rtlCol="0" anchor="ctr"/>
          <a:lstStyle/>
          <a:p>
            <a:pPr marL="0" indent="0">
              <a:buNone/>
            </a:pPr>
            <a:r>
              <a:rPr lang="en-US" sz="5600" b="1" dirty="0">
                <a:solidFill>
                  <a:srgbClr val="FFFFFF"/>
                </a:solidFill>
                <a:latin typeface="Poppins" pitchFamily="34" charset="0"/>
                <a:ea typeface="Poppins" pitchFamily="34" charset="-122"/>
                <a:cs typeface="Poppins" pitchFamily="34" charset="-120"/>
              </a:rPr>
              <a:t>Recipe Finder</a:t>
            </a:r>
            <a:endParaRPr lang="en-US" sz="5600" dirty="0"/>
          </a:p>
        </p:txBody>
      </p:sp>
      <p:sp>
        <p:nvSpPr>
          <p:cNvPr id="9" name="Text 6"/>
          <p:cNvSpPr/>
          <p:nvPr/>
        </p:nvSpPr>
        <p:spPr>
          <a:xfrm>
            <a:off x="566928" y="3429000"/>
            <a:ext cx="8229600" cy="548640"/>
          </a:xfrm>
          <a:prstGeom prst="rect">
            <a:avLst/>
          </a:prstGeom>
          <a:noFill/>
          <a:ln/>
        </p:spPr>
        <p:txBody>
          <a:bodyPr wrap="square" rtlCol="0" anchor="ctr"/>
          <a:lstStyle/>
          <a:p>
            <a:pPr marL="0" indent="0">
              <a:buNone/>
            </a:pPr>
            <a:r>
              <a:rPr lang="en-US" sz="1900" i="1" dirty="0">
                <a:solidFill>
                  <a:srgbClr val="E7D9B8"/>
                </a:solidFill>
                <a:latin typeface="Calibri" pitchFamily="34" charset="0"/>
                <a:ea typeface="Calibri" pitchFamily="34" charset="-122"/>
                <a:cs typeface="Calibri" pitchFamily="34" charset="-120"/>
              </a:rPr>
              <a:t>Search Recipes by Name and Display Complete Recipe Details</a:t>
            </a:r>
            <a:endParaRPr lang="en-US" sz="1900" dirty="0"/>
          </a:p>
        </p:txBody>
      </p:sp>
      <p:sp>
        <p:nvSpPr>
          <p:cNvPr id="10" name="Shape 7"/>
          <p:cNvSpPr/>
          <p:nvPr/>
        </p:nvSpPr>
        <p:spPr>
          <a:xfrm>
            <a:off x="548640" y="4160520"/>
            <a:ext cx="6126480" cy="1783080"/>
          </a:xfrm>
          <a:prstGeom prst="roundRect">
            <a:avLst>
              <a:gd name="adj" fmla="val 6154"/>
            </a:avLst>
          </a:prstGeom>
          <a:solidFill>
            <a:srgbClr val="000000">
              <a:alpha val="55000"/>
            </a:srgbClr>
          </a:solidFill>
          <a:ln w="9525">
            <a:solidFill>
              <a:srgbClr val="FFFFFF">
                <a:alpha val="30000"/>
              </a:srgbClr>
            </a:solidFill>
            <a:prstDash val="solid"/>
          </a:ln>
        </p:spPr>
      </p:sp>
      <p:sp>
        <p:nvSpPr>
          <p:cNvPr id="11" name="Text 8"/>
          <p:cNvSpPr/>
          <p:nvPr/>
        </p:nvSpPr>
        <p:spPr>
          <a:xfrm>
            <a:off x="777240" y="4297680"/>
            <a:ext cx="3657600" cy="274320"/>
          </a:xfrm>
          <a:prstGeom prst="rect">
            <a:avLst/>
          </a:prstGeom>
          <a:noFill/>
          <a:ln/>
        </p:spPr>
        <p:txBody>
          <a:bodyPr wrap="square" rtlCol="0" anchor="ctr"/>
          <a:lstStyle/>
          <a:p>
            <a:pPr marL="0" indent="0">
              <a:buNone/>
            </a:pPr>
            <a:r>
              <a:rPr lang="en-US" sz="1100" b="1" kern="0" spc="150" dirty="0">
                <a:solidFill>
                  <a:srgbClr val="8FA897"/>
                </a:solidFill>
                <a:latin typeface="Calibri" pitchFamily="34" charset="0"/>
                <a:ea typeface="Calibri" pitchFamily="34" charset="-122"/>
                <a:cs typeface="Calibri" pitchFamily="34" charset="-120"/>
              </a:rPr>
              <a:t>TEAM MEMBERS</a:t>
            </a:r>
            <a:endParaRPr lang="en-US" sz="1100" dirty="0"/>
          </a:p>
        </p:txBody>
      </p:sp>
      <p:sp>
        <p:nvSpPr>
          <p:cNvPr id="12" name="Text 9"/>
          <p:cNvSpPr/>
          <p:nvPr/>
        </p:nvSpPr>
        <p:spPr>
          <a:xfrm>
            <a:off x="777240" y="4590288"/>
            <a:ext cx="5669280" cy="1234440"/>
          </a:xfrm>
          <a:prstGeom prst="rect">
            <a:avLst/>
          </a:prstGeom>
          <a:noFill/>
          <a:ln/>
        </p:spPr>
        <p:txBody>
          <a:bodyPr wrap="square" rtlCol="0" anchor="t"/>
          <a:lstStyle/>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Monisha Raghini Chelle  –  2520030537</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Shaik Sabiya Thabassum  –  2520030502</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K. Siri Chandana  –  2520030453</a:t>
            </a:r>
            <a:endParaRPr lang="en-US" sz="1350" dirty="0"/>
          </a:p>
        </p:txBody>
      </p:sp>
      <p:sp>
        <p:nvSpPr>
          <p:cNvPr id="13" name="Shape 10"/>
          <p:cNvSpPr/>
          <p:nvPr/>
        </p:nvSpPr>
        <p:spPr>
          <a:xfrm>
            <a:off x="4494276" y="6291072"/>
            <a:ext cx="3200400" cy="384048"/>
          </a:xfrm>
          <a:prstGeom prst="roundRect">
            <a:avLst>
              <a:gd name="adj" fmla="val 50000"/>
            </a:avLst>
          </a:prstGeom>
          <a:solidFill>
            <a:srgbClr val="FFFFFF"/>
          </a:solidFill>
          <a:ln/>
        </p:spPr>
      </p:sp>
      <p:sp>
        <p:nvSpPr>
          <p:cNvPr id="14" name="Text 11"/>
          <p:cNvSpPr/>
          <p:nvPr/>
        </p:nvSpPr>
        <p:spPr>
          <a:xfrm>
            <a:off x="4494276" y="6291072"/>
            <a:ext cx="3200400" cy="384048"/>
          </a:xfrm>
          <a:prstGeom prst="rect">
            <a:avLst/>
          </a:prstGeom>
          <a:noFill/>
          <a:ln/>
        </p:spPr>
        <p:txBody>
          <a:bodyPr wrap="square" rtlCol="0" anchor="ctr"/>
          <a:lstStyle/>
          <a:p>
            <a:pPr marL="0" indent="0" algn="ctr">
              <a:buNone/>
            </a:pPr>
            <a:r>
              <a:rPr lang="en-US" sz="1050" b="1" dirty="0">
                <a:solidFill>
                  <a:srgbClr val="332A20"/>
                </a:solidFill>
                <a:latin typeface="Calibri" pitchFamily="34" charset="0"/>
                <a:ea typeface="Calibri" pitchFamily="34" charset="-122"/>
                <a:cs typeface="Calibri" pitchFamily="34" charset="-120"/>
              </a:rPr>
              <a:t>Recipe Finder · DSA Project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a:ln/>
        </p:spPr>
        <p:txBody>
          <a:bodyPr wrap="square" rtlCol="0" anchor="ctr"/>
          <a:lstStyle/>
          <a:p>
            <a:pPr marL="0" indent="0">
              <a:buNone/>
            </a:pPr>
            <a:r>
              <a:rPr lang="en-US" sz="3400" b="1" dirty="0">
                <a:solidFill>
                  <a:srgbClr val="46594B"/>
                </a:solidFill>
                <a:latin typeface="Poppins" pitchFamily="34" charset="0"/>
                <a:ea typeface="Poppins" pitchFamily="34" charset="-122"/>
                <a:cs typeface="Poppins" pitchFamily="34" charset="-120"/>
              </a:rPr>
              <a:t>Abstract</a:t>
            </a:r>
            <a:endParaRPr lang="en-US" sz="3400" dirty="0"/>
          </a:p>
        </p:txBody>
      </p:sp>
      <p:sp>
        <p:nvSpPr>
          <p:cNvPr id="3" name="Shape 1"/>
          <p:cNvSpPr/>
          <p:nvPr/>
        </p:nvSpPr>
        <p:spPr>
          <a:xfrm>
            <a:off x="566928" y="1051560"/>
            <a:ext cx="822960" cy="54864"/>
          </a:xfrm>
          <a:prstGeom prst="rect">
            <a:avLst/>
          </a:prstGeom>
          <a:solidFill>
            <a:srgbClr val="9C7A3C"/>
          </a:solidFill>
          <a:ln/>
        </p:spPr>
      </p:sp>
      <p:sp>
        <p:nvSpPr>
          <p:cNvPr id="4" name="Shape 2"/>
          <p:cNvSpPr/>
          <p:nvPr/>
        </p:nvSpPr>
        <p:spPr>
          <a:xfrm>
            <a:off x="548640" y="1417320"/>
            <a:ext cx="4114800" cy="4892040"/>
          </a:xfrm>
          <a:prstGeom prst="roundRect">
            <a:avLst>
              <a:gd name="adj" fmla="val 2667"/>
            </a:avLst>
          </a:prstGeom>
          <a:solidFill>
            <a:srgbClr val="ECEFEA"/>
          </a:solidFill>
          <a:ln/>
        </p:spPr>
      </p:sp>
      <p:sp>
        <p:nvSpPr>
          <p:cNvPr id="5" name="Shape 3"/>
          <p:cNvSpPr/>
          <p:nvPr/>
        </p:nvSpPr>
        <p:spPr>
          <a:xfrm>
            <a:off x="1234440" y="1691640"/>
            <a:ext cx="777240" cy="777240"/>
          </a:xfrm>
          <a:prstGeom prst="ellipse">
            <a:avLst/>
          </a:prstGeom>
          <a:solidFill>
            <a:srgbClr val="FFFFFF"/>
          </a:solidFill>
          <a:ln/>
        </p:spPr>
      </p:sp>
      <p:pic>
        <p:nvPicPr>
          <p:cNvPr id="6" name="Image 0" descr="ic_ingredients_green.png"/>
          <p:cNvPicPr>
            <a:picLocks noChangeAspect="1"/>
          </p:cNvPicPr>
          <p:nvPr/>
        </p:nvPicPr>
        <p:blipFill>
          <a:blip r:embed="rId3"/>
          <a:stretch>
            <a:fillRect/>
          </a:stretch>
        </p:blipFill>
        <p:spPr>
          <a:xfrm>
            <a:off x="1409319" y="1866519"/>
            <a:ext cx="427482" cy="427482"/>
          </a:xfrm>
          <a:prstGeom prst="rect">
            <a:avLst/>
          </a:prstGeom>
        </p:spPr>
      </p:pic>
      <p:sp>
        <p:nvSpPr>
          <p:cNvPr id="7" name="Text 4"/>
          <p:cNvSpPr/>
          <p:nvPr/>
        </p:nvSpPr>
        <p:spPr>
          <a:xfrm>
            <a:off x="2194560" y="1691640"/>
            <a:ext cx="2331720" cy="777240"/>
          </a:xfrm>
          <a:prstGeom prst="rect">
            <a:avLst/>
          </a:prstGeom>
          <a:noFill/>
          <a:ln/>
        </p:spPr>
        <p:txBody>
          <a:bodyPr wrap="square" rtlCol="0" anchor="ctr"/>
          <a:lstStyle/>
          <a:p>
            <a:pPr marL="0" indent="0">
              <a:buNone/>
            </a:pPr>
            <a:r>
              <a:rPr lang="en-US" sz="1250" dirty="0">
                <a:solidFill>
                  <a:srgbClr val="332A20"/>
                </a:solidFill>
                <a:latin typeface="Calibri" pitchFamily="34" charset="0"/>
                <a:ea typeface="Calibri" pitchFamily="34" charset="-122"/>
                <a:cs typeface="Calibri" pitchFamily="34" charset="-120"/>
              </a:rPr>
              <a:t>Recipe Name</a:t>
            </a:r>
            <a:endParaRPr lang="en-US" sz="1250" dirty="0"/>
          </a:p>
        </p:txBody>
      </p:sp>
      <p:pic>
        <p:nvPicPr>
          <p:cNvPr id="8" name="Image 1" descr="ic_arrowdown_orange.png"/>
          <p:cNvPicPr>
            <a:picLocks noChangeAspect="1"/>
          </p:cNvPicPr>
          <p:nvPr/>
        </p:nvPicPr>
        <p:blipFill>
          <a:blip r:embed="rId4"/>
          <a:stretch>
            <a:fillRect/>
          </a:stretch>
        </p:blipFill>
        <p:spPr>
          <a:xfrm>
            <a:off x="1517904" y="2532888"/>
            <a:ext cx="219456" cy="219456"/>
          </a:xfrm>
          <a:prstGeom prst="rect">
            <a:avLst/>
          </a:prstGeom>
        </p:spPr>
      </p:pic>
      <p:sp>
        <p:nvSpPr>
          <p:cNvPr id="9" name="Shape 5"/>
          <p:cNvSpPr/>
          <p:nvPr/>
        </p:nvSpPr>
        <p:spPr>
          <a:xfrm>
            <a:off x="1234440" y="2807208"/>
            <a:ext cx="777240" cy="777240"/>
          </a:xfrm>
          <a:prstGeom prst="ellipse">
            <a:avLst/>
          </a:prstGeom>
          <a:solidFill>
            <a:srgbClr val="FFFFFF"/>
          </a:solidFill>
          <a:ln/>
        </p:spPr>
      </p:sp>
      <p:pic>
        <p:nvPicPr>
          <p:cNvPr id="10" name="Image 2" descr="ic_search_orange.png"/>
          <p:cNvPicPr>
            <a:picLocks noChangeAspect="1"/>
          </p:cNvPicPr>
          <p:nvPr/>
        </p:nvPicPr>
        <p:blipFill>
          <a:blip r:embed="rId5"/>
          <a:stretch>
            <a:fillRect/>
          </a:stretch>
        </p:blipFill>
        <p:spPr>
          <a:xfrm>
            <a:off x="1409319" y="2982087"/>
            <a:ext cx="427482" cy="427482"/>
          </a:xfrm>
          <a:prstGeom prst="rect">
            <a:avLst/>
          </a:prstGeom>
        </p:spPr>
      </p:pic>
      <p:sp>
        <p:nvSpPr>
          <p:cNvPr id="11" name="Text 6"/>
          <p:cNvSpPr/>
          <p:nvPr/>
        </p:nvSpPr>
        <p:spPr>
          <a:xfrm>
            <a:off x="2194560" y="2807208"/>
            <a:ext cx="2331720" cy="777240"/>
          </a:xfrm>
          <a:prstGeom prst="rect">
            <a:avLst/>
          </a:prstGeom>
          <a:noFill/>
          <a:ln/>
        </p:spPr>
        <p:txBody>
          <a:bodyPr wrap="square" rtlCol="0" anchor="ctr"/>
          <a:lstStyle/>
          <a:p>
            <a:pPr marL="0" indent="0">
              <a:buNone/>
            </a:pPr>
            <a:r>
              <a:rPr lang="en-US" sz="1250" dirty="0">
                <a:solidFill>
                  <a:srgbClr val="332A20"/>
                </a:solidFill>
                <a:latin typeface="Calibri" pitchFamily="34" charset="0"/>
                <a:ea typeface="Calibri" pitchFamily="34" charset="-122"/>
                <a:cs typeface="Calibri" pitchFamily="34" charset="-120"/>
              </a:rPr>
              <a:t>Recipe Finder</a:t>
            </a:r>
            <a:endParaRPr lang="en-US" sz="1250" dirty="0"/>
          </a:p>
        </p:txBody>
      </p:sp>
      <p:pic>
        <p:nvPicPr>
          <p:cNvPr id="12" name="Image 3" descr="ic_arrowdown_orange.png"/>
          <p:cNvPicPr>
            <a:picLocks noChangeAspect="1"/>
          </p:cNvPicPr>
          <p:nvPr/>
        </p:nvPicPr>
        <p:blipFill>
          <a:blip r:embed="rId4"/>
          <a:stretch>
            <a:fillRect/>
          </a:stretch>
        </p:blipFill>
        <p:spPr>
          <a:xfrm>
            <a:off x="1517904" y="3648456"/>
            <a:ext cx="219456" cy="219456"/>
          </a:xfrm>
          <a:prstGeom prst="rect">
            <a:avLst/>
          </a:prstGeom>
        </p:spPr>
      </p:pic>
      <p:sp>
        <p:nvSpPr>
          <p:cNvPr id="13" name="Shape 7"/>
          <p:cNvSpPr/>
          <p:nvPr/>
        </p:nvSpPr>
        <p:spPr>
          <a:xfrm>
            <a:off x="1234440" y="3922776"/>
            <a:ext cx="777240" cy="777240"/>
          </a:xfrm>
          <a:prstGeom prst="ellipse">
            <a:avLst/>
          </a:prstGeom>
          <a:solidFill>
            <a:srgbClr val="FFFFFF"/>
          </a:solidFill>
          <a:ln/>
        </p:spPr>
      </p:sp>
      <p:pic>
        <p:nvPicPr>
          <p:cNvPr id="14" name="Image 4" descr="ic_book_green.png"/>
          <p:cNvPicPr>
            <a:picLocks noChangeAspect="1"/>
          </p:cNvPicPr>
          <p:nvPr/>
        </p:nvPicPr>
        <p:blipFill>
          <a:blip r:embed="rId6"/>
          <a:stretch>
            <a:fillRect/>
          </a:stretch>
        </p:blipFill>
        <p:spPr>
          <a:xfrm>
            <a:off x="1409319" y="4097655"/>
            <a:ext cx="427482" cy="427482"/>
          </a:xfrm>
          <a:prstGeom prst="rect">
            <a:avLst/>
          </a:prstGeom>
        </p:spPr>
      </p:pic>
      <p:sp>
        <p:nvSpPr>
          <p:cNvPr id="15" name="Text 8"/>
          <p:cNvSpPr/>
          <p:nvPr/>
        </p:nvSpPr>
        <p:spPr>
          <a:xfrm>
            <a:off x="2194560" y="3922776"/>
            <a:ext cx="2331720" cy="777240"/>
          </a:xfrm>
          <a:prstGeom prst="rect">
            <a:avLst/>
          </a:prstGeom>
          <a:noFill/>
          <a:ln/>
        </p:spPr>
        <p:txBody>
          <a:bodyPr wrap="square" rtlCol="0" anchor="ctr"/>
          <a:lstStyle/>
          <a:p>
            <a:pPr marL="0" indent="0">
              <a:buNone/>
            </a:pPr>
            <a:r>
              <a:rPr lang="en-US" sz="1250" b="1" dirty="0">
                <a:solidFill>
                  <a:srgbClr val="332A20"/>
                </a:solidFill>
                <a:latin typeface="Calibri" pitchFamily="34" charset="0"/>
                <a:ea typeface="Calibri" pitchFamily="34" charset="-122"/>
                <a:cs typeface="Calibri" pitchFamily="34" charset="-120"/>
              </a:rPr>
              <a:t>Matching Recipe</a:t>
            </a:r>
            <a:endParaRPr lang="en-US" sz="1250" dirty="0"/>
          </a:p>
        </p:txBody>
      </p:sp>
      <p:pic>
        <p:nvPicPr>
          <p:cNvPr id="16" name="Image 5" descr="ic_arrowdown_orange.png"/>
          <p:cNvPicPr>
            <a:picLocks noChangeAspect="1"/>
          </p:cNvPicPr>
          <p:nvPr/>
        </p:nvPicPr>
        <p:blipFill>
          <a:blip r:embed="rId4"/>
          <a:stretch>
            <a:fillRect/>
          </a:stretch>
        </p:blipFill>
        <p:spPr>
          <a:xfrm>
            <a:off x="1517904" y="4764024"/>
            <a:ext cx="219456" cy="219456"/>
          </a:xfrm>
          <a:prstGeom prst="rect">
            <a:avLst/>
          </a:prstGeom>
        </p:spPr>
      </p:pic>
      <p:sp>
        <p:nvSpPr>
          <p:cNvPr id="17" name="Shape 9"/>
          <p:cNvSpPr/>
          <p:nvPr/>
        </p:nvSpPr>
        <p:spPr>
          <a:xfrm>
            <a:off x="1234440" y="5038344"/>
            <a:ext cx="777240" cy="777240"/>
          </a:xfrm>
          <a:prstGeom prst="ellipse">
            <a:avLst/>
          </a:prstGeom>
          <a:solidFill>
            <a:srgbClr val="FFFFFF"/>
          </a:solidFill>
          <a:ln/>
        </p:spPr>
      </p:sp>
      <p:pic>
        <p:nvPicPr>
          <p:cNvPr id="18" name="Image 6" descr="ic_utensils_green.png"/>
          <p:cNvPicPr>
            <a:picLocks noChangeAspect="1"/>
          </p:cNvPicPr>
          <p:nvPr/>
        </p:nvPicPr>
        <p:blipFill>
          <a:blip r:embed="rId7"/>
          <a:stretch>
            <a:fillRect/>
          </a:stretch>
        </p:blipFill>
        <p:spPr>
          <a:xfrm>
            <a:off x="1409319" y="5213223"/>
            <a:ext cx="427482" cy="427482"/>
          </a:xfrm>
          <a:prstGeom prst="rect">
            <a:avLst/>
          </a:prstGeom>
        </p:spPr>
      </p:pic>
      <p:sp>
        <p:nvSpPr>
          <p:cNvPr id="19" name="Text 10"/>
          <p:cNvSpPr/>
          <p:nvPr/>
        </p:nvSpPr>
        <p:spPr>
          <a:xfrm>
            <a:off x="2194560" y="5038344"/>
            <a:ext cx="2331720" cy="777240"/>
          </a:xfrm>
          <a:prstGeom prst="rect">
            <a:avLst/>
          </a:prstGeom>
          <a:noFill/>
          <a:ln/>
        </p:spPr>
        <p:txBody>
          <a:bodyPr wrap="square" rtlCol="0" anchor="ctr"/>
          <a:lstStyle/>
          <a:p>
            <a:pPr marL="0" indent="0">
              <a:buNone/>
            </a:pPr>
            <a:r>
              <a:rPr lang="en-US" sz="1250" dirty="0">
                <a:solidFill>
                  <a:srgbClr val="332A20"/>
                </a:solidFill>
                <a:latin typeface="Calibri" pitchFamily="34" charset="0"/>
                <a:ea typeface="Calibri" pitchFamily="34" charset="-122"/>
                <a:cs typeface="Calibri" pitchFamily="34" charset="-120"/>
              </a:rPr>
              <a:t>Complete Recipe Details</a:t>
            </a:r>
            <a:endParaRPr lang="en-US" sz="1250" dirty="0"/>
          </a:p>
        </p:txBody>
      </p:sp>
      <p:sp>
        <p:nvSpPr>
          <p:cNvPr id="20" name="Text 11"/>
          <p:cNvSpPr/>
          <p:nvPr/>
        </p:nvSpPr>
        <p:spPr>
          <a:xfrm>
            <a:off x="4892040" y="1463040"/>
            <a:ext cx="6720840" cy="4846320"/>
          </a:xfrm>
          <a:prstGeom prst="rect">
            <a:avLst/>
          </a:prstGeom>
          <a:noFill/>
          <a:ln/>
        </p:spPr>
        <p:txBody>
          <a:bodyPr wrap="square" rtlCol="0" anchor="t"/>
          <a:lstStyle/>
          <a:p>
            <a:pPr marL="0" indent="0">
              <a:lnSpc>
                <a:spcPct val="115000"/>
              </a:lnSpc>
              <a:spcAft>
                <a:spcPts val="1400"/>
              </a:spcAft>
              <a:buNone/>
            </a:pPr>
            <a:r>
              <a:rPr lang="en-US" sz="1450" dirty="0">
                <a:solidFill>
                  <a:srgbClr val="332A20"/>
                </a:solidFill>
                <a:latin typeface="Calibri" pitchFamily="34" charset="0"/>
                <a:ea typeface="Calibri" pitchFamily="34" charset="-122"/>
                <a:cs typeface="Calibri" pitchFamily="34" charset="-120"/>
              </a:rPr>
              <a:t>Recipe Finder is a recipe discovery application designed to help users search for recipes easily and efficiently. The user can enter a recipe name, and the system searches the available recipe collection to find the matching recipe.</a:t>
            </a:r>
            <a:endParaRPr lang="en-US" sz="1450" dirty="0"/>
          </a:p>
          <a:p>
            <a:pPr marL="0" indent="0">
              <a:lnSpc>
                <a:spcPct val="115000"/>
              </a:lnSpc>
              <a:spcAft>
                <a:spcPts val="1400"/>
              </a:spcAft>
              <a:buNone/>
            </a:pPr>
            <a:r>
              <a:rPr lang="en-US" sz="1450" dirty="0">
                <a:solidFill>
                  <a:srgbClr val="332A20"/>
                </a:solidFill>
                <a:latin typeface="Calibri" pitchFamily="34" charset="0"/>
                <a:ea typeface="Calibri" pitchFamily="34" charset="-122"/>
                <a:cs typeface="Calibri" pitchFamily="34" charset="-120"/>
              </a:rPr>
              <a:t>Once the recipe is found, the system displays the complete recipe, including the recipe name, ingredients, and preparation instructions. Data Structures and Algorithms are used to organize and search the recipe data efficiently.</a:t>
            </a:r>
            <a:endParaRPr lang="en-US" sz="1450" dirty="0"/>
          </a:p>
          <a:p>
            <a:pPr marL="0" indent="0">
              <a:lnSpc>
                <a:spcPct val="115000"/>
              </a:lnSpc>
              <a:buNone/>
            </a:pPr>
            <a:r>
              <a:rPr lang="en-US" sz="1450" dirty="0">
                <a:solidFill>
                  <a:srgbClr val="332A20"/>
                </a:solidFill>
                <a:latin typeface="Calibri" pitchFamily="34" charset="0"/>
                <a:ea typeface="Calibri" pitchFamily="34" charset="-122"/>
                <a:cs typeface="Calibri" pitchFamily="34" charset="-120"/>
              </a:rPr>
              <a:t>The main goal of Recipe Finder is to make recipe searching simple, fast, structured, and user-friendly.</a:t>
            </a:r>
            <a:endParaRPr lang="en-US" sz="1450" dirty="0"/>
          </a:p>
        </p:txBody>
      </p:sp>
      <p:sp>
        <p:nvSpPr>
          <p:cNvPr id="21" name="Text 12"/>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7A7267"/>
                </a:solidFill>
                <a:latin typeface="Calibri" pitchFamily="34" charset="0"/>
                <a:ea typeface="Calibri" pitchFamily="34" charset="-122"/>
                <a:cs typeface="Calibri" pitchFamily="34" charset="-120"/>
              </a:rPr>
              <a:t>Recipe Finder</a:t>
            </a:r>
            <a:endParaRPr lang="en-US" sz="900" dirty="0"/>
          </a:p>
        </p:txBody>
      </p:sp>
      <p:sp>
        <p:nvSpPr>
          <p:cNvPr id="22" name="Text 13"/>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7A7267"/>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rtlCol="0" anchor="ctr"/>
          <a:lstStyle/>
          <a:p>
            <a:pPr marL="0" indent="0">
              <a:buNone/>
            </a:pPr>
            <a:r>
              <a:rPr lang="en-US" sz="3400" b="1" dirty="0">
                <a:solidFill>
                  <a:srgbClr val="46594B"/>
                </a:solidFill>
                <a:latin typeface="Poppins" pitchFamily="34" charset="0"/>
                <a:ea typeface="Poppins" pitchFamily="34" charset="-122"/>
                <a:cs typeface="Poppins" pitchFamily="34" charset="-120"/>
              </a:rPr>
              <a:t>Problem Statement</a:t>
            </a:r>
            <a:endParaRPr lang="en-US" sz="3400" dirty="0"/>
          </a:p>
        </p:txBody>
      </p:sp>
      <p:sp>
        <p:nvSpPr>
          <p:cNvPr id="3" name="Shape 1"/>
          <p:cNvSpPr/>
          <p:nvPr/>
        </p:nvSpPr>
        <p:spPr>
          <a:xfrm>
            <a:off x="566928" y="1051560"/>
            <a:ext cx="822960" cy="54864"/>
          </a:xfrm>
          <a:prstGeom prst="rect">
            <a:avLst/>
          </a:prstGeom>
          <a:solidFill>
            <a:srgbClr val="9C7A3C"/>
          </a:solidFill>
          <a:ln/>
        </p:spPr>
      </p:sp>
      <p:sp>
        <p:nvSpPr>
          <p:cNvPr id="4" name="Text 2"/>
          <p:cNvSpPr/>
          <p:nvPr/>
        </p:nvSpPr>
        <p:spPr>
          <a:xfrm>
            <a:off x="548640" y="1234440"/>
            <a:ext cx="11064240" cy="777240"/>
          </a:xfrm>
          <a:prstGeom prst="rect">
            <a:avLst/>
          </a:prstGeom>
          <a:noFill/>
          <a:ln/>
        </p:spPr>
        <p:txBody>
          <a:bodyPr wrap="square" rtlCol="0" anchor="ctr"/>
          <a:lstStyle/>
          <a:p>
            <a:pPr marL="0" indent="0">
              <a:lnSpc>
                <a:spcPct val="115000"/>
              </a:lnSpc>
              <a:buNone/>
            </a:pPr>
            <a:r>
              <a:rPr lang="en-US" sz="1350" i="1" dirty="0">
                <a:solidFill>
                  <a:srgbClr val="7A7267"/>
                </a:solidFill>
                <a:latin typeface="Calibri" pitchFamily="34" charset="0"/>
                <a:ea typeface="Calibri" pitchFamily="34" charset="-122"/>
                <a:cs typeface="Calibri" pitchFamily="34" charset="-120"/>
              </a:rPr>
              <a:t>Finding a specific recipe from a large recipe collection can be time-consuming. Users need a simple way to search for a recipe by entering its name and quickly access the complete recipe details.</a:t>
            </a:r>
            <a:endParaRPr lang="en-US" sz="1350" dirty="0"/>
          </a:p>
        </p:txBody>
      </p:sp>
      <p:sp>
        <p:nvSpPr>
          <p:cNvPr id="5" name="Shape 3"/>
          <p:cNvSpPr/>
          <p:nvPr/>
        </p:nvSpPr>
        <p:spPr>
          <a:xfrm>
            <a:off x="548640" y="2194560"/>
            <a:ext cx="5394960" cy="4114800"/>
          </a:xfrm>
          <a:prstGeom prst="roundRect">
            <a:avLst>
              <a:gd name="adj" fmla="val 2667"/>
            </a:avLst>
          </a:prstGeom>
          <a:solidFill>
            <a:srgbClr val="F1E6D2"/>
          </a:solidFill>
          <a:ln/>
        </p:spPr>
      </p:sp>
      <p:sp>
        <p:nvSpPr>
          <p:cNvPr id="6" name="Text 4"/>
          <p:cNvSpPr/>
          <p:nvPr/>
        </p:nvSpPr>
        <p:spPr>
          <a:xfrm>
            <a:off x="868680" y="2423160"/>
            <a:ext cx="4572000" cy="320040"/>
          </a:xfrm>
          <a:prstGeom prst="rect">
            <a:avLst/>
          </a:prstGeom>
          <a:noFill/>
          <a:ln/>
        </p:spPr>
        <p:txBody>
          <a:bodyPr wrap="square" rtlCol="0" anchor="ctr"/>
          <a:lstStyle/>
          <a:p>
            <a:pPr marL="0" indent="0">
              <a:buNone/>
            </a:pPr>
            <a:r>
              <a:rPr lang="en-US" sz="1300" b="1" kern="0" spc="100" dirty="0">
                <a:solidFill>
                  <a:srgbClr val="9C7A3C"/>
                </a:solidFill>
                <a:latin typeface="Calibri" pitchFamily="34" charset="0"/>
                <a:ea typeface="Calibri" pitchFamily="34" charset="-122"/>
                <a:cs typeface="Calibri" pitchFamily="34" charset="-120"/>
              </a:rPr>
              <a:t>EXISTING PROBLEMS</a:t>
            </a:r>
            <a:endParaRPr lang="en-US" sz="1300" dirty="0"/>
          </a:p>
        </p:txBody>
      </p:sp>
      <p:sp>
        <p:nvSpPr>
          <p:cNvPr id="7" name="Shape 5"/>
          <p:cNvSpPr/>
          <p:nvPr/>
        </p:nvSpPr>
        <p:spPr>
          <a:xfrm>
            <a:off x="868680" y="2926080"/>
            <a:ext cx="548640" cy="548640"/>
          </a:xfrm>
          <a:prstGeom prst="ellipse">
            <a:avLst/>
          </a:prstGeom>
          <a:solidFill>
            <a:srgbClr val="FFFFFF"/>
          </a:solidFill>
          <a:ln/>
        </p:spPr>
      </p:sp>
      <p:pic>
        <p:nvPicPr>
          <p:cNvPr id="8" name="Image 0" descr="ic_times_orange.png"/>
          <p:cNvPicPr>
            <a:picLocks noChangeAspect="1"/>
          </p:cNvPicPr>
          <p:nvPr/>
        </p:nvPicPr>
        <p:blipFill>
          <a:blip r:embed="rId3"/>
          <a:stretch>
            <a:fillRect/>
          </a:stretch>
        </p:blipFill>
        <p:spPr>
          <a:xfrm>
            <a:off x="992124" y="3049524"/>
            <a:ext cx="301752" cy="301752"/>
          </a:xfrm>
          <a:prstGeom prst="rect">
            <a:avLst/>
          </a:prstGeom>
        </p:spPr>
      </p:pic>
      <p:sp>
        <p:nvSpPr>
          <p:cNvPr id="9" name="Text 6"/>
          <p:cNvSpPr/>
          <p:nvPr/>
        </p:nvSpPr>
        <p:spPr>
          <a:xfrm>
            <a:off x="1600200" y="2926080"/>
            <a:ext cx="4160520" cy="548640"/>
          </a:xfrm>
          <a:prstGeom prst="rect">
            <a:avLst/>
          </a:prstGeom>
          <a:noFill/>
          <a:ln/>
        </p:spPr>
        <p:txBody>
          <a:bodyPr wrap="square" rtlCol="0" anchor="ctr"/>
          <a:lstStyle/>
          <a:p>
            <a:pPr marL="0" indent="0">
              <a:lnSpc>
                <a:spcPct val="105000"/>
              </a:lnSpc>
              <a:buNone/>
            </a:pPr>
            <a:r>
              <a:rPr lang="en-US" sz="1300" dirty="0">
                <a:solidFill>
                  <a:srgbClr val="332A20"/>
                </a:solidFill>
                <a:latin typeface="Calibri" pitchFamily="34" charset="0"/>
                <a:ea typeface="Calibri" pitchFamily="34" charset="-122"/>
                <a:cs typeface="Calibri" pitchFamily="34" charset="-120"/>
              </a:rPr>
              <a:t>Difficulty finding a specific recipe from a large collection</a:t>
            </a:r>
            <a:endParaRPr lang="en-US" sz="1300" dirty="0"/>
          </a:p>
        </p:txBody>
      </p:sp>
      <p:sp>
        <p:nvSpPr>
          <p:cNvPr id="10" name="Shape 7"/>
          <p:cNvSpPr/>
          <p:nvPr/>
        </p:nvSpPr>
        <p:spPr>
          <a:xfrm>
            <a:off x="868680" y="3703320"/>
            <a:ext cx="548640" cy="548640"/>
          </a:xfrm>
          <a:prstGeom prst="ellipse">
            <a:avLst/>
          </a:prstGeom>
          <a:solidFill>
            <a:srgbClr val="FFFFFF"/>
          </a:solidFill>
          <a:ln/>
        </p:spPr>
      </p:sp>
      <p:pic>
        <p:nvPicPr>
          <p:cNvPr id="11" name="Image 1" descr="ic_times_orange.png"/>
          <p:cNvPicPr>
            <a:picLocks noChangeAspect="1"/>
          </p:cNvPicPr>
          <p:nvPr/>
        </p:nvPicPr>
        <p:blipFill>
          <a:blip r:embed="rId3"/>
          <a:stretch>
            <a:fillRect/>
          </a:stretch>
        </p:blipFill>
        <p:spPr>
          <a:xfrm>
            <a:off x="992124" y="3826764"/>
            <a:ext cx="301752" cy="301752"/>
          </a:xfrm>
          <a:prstGeom prst="rect">
            <a:avLst/>
          </a:prstGeom>
        </p:spPr>
      </p:pic>
      <p:sp>
        <p:nvSpPr>
          <p:cNvPr id="12" name="Text 8"/>
          <p:cNvSpPr/>
          <p:nvPr/>
        </p:nvSpPr>
        <p:spPr>
          <a:xfrm>
            <a:off x="1600200" y="3703320"/>
            <a:ext cx="4160520" cy="548640"/>
          </a:xfrm>
          <a:prstGeom prst="rect">
            <a:avLst/>
          </a:prstGeom>
          <a:noFill/>
          <a:ln/>
        </p:spPr>
        <p:txBody>
          <a:bodyPr wrap="square" rtlCol="0" anchor="ctr"/>
          <a:lstStyle/>
          <a:p>
            <a:pPr marL="0" indent="0">
              <a:lnSpc>
                <a:spcPct val="105000"/>
              </a:lnSpc>
              <a:buNone/>
            </a:pPr>
            <a:r>
              <a:rPr lang="en-US" sz="1300" dirty="0">
                <a:solidFill>
                  <a:srgbClr val="332A20"/>
                </a:solidFill>
                <a:latin typeface="Calibri" pitchFamily="34" charset="0"/>
                <a:ea typeface="Calibri" pitchFamily="34" charset="-122"/>
                <a:cs typeface="Calibri" pitchFamily="34" charset="-120"/>
              </a:rPr>
              <a:t>Manual searching can take more time</a:t>
            </a:r>
            <a:endParaRPr lang="en-US" sz="1300" dirty="0"/>
          </a:p>
        </p:txBody>
      </p:sp>
      <p:sp>
        <p:nvSpPr>
          <p:cNvPr id="13" name="Shape 9"/>
          <p:cNvSpPr/>
          <p:nvPr/>
        </p:nvSpPr>
        <p:spPr>
          <a:xfrm>
            <a:off x="868680" y="4480560"/>
            <a:ext cx="548640" cy="548640"/>
          </a:xfrm>
          <a:prstGeom prst="ellipse">
            <a:avLst/>
          </a:prstGeom>
          <a:solidFill>
            <a:srgbClr val="FFFFFF"/>
          </a:solidFill>
          <a:ln/>
        </p:spPr>
      </p:sp>
      <p:pic>
        <p:nvPicPr>
          <p:cNvPr id="14" name="Image 2" descr="ic_hourglass_orange.png"/>
          <p:cNvPicPr>
            <a:picLocks noChangeAspect="1"/>
          </p:cNvPicPr>
          <p:nvPr/>
        </p:nvPicPr>
        <p:blipFill>
          <a:blip r:embed="rId4"/>
          <a:stretch>
            <a:fillRect/>
          </a:stretch>
        </p:blipFill>
        <p:spPr>
          <a:xfrm>
            <a:off x="992124" y="4604004"/>
            <a:ext cx="301752" cy="301752"/>
          </a:xfrm>
          <a:prstGeom prst="rect">
            <a:avLst/>
          </a:prstGeom>
        </p:spPr>
      </p:pic>
      <p:sp>
        <p:nvSpPr>
          <p:cNvPr id="15" name="Text 10"/>
          <p:cNvSpPr/>
          <p:nvPr/>
        </p:nvSpPr>
        <p:spPr>
          <a:xfrm>
            <a:off x="1600200" y="4480560"/>
            <a:ext cx="4160520" cy="548640"/>
          </a:xfrm>
          <a:prstGeom prst="rect">
            <a:avLst/>
          </a:prstGeom>
          <a:noFill/>
          <a:ln/>
        </p:spPr>
        <p:txBody>
          <a:bodyPr wrap="square" rtlCol="0" anchor="ctr"/>
          <a:lstStyle/>
          <a:p>
            <a:pPr marL="0" indent="0">
              <a:lnSpc>
                <a:spcPct val="105000"/>
              </a:lnSpc>
              <a:buNone/>
            </a:pPr>
            <a:r>
              <a:rPr lang="en-US" sz="1300" dirty="0">
                <a:solidFill>
                  <a:srgbClr val="332A20"/>
                </a:solidFill>
                <a:latin typeface="Calibri" pitchFamily="34" charset="0"/>
                <a:ea typeface="Calibri" pitchFamily="34" charset="-122"/>
                <a:cs typeface="Calibri" pitchFamily="34" charset="-120"/>
              </a:rPr>
              <a:t>Users need a simple recipe-name search</a:t>
            </a:r>
            <a:endParaRPr lang="en-US" sz="1300" dirty="0"/>
          </a:p>
        </p:txBody>
      </p:sp>
      <p:sp>
        <p:nvSpPr>
          <p:cNvPr id="16" name="Shape 11"/>
          <p:cNvSpPr/>
          <p:nvPr/>
        </p:nvSpPr>
        <p:spPr>
          <a:xfrm>
            <a:off x="868680" y="5257800"/>
            <a:ext cx="548640" cy="548640"/>
          </a:xfrm>
          <a:prstGeom prst="ellipse">
            <a:avLst/>
          </a:prstGeom>
          <a:solidFill>
            <a:srgbClr val="FFFFFF"/>
          </a:solidFill>
          <a:ln/>
        </p:spPr>
      </p:sp>
      <p:pic>
        <p:nvPicPr>
          <p:cNvPr id="17" name="Image 3" descr="ic_waste_orange.png"/>
          <p:cNvPicPr>
            <a:picLocks noChangeAspect="1"/>
          </p:cNvPicPr>
          <p:nvPr/>
        </p:nvPicPr>
        <p:blipFill>
          <a:blip r:embed="rId5"/>
          <a:stretch>
            <a:fillRect/>
          </a:stretch>
        </p:blipFill>
        <p:spPr>
          <a:xfrm>
            <a:off x="992124" y="5381244"/>
            <a:ext cx="301752" cy="301752"/>
          </a:xfrm>
          <a:prstGeom prst="rect">
            <a:avLst/>
          </a:prstGeom>
        </p:spPr>
      </p:pic>
      <p:sp>
        <p:nvSpPr>
          <p:cNvPr id="18" name="Text 12"/>
          <p:cNvSpPr/>
          <p:nvPr/>
        </p:nvSpPr>
        <p:spPr>
          <a:xfrm>
            <a:off x="1600200" y="5257800"/>
            <a:ext cx="4160520" cy="548640"/>
          </a:xfrm>
          <a:prstGeom prst="rect">
            <a:avLst/>
          </a:prstGeom>
          <a:noFill/>
          <a:ln/>
        </p:spPr>
        <p:txBody>
          <a:bodyPr wrap="square" rtlCol="0" anchor="ctr"/>
          <a:lstStyle/>
          <a:p>
            <a:pPr marL="0" indent="0">
              <a:lnSpc>
                <a:spcPct val="105000"/>
              </a:lnSpc>
              <a:buNone/>
            </a:pPr>
            <a:r>
              <a:rPr lang="en-US" sz="1300" dirty="0">
                <a:solidFill>
                  <a:srgbClr val="332A20"/>
                </a:solidFill>
                <a:latin typeface="Calibri" pitchFamily="34" charset="0"/>
                <a:ea typeface="Calibri" pitchFamily="34" charset="-122"/>
                <a:cs typeface="Calibri" pitchFamily="34" charset="-120"/>
              </a:rPr>
              <a:t>Searching should be efficient and user-friendly</a:t>
            </a:r>
            <a:endParaRPr lang="en-US" sz="1300" dirty="0"/>
          </a:p>
        </p:txBody>
      </p:sp>
      <p:sp>
        <p:nvSpPr>
          <p:cNvPr id="19" name="Shape 13"/>
          <p:cNvSpPr/>
          <p:nvPr/>
        </p:nvSpPr>
        <p:spPr>
          <a:xfrm>
            <a:off x="6217920" y="2194560"/>
            <a:ext cx="5394960" cy="4114800"/>
          </a:xfrm>
          <a:prstGeom prst="roundRect">
            <a:avLst>
              <a:gd name="adj" fmla="val 2667"/>
            </a:avLst>
          </a:prstGeom>
          <a:solidFill>
            <a:srgbClr val="46594B"/>
          </a:solidFill>
          <a:ln/>
        </p:spPr>
      </p:sp>
      <p:sp>
        <p:nvSpPr>
          <p:cNvPr id="20" name="Text 14"/>
          <p:cNvSpPr/>
          <p:nvPr/>
        </p:nvSpPr>
        <p:spPr>
          <a:xfrm>
            <a:off x="6537960" y="2423160"/>
            <a:ext cx="4572000" cy="320040"/>
          </a:xfrm>
          <a:prstGeom prst="rect">
            <a:avLst/>
          </a:prstGeom>
          <a:noFill/>
          <a:ln/>
        </p:spPr>
        <p:txBody>
          <a:bodyPr wrap="square" rtlCol="0" anchor="ctr"/>
          <a:lstStyle/>
          <a:p>
            <a:pPr marL="0" indent="0">
              <a:buNone/>
            </a:pPr>
            <a:r>
              <a:rPr lang="en-US" sz="1300" b="1" kern="0" spc="100" dirty="0">
                <a:solidFill>
                  <a:srgbClr val="9C7A3C"/>
                </a:solidFill>
                <a:latin typeface="Calibri" pitchFamily="34" charset="0"/>
                <a:ea typeface="Calibri" pitchFamily="34" charset="-122"/>
                <a:cs typeface="Calibri" pitchFamily="34" charset="-120"/>
              </a:rPr>
              <a:t>PROPOSED SOLUTION</a:t>
            </a:r>
            <a:endParaRPr lang="en-US" sz="1300" dirty="0"/>
          </a:p>
        </p:txBody>
      </p:sp>
      <p:sp>
        <p:nvSpPr>
          <p:cNvPr id="21" name="Shape 15"/>
          <p:cNvSpPr/>
          <p:nvPr/>
        </p:nvSpPr>
        <p:spPr>
          <a:xfrm>
            <a:off x="6537960" y="2880360"/>
            <a:ext cx="777240" cy="777240"/>
          </a:xfrm>
          <a:prstGeom prst="ellipse">
            <a:avLst/>
          </a:prstGeom>
          <a:solidFill>
            <a:srgbClr val="4B321D"/>
          </a:solidFill>
          <a:ln/>
        </p:spPr>
      </p:sp>
      <p:pic>
        <p:nvPicPr>
          <p:cNvPr id="22" name="Image 4" descr="ic_bulb_white.png"/>
          <p:cNvPicPr>
            <a:picLocks noChangeAspect="1"/>
          </p:cNvPicPr>
          <p:nvPr/>
        </p:nvPicPr>
        <p:blipFill>
          <a:blip r:embed="rId6"/>
          <a:stretch>
            <a:fillRect/>
          </a:stretch>
        </p:blipFill>
        <p:spPr>
          <a:xfrm>
            <a:off x="6712839" y="3055239"/>
            <a:ext cx="427482" cy="427482"/>
          </a:xfrm>
          <a:prstGeom prst="rect">
            <a:avLst/>
          </a:prstGeom>
        </p:spPr>
      </p:pic>
      <p:sp>
        <p:nvSpPr>
          <p:cNvPr id="23" name="Text 16"/>
          <p:cNvSpPr/>
          <p:nvPr/>
        </p:nvSpPr>
        <p:spPr>
          <a:xfrm>
            <a:off x="6537960" y="3794760"/>
            <a:ext cx="4754880" cy="1371600"/>
          </a:xfrm>
          <a:prstGeom prst="rect">
            <a:avLst/>
          </a:prstGeom>
          <a:noFill/>
          <a:ln/>
        </p:spPr>
        <p:txBody>
          <a:bodyPr wrap="square" rtlCol="0" anchor="ctr"/>
          <a:lstStyle/>
          <a:p>
            <a:pPr marL="0" indent="0">
              <a:lnSpc>
                <a:spcPct val="120000"/>
              </a:lnSpc>
              <a:buNone/>
            </a:pPr>
            <a:r>
              <a:rPr lang="en-US" sz="1400" dirty="0">
                <a:solidFill>
                  <a:srgbClr val="FFFFFF"/>
                </a:solidFill>
                <a:latin typeface="Calibri" pitchFamily="34" charset="0"/>
                <a:ea typeface="Calibri" pitchFamily="34" charset="-122"/>
                <a:cs typeface="Calibri" pitchFamily="34" charset="-120"/>
              </a:rPr>
              <a:t>Develop a Recipe Finder application that allows users to enter a recipe name and search the available recipe collection. The system identifies the matching recipe and displays its complete recipe details.</a:t>
            </a:r>
            <a:endParaRPr lang="en-US" sz="1400" dirty="0"/>
          </a:p>
        </p:txBody>
      </p:sp>
      <p:sp>
        <p:nvSpPr>
          <p:cNvPr id="24" name="Shape 17"/>
          <p:cNvSpPr/>
          <p:nvPr/>
        </p:nvSpPr>
        <p:spPr>
          <a:xfrm>
            <a:off x="6263640" y="5376672"/>
            <a:ext cx="1115568" cy="640080"/>
          </a:xfrm>
          <a:prstGeom prst="roundRect">
            <a:avLst>
              <a:gd name="adj" fmla="val 11429"/>
            </a:avLst>
          </a:prstGeom>
          <a:solidFill>
            <a:srgbClr val="39473D"/>
          </a:solidFill>
          <a:ln/>
        </p:spPr>
      </p:sp>
      <p:sp>
        <p:nvSpPr>
          <p:cNvPr id="25" name="Text 18"/>
          <p:cNvSpPr/>
          <p:nvPr/>
        </p:nvSpPr>
        <p:spPr>
          <a:xfrm>
            <a:off x="6537960" y="5376672"/>
            <a:ext cx="777240" cy="658368"/>
          </a:xfrm>
          <a:prstGeom prst="rect">
            <a:avLst/>
          </a:prstGeom>
          <a:noFill/>
          <a:ln/>
        </p:spPr>
        <p:txBody>
          <a:bodyPr wrap="square" rtlCol="0" anchor="ctr"/>
          <a:lstStyle/>
          <a:p>
            <a:pPr marL="0" indent="0" algn="ctr">
              <a:lnSpc>
                <a:spcPct val="95000"/>
              </a:lnSpc>
              <a:buNone/>
            </a:pPr>
            <a:r>
              <a:rPr lang="en-US" sz="850" dirty="0">
                <a:solidFill>
                  <a:srgbClr val="FFFFFF"/>
                </a:solidFill>
                <a:latin typeface="Calibri" pitchFamily="34" charset="0"/>
                <a:ea typeface="Calibri" pitchFamily="34" charset="-122"/>
                <a:cs typeface="Calibri" pitchFamily="34" charset="-120"/>
              </a:rPr>
              <a:t>Recipe Name</a:t>
            </a:r>
            <a:endParaRPr lang="en-US" sz="850" dirty="0"/>
          </a:p>
        </p:txBody>
      </p:sp>
      <p:pic>
        <p:nvPicPr>
          <p:cNvPr id="26" name="Image 5" descr="ic_arrow_green.png"/>
          <p:cNvPicPr>
            <a:picLocks noChangeAspect="1"/>
          </p:cNvPicPr>
          <p:nvPr/>
        </p:nvPicPr>
        <p:blipFill>
          <a:blip r:embed="rId7"/>
          <a:stretch>
            <a:fillRect/>
          </a:stretch>
        </p:blipFill>
        <p:spPr>
          <a:xfrm>
            <a:off x="7434072" y="5600700"/>
            <a:ext cx="164592" cy="164592"/>
          </a:xfrm>
          <a:prstGeom prst="rect">
            <a:avLst/>
          </a:prstGeom>
        </p:spPr>
      </p:pic>
      <p:sp>
        <p:nvSpPr>
          <p:cNvPr id="27" name="Shape 19"/>
          <p:cNvSpPr/>
          <p:nvPr/>
        </p:nvSpPr>
        <p:spPr>
          <a:xfrm>
            <a:off x="7580376" y="5358743"/>
            <a:ext cx="1170432" cy="640080"/>
          </a:xfrm>
          <a:prstGeom prst="roundRect">
            <a:avLst>
              <a:gd name="adj" fmla="val 11429"/>
            </a:avLst>
          </a:prstGeom>
          <a:solidFill>
            <a:srgbClr val="39473D"/>
          </a:solidFill>
          <a:ln/>
        </p:spPr>
      </p:sp>
      <p:sp>
        <p:nvSpPr>
          <p:cNvPr id="28" name="Text 20"/>
          <p:cNvSpPr/>
          <p:nvPr/>
        </p:nvSpPr>
        <p:spPr>
          <a:xfrm>
            <a:off x="7589520" y="5394960"/>
            <a:ext cx="1170432" cy="640080"/>
          </a:xfrm>
          <a:prstGeom prst="rect">
            <a:avLst/>
          </a:prstGeom>
          <a:noFill/>
          <a:ln/>
        </p:spPr>
        <p:txBody>
          <a:bodyPr wrap="square" rtlCol="0" anchor="ctr"/>
          <a:lstStyle/>
          <a:p>
            <a:pPr marL="0" indent="0" algn="ctr">
              <a:lnSpc>
                <a:spcPct val="95000"/>
              </a:lnSpc>
              <a:buNone/>
            </a:pPr>
            <a:r>
              <a:rPr lang="en-US" sz="850" dirty="0">
                <a:solidFill>
                  <a:srgbClr val="FFFFFF"/>
                </a:solidFill>
                <a:latin typeface="Calibri" pitchFamily="34" charset="0"/>
                <a:ea typeface="Calibri" pitchFamily="34" charset="-122"/>
                <a:cs typeface="Calibri" pitchFamily="34" charset="-120"/>
              </a:rPr>
              <a:t>Recipe Finder</a:t>
            </a:r>
            <a:endParaRPr lang="en-US" sz="850" dirty="0"/>
          </a:p>
        </p:txBody>
      </p:sp>
      <p:pic>
        <p:nvPicPr>
          <p:cNvPr id="29" name="Image 6" descr="ic_arrow_green.png"/>
          <p:cNvPicPr>
            <a:picLocks noChangeAspect="1"/>
          </p:cNvPicPr>
          <p:nvPr/>
        </p:nvPicPr>
        <p:blipFill>
          <a:blip r:embed="rId7"/>
          <a:stretch>
            <a:fillRect/>
          </a:stretch>
        </p:blipFill>
        <p:spPr>
          <a:xfrm>
            <a:off x="8915400" y="5614416"/>
            <a:ext cx="164592" cy="164592"/>
          </a:xfrm>
          <a:prstGeom prst="rect">
            <a:avLst/>
          </a:prstGeom>
        </p:spPr>
      </p:pic>
      <p:sp>
        <p:nvSpPr>
          <p:cNvPr id="30" name="Shape 21"/>
          <p:cNvSpPr/>
          <p:nvPr/>
        </p:nvSpPr>
        <p:spPr>
          <a:xfrm>
            <a:off x="9089136" y="5376672"/>
            <a:ext cx="1024128" cy="640080"/>
          </a:xfrm>
          <a:prstGeom prst="roundRect">
            <a:avLst>
              <a:gd name="adj" fmla="val 11429"/>
            </a:avLst>
          </a:prstGeom>
          <a:solidFill>
            <a:srgbClr val="39473D"/>
          </a:solidFill>
          <a:ln/>
        </p:spPr>
        <p:txBody>
          <a:bodyPr/>
          <a:lstStyle/>
          <a:p>
            <a:endParaRPr lang="en-US" dirty="0"/>
          </a:p>
        </p:txBody>
      </p:sp>
      <p:sp>
        <p:nvSpPr>
          <p:cNvPr id="31" name="Text 22"/>
          <p:cNvSpPr/>
          <p:nvPr/>
        </p:nvSpPr>
        <p:spPr>
          <a:xfrm>
            <a:off x="9025128" y="5362956"/>
            <a:ext cx="1170432" cy="640080"/>
          </a:xfrm>
          <a:prstGeom prst="rect">
            <a:avLst/>
          </a:prstGeom>
          <a:noFill/>
          <a:ln/>
        </p:spPr>
        <p:txBody>
          <a:bodyPr wrap="square" rtlCol="0" anchor="ctr"/>
          <a:lstStyle/>
          <a:p>
            <a:pPr marL="0" indent="0" algn="ctr">
              <a:lnSpc>
                <a:spcPct val="95000"/>
              </a:lnSpc>
              <a:buNone/>
            </a:pPr>
            <a:r>
              <a:rPr lang="en-US" sz="850" dirty="0">
                <a:solidFill>
                  <a:srgbClr val="FFFFFF"/>
                </a:solidFill>
                <a:latin typeface="Calibri" pitchFamily="34" charset="0"/>
                <a:ea typeface="Calibri" pitchFamily="34" charset="-122"/>
                <a:cs typeface="Calibri" pitchFamily="34" charset="-120"/>
              </a:rPr>
              <a:t>Matching Recipe</a:t>
            </a:r>
            <a:endParaRPr lang="en-US" sz="850" dirty="0"/>
          </a:p>
        </p:txBody>
      </p:sp>
      <p:pic>
        <p:nvPicPr>
          <p:cNvPr id="32" name="Image 7" descr="ic_arrow_green.png"/>
          <p:cNvPicPr>
            <a:picLocks noChangeAspect="1"/>
          </p:cNvPicPr>
          <p:nvPr/>
        </p:nvPicPr>
        <p:blipFill>
          <a:blip r:embed="rId7"/>
          <a:stretch>
            <a:fillRect/>
          </a:stretch>
        </p:blipFill>
        <p:spPr>
          <a:xfrm>
            <a:off x="10145268" y="5596487"/>
            <a:ext cx="164592" cy="164592"/>
          </a:xfrm>
          <a:prstGeom prst="rect">
            <a:avLst/>
          </a:prstGeom>
        </p:spPr>
      </p:pic>
      <p:sp>
        <p:nvSpPr>
          <p:cNvPr id="33" name="Shape 23"/>
          <p:cNvSpPr/>
          <p:nvPr/>
        </p:nvSpPr>
        <p:spPr>
          <a:xfrm>
            <a:off x="10309860" y="5376672"/>
            <a:ext cx="1170432" cy="640080"/>
          </a:xfrm>
          <a:prstGeom prst="roundRect">
            <a:avLst>
              <a:gd name="adj" fmla="val 11429"/>
            </a:avLst>
          </a:prstGeom>
          <a:solidFill>
            <a:srgbClr val="39473D"/>
          </a:solidFill>
          <a:ln/>
        </p:spPr>
        <p:txBody>
          <a:bodyPr/>
          <a:lstStyle/>
          <a:p>
            <a:endParaRPr lang="en-US" dirty="0"/>
          </a:p>
        </p:txBody>
      </p:sp>
      <p:sp>
        <p:nvSpPr>
          <p:cNvPr id="34" name="Text 24"/>
          <p:cNvSpPr/>
          <p:nvPr/>
        </p:nvSpPr>
        <p:spPr>
          <a:xfrm>
            <a:off x="10228550" y="5376672"/>
            <a:ext cx="1170432" cy="640080"/>
          </a:xfrm>
          <a:prstGeom prst="rect">
            <a:avLst/>
          </a:prstGeom>
          <a:noFill/>
          <a:ln/>
        </p:spPr>
        <p:txBody>
          <a:bodyPr wrap="square" rtlCol="0" anchor="ctr"/>
          <a:lstStyle/>
          <a:p>
            <a:pPr marL="0" indent="0" algn="ctr">
              <a:lnSpc>
                <a:spcPct val="95000"/>
              </a:lnSpc>
              <a:buNone/>
            </a:pPr>
            <a:r>
              <a:rPr lang="en-US" sz="850" dirty="0">
                <a:solidFill>
                  <a:srgbClr val="FFFFFF"/>
                </a:solidFill>
                <a:latin typeface="Calibri" pitchFamily="34" charset="0"/>
                <a:ea typeface="Calibri" pitchFamily="34" charset="-122"/>
                <a:cs typeface="Calibri" pitchFamily="34" charset="-120"/>
              </a:rPr>
              <a:t>Complete Recipe Details</a:t>
            </a:r>
            <a:endParaRPr lang="en-US" sz="850" dirty="0"/>
          </a:p>
        </p:txBody>
      </p:sp>
      <p:sp>
        <p:nvSpPr>
          <p:cNvPr id="35" name="Text 25"/>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7A7267"/>
                </a:solidFill>
                <a:latin typeface="Calibri" pitchFamily="34" charset="0"/>
                <a:ea typeface="Calibri" pitchFamily="34" charset="-122"/>
                <a:cs typeface="Calibri" pitchFamily="34" charset="-120"/>
              </a:rPr>
              <a:t>Recipe Finder</a:t>
            </a:r>
            <a:endParaRPr lang="en-US" sz="900" dirty="0"/>
          </a:p>
        </p:txBody>
      </p:sp>
      <p:sp>
        <p:nvSpPr>
          <p:cNvPr id="36" name="Text 26"/>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7A7267"/>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0058400" cy="548640"/>
          </a:xfrm>
          <a:prstGeom prst="rect">
            <a:avLst/>
          </a:prstGeom>
          <a:noFill/>
          <a:ln/>
        </p:spPr>
        <p:txBody>
          <a:bodyPr wrap="square" rtlCol="0" anchor="ctr"/>
          <a:lstStyle/>
          <a:p>
            <a:pPr marL="0" indent="0">
              <a:buNone/>
            </a:pPr>
            <a:r>
              <a:rPr lang="en-US" sz="2800" b="1" dirty="0">
                <a:solidFill>
                  <a:srgbClr val="46594B"/>
                </a:solidFill>
                <a:latin typeface="Poppins" pitchFamily="34" charset="0"/>
                <a:ea typeface="Poppins" pitchFamily="34" charset="-122"/>
                <a:cs typeface="Poppins" pitchFamily="34" charset="-120"/>
              </a:rPr>
              <a:t>Proposed Functionalities &amp; Workflow</a:t>
            </a:r>
            <a:endParaRPr lang="en-US" sz="2800" dirty="0"/>
          </a:p>
        </p:txBody>
      </p:sp>
      <p:sp>
        <p:nvSpPr>
          <p:cNvPr id="3" name="Shape 1"/>
          <p:cNvSpPr/>
          <p:nvPr/>
        </p:nvSpPr>
        <p:spPr>
          <a:xfrm>
            <a:off x="566928" y="868680"/>
            <a:ext cx="822960" cy="54864"/>
          </a:xfrm>
          <a:prstGeom prst="rect">
            <a:avLst/>
          </a:prstGeom>
          <a:solidFill>
            <a:srgbClr val="9C7A3C"/>
          </a:solidFill>
          <a:ln/>
        </p:spPr>
      </p:sp>
      <p:sp>
        <p:nvSpPr>
          <p:cNvPr id="4" name="Text 2"/>
          <p:cNvSpPr/>
          <p:nvPr/>
        </p:nvSpPr>
        <p:spPr>
          <a:xfrm>
            <a:off x="548640" y="1024128"/>
            <a:ext cx="3657600" cy="274320"/>
          </a:xfrm>
          <a:prstGeom prst="rect">
            <a:avLst/>
          </a:prstGeom>
          <a:noFill/>
          <a:ln/>
        </p:spPr>
        <p:txBody>
          <a:bodyPr wrap="square" rtlCol="0" anchor="ctr"/>
          <a:lstStyle/>
          <a:p>
            <a:pPr marL="0" indent="0">
              <a:buNone/>
            </a:pPr>
            <a:r>
              <a:rPr lang="en-US" sz="1200" b="1" kern="0" spc="100" dirty="0">
                <a:solidFill>
                  <a:srgbClr val="9C7A3C"/>
                </a:solidFill>
                <a:latin typeface="Calibri" pitchFamily="34" charset="0"/>
                <a:ea typeface="Calibri" pitchFamily="34" charset="-122"/>
                <a:cs typeface="Calibri" pitchFamily="34" charset="-120"/>
              </a:rPr>
              <a:t>WORKFLOW</a:t>
            </a:r>
            <a:endParaRPr lang="en-US" sz="1200" dirty="0"/>
          </a:p>
        </p:txBody>
      </p:sp>
      <p:sp>
        <p:nvSpPr>
          <p:cNvPr id="5" name="Shape 3"/>
          <p:cNvSpPr/>
          <p:nvPr/>
        </p:nvSpPr>
        <p:spPr>
          <a:xfrm>
            <a:off x="548640" y="1371600"/>
            <a:ext cx="310896" cy="310896"/>
          </a:xfrm>
          <a:prstGeom prst="ellipse">
            <a:avLst/>
          </a:prstGeom>
          <a:solidFill>
            <a:srgbClr val="4B321D"/>
          </a:solidFill>
          <a:ln/>
        </p:spPr>
      </p:sp>
      <p:sp>
        <p:nvSpPr>
          <p:cNvPr id="6" name="Text 4"/>
          <p:cNvSpPr/>
          <p:nvPr/>
        </p:nvSpPr>
        <p:spPr>
          <a:xfrm>
            <a:off x="548640" y="1371600"/>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005840" y="1344168"/>
            <a:ext cx="2606040" cy="365760"/>
          </a:xfrm>
          <a:prstGeom prst="rect">
            <a:avLst/>
          </a:prstGeom>
          <a:noFill/>
          <a:ln/>
        </p:spPr>
        <p:txBody>
          <a:bodyPr wrap="square" rtlCol="0" anchor="ctr"/>
          <a:lstStyle/>
          <a:p>
            <a:pPr marL="0" indent="0">
              <a:lnSpc>
                <a:spcPct val="95000"/>
              </a:lnSpc>
              <a:buNone/>
            </a:pPr>
            <a:r>
              <a:rPr lang="en-US" sz="1050" dirty="0">
                <a:solidFill>
                  <a:srgbClr val="332A20"/>
                </a:solidFill>
                <a:latin typeface="Calibri" pitchFamily="34" charset="0"/>
                <a:ea typeface="Calibri" pitchFamily="34" charset="-122"/>
                <a:cs typeface="Calibri" pitchFamily="34" charset="-120"/>
              </a:rPr>
              <a:t>User enters a recipe name</a:t>
            </a:r>
            <a:endParaRPr lang="en-US" sz="1050" dirty="0"/>
          </a:p>
        </p:txBody>
      </p:sp>
      <p:sp>
        <p:nvSpPr>
          <p:cNvPr id="8" name="Shape 6"/>
          <p:cNvSpPr/>
          <p:nvPr/>
        </p:nvSpPr>
        <p:spPr>
          <a:xfrm>
            <a:off x="704088" y="1682496"/>
            <a:ext cx="0" cy="173736"/>
          </a:xfrm>
          <a:prstGeom prst="line">
            <a:avLst/>
          </a:prstGeom>
          <a:noFill/>
          <a:ln w="19050">
            <a:solidFill>
              <a:srgbClr val="D6DED4"/>
            </a:solidFill>
            <a:prstDash val="solid"/>
          </a:ln>
        </p:spPr>
      </p:sp>
      <p:sp>
        <p:nvSpPr>
          <p:cNvPr id="9" name="Shape 7"/>
          <p:cNvSpPr/>
          <p:nvPr/>
        </p:nvSpPr>
        <p:spPr>
          <a:xfrm>
            <a:off x="548640" y="1816232"/>
            <a:ext cx="310896" cy="310896"/>
          </a:xfrm>
          <a:prstGeom prst="ellipse">
            <a:avLst/>
          </a:prstGeom>
          <a:solidFill>
            <a:srgbClr val="4B321D"/>
          </a:solidFill>
          <a:ln/>
        </p:spPr>
      </p:sp>
      <p:sp>
        <p:nvSpPr>
          <p:cNvPr id="10" name="Text 8"/>
          <p:cNvSpPr/>
          <p:nvPr/>
        </p:nvSpPr>
        <p:spPr>
          <a:xfrm>
            <a:off x="548640" y="1816232"/>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1005840" y="1788800"/>
            <a:ext cx="2606040" cy="365760"/>
          </a:xfrm>
          <a:prstGeom prst="rect">
            <a:avLst/>
          </a:prstGeom>
          <a:noFill/>
          <a:ln/>
        </p:spPr>
        <p:txBody>
          <a:bodyPr wrap="square" rtlCol="0" anchor="ctr"/>
          <a:lstStyle/>
          <a:p>
            <a:pPr marL="0" indent="0">
              <a:lnSpc>
                <a:spcPct val="95000"/>
              </a:lnSpc>
              <a:buNone/>
            </a:pPr>
            <a:r>
              <a:rPr lang="en-US" sz="1050" dirty="0">
                <a:solidFill>
                  <a:srgbClr val="332A20"/>
                </a:solidFill>
                <a:latin typeface="Calibri" pitchFamily="34" charset="0"/>
                <a:ea typeface="Calibri" pitchFamily="34" charset="-122"/>
                <a:cs typeface="Calibri" pitchFamily="34" charset="-120"/>
              </a:rPr>
              <a:t>System receives the recipe name</a:t>
            </a:r>
            <a:endParaRPr lang="en-US" sz="1050" dirty="0"/>
          </a:p>
        </p:txBody>
      </p:sp>
      <p:sp>
        <p:nvSpPr>
          <p:cNvPr id="12" name="Shape 10"/>
          <p:cNvSpPr/>
          <p:nvPr/>
        </p:nvSpPr>
        <p:spPr>
          <a:xfrm>
            <a:off x="704088" y="2127128"/>
            <a:ext cx="0" cy="133736"/>
          </a:xfrm>
          <a:prstGeom prst="line">
            <a:avLst/>
          </a:prstGeom>
          <a:noFill/>
          <a:ln w="19050">
            <a:solidFill>
              <a:srgbClr val="D6DED4"/>
            </a:solidFill>
            <a:prstDash val="solid"/>
          </a:ln>
        </p:spPr>
      </p:sp>
      <p:sp>
        <p:nvSpPr>
          <p:cNvPr id="13" name="Shape 11"/>
          <p:cNvSpPr/>
          <p:nvPr/>
        </p:nvSpPr>
        <p:spPr>
          <a:xfrm>
            <a:off x="548640" y="2260864"/>
            <a:ext cx="310896" cy="310896"/>
          </a:xfrm>
          <a:prstGeom prst="ellipse">
            <a:avLst/>
          </a:prstGeom>
          <a:solidFill>
            <a:srgbClr val="4B321D"/>
          </a:solidFill>
          <a:ln/>
        </p:spPr>
      </p:sp>
      <p:sp>
        <p:nvSpPr>
          <p:cNvPr id="14" name="Text 12"/>
          <p:cNvSpPr/>
          <p:nvPr/>
        </p:nvSpPr>
        <p:spPr>
          <a:xfrm>
            <a:off x="548640" y="2260864"/>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1005840" y="2233432"/>
            <a:ext cx="2606040" cy="365760"/>
          </a:xfrm>
          <a:prstGeom prst="rect">
            <a:avLst/>
          </a:prstGeom>
          <a:noFill/>
          <a:ln/>
        </p:spPr>
        <p:txBody>
          <a:bodyPr wrap="square" rtlCol="0" anchor="ctr"/>
          <a:lstStyle/>
          <a:p>
            <a:pPr marL="0" indent="0">
              <a:lnSpc>
                <a:spcPct val="95000"/>
              </a:lnSpc>
              <a:buNone/>
            </a:pPr>
            <a:r>
              <a:rPr lang="en-US" sz="1050" dirty="0">
                <a:solidFill>
                  <a:srgbClr val="332A20"/>
                </a:solidFill>
                <a:latin typeface="Calibri" pitchFamily="34" charset="0"/>
                <a:ea typeface="Calibri" pitchFamily="34" charset="-122"/>
                <a:cs typeface="Calibri" pitchFamily="34" charset="-120"/>
              </a:rPr>
              <a:t>Naïve Pattern Matching searches the recipe collection</a:t>
            </a:r>
            <a:endParaRPr lang="en-US" sz="1050" dirty="0"/>
          </a:p>
        </p:txBody>
      </p:sp>
      <p:sp>
        <p:nvSpPr>
          <p:cNvPr id="16" name="Shape 14"/>
          <p:cNvSpPr/>
          <p:nvPr/>
        </p:nvSpPr>
        <p:spPr>
          <a:xfrm>
            <a:off x="704088" y="2571760"/>
            <a:ext cx="0" cy="133736"/>
          </a:xfrm>
          <a:prstGeom prst="line">
            <a:avLst/>
          </a:prstGeom>
          <a:noFill/>
          <a:ln w="19050">
            <a:solidFill>
              <a:srgbClr val="D6DED4"/>
            </a:solidFill>
            <a:prstDash val="solid"/>
          </a:ln>
        </p:spPr>
      </p:sp>
      <p:sp>
        <p:nvSpPr>
          <p:cNvPr id="17" name="Shape 15"/>
          <p:cNvSpPr/>
          <p:nvPr/>
        </p:nvSpPr>
        <p:spPr>
          <a:xfrm>
            <a:off x="548640" y="2705496"/>
            <a:ext cx="310896" cy="310896"/>
          </a:xfrm>
          <a:prstGeom prst="ellipse">
            <a:avLst/>
          </a:prstGeom>
          <a:solidFill>
            <a:srgbClr val="4B321D"/>
          </a:solidFill>
          <a:ln/>
        </p:spPr>
      </p:sp>
      <p:sp>
        <p:nvSpPr>
          <p:cNvPr id="18" name="Text 16"/>
          <p:cNvSpPr/>
          <p:nvPr/>
        </p:nvSpPr>
        <p:spPr>
          <a:xfrm>
            <a:off x="548640" y="2705496"/>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9" name="Text 17"/>
          <p:cNvSpPr/>
          <p:nvPr/>
        </p:nvSpPr>
        <p:spPr>
          <a:xfrm>
            <a:off x="1005840" y="2678064"/>
            <a:ext cx="2606040" cy="365760"/>
          </a:xfrm>
          <a:prstGeom prst="rect">
            <a:avLst/>
          </a:prstGeom>
          <a:noFill/>
          <a:ln/>
        </p:spPr>
        <p:txBody>
          <a:bodyPr wrap="square" rtlCol="0" anchor="ctr"/>
          <a:lstStyle/>
          <a:p>
            <a:pPr marL="0" indent="0">
              <a:lnSpc>
                <a:spcPct val="95000"/>
              </a:lnSpc>
              <a:buNone/>
            </a:pPr>
            <a:r>
              <a:rPr lang="en-US" sz="1050" dirty="0">
                <a:solidFill>
                  <a:srgbClr val="332A20"/>
                </a:solidFill>
                <a:latin typeface="Calibri" pitchFamily="34" charset="0"/>
                <a:ea typeface="Calibri" pitchFamily="34" charset="-122"/>
                <a:cs typeface="Calibri" pitchFamily="34" charset="-120"/>
              </a:rPr>
              <a:t>Matching recipe is identified</a:t>
            </a:r>
            <a:endParaRPr lang="en-US" sz="1050" dirty="0"/>
          </a:p>
        </p:txBody>
      </p:sp>
      <p:sp>
        <p:nvSpPr>
          <p:cNvPr id="20" name="Shape 18"/>
          <p:cNvSpPr/>
          <p:nvPr/>
        </p:nvSpPr>
        <p:spPr>
          <a:xfrm>
            <a:off x="704088" y="3016392"/>
            <a:ext cx="0" cy="133736"/>
          </a:xfrm>
          <a:prstGeom prst="line">
            <a:avLst/>
          </a:prstGeom>
          <a:noFill/>
          <a:ln w="19050">
            <a:solidFill>
              <a:srgbClr val="D6DED4"/>
            </a:solidFill>
            <a:prstDash val="solid"/>
          </a:ln>
        </p:spPr>
      </p:sp>
      <p:sp>
        <p:nvSpPr>
          <p:cNvPr id="21" name="Shape 19"/>
          <p:cNvSpPr/>
          <p:nvPr/>
        </p:nvSpPr>
        <p:spPr>
          <a:xfrm>
            <a:off x="548640" y="3150128"/>
            <a:ext cx="310896" cy="310896"/>
          </a:xfrm>
          <a:prstGeom prst="ellipse">
            <a:avLst/>
          </a:prstGeom>
          <a:solidFill>
            <a:srgbClr val="4B321D"/>
          </a:solidFill>
          <a:ln/>
        </p:spPr>
      </p:sp>
      <p:sp>
        <p:nvSpPr>
          <p:cNvPr id="22" name="Text 20"/>
          <p:cNvSpPr/>
          <p:nvPr/>
        </p:nvSpPr>
        <p:spPr>
          <a:xfrm>
            <a:off x="548640" y="3150128"/>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3" name="Text 21"/>
          <p:cNvSpPr/>
          <p:nvPr/>
        </p:nvSpPr>
        <p:spPr>
          <a:xfrm>
            <a:off x="1005840" y="3122696"/>
            <a:ext cx="2606040" cy="365760"/>
          </a:xfrm>
          <a:prstGeom prst="rect">
            <a:avLst/>
          </a:prstGeom>
          <a:noFill/>
          <a:ln/>
        </p:spPr>
        <p:txBody>
          <a:bodyPr wrap="square" rtlCol="0" anchor="ctr"/>
          <a:lstStyle/>
          <a:p>
            <a:pPr marL="0" indent="0">
              <a:lnSpc>
                <a:spcPct val="95000"/>
              </a:lnSpc>
              <a:buNone/>
            </a:pPr>
            <a:r>
              <a:rPr lang="en-US" sz="1050" dirty="0">
                <a:solidFill>
                  <a:srgbClr val="332A20"/>
                </a:solidFill>
                <a:latin typeface="Calibri" pitchFamily="34" charset="0"/>
                <a:ea typeface="Calibri" pitchFamily="34" charset="-122"/>
                <a:cs typeface="Calibri" pitchFamily="34" charset="-120"/>
              </a:rPr>
              <a:t>Complete recipe details are retrieved</a:t>
            </a:r>
            <a:endParaRPr lang="en-US" sz="1050" dirty="0"/>
          </a:p>
        </p:txBody>
      </p:sp>
      <p:sp>
        <p:nvSpPr>
          <p:cNvPr id="24" name="Shape 22"/>
          <p:cNvSpPr/>
          <p:nvPr/>
        </p:nvSpPr>
        <p:spPr>
          <a:xfrm>
            <a:off x="704088" y="3461024"/>
            <a:ext cx="0" cy="133736"/>
          </a:xfrm>
          <a:prstGeom prst="line">
            <a:avLst/>
          </a:prstGeom>
          <a:noFill/>
          <a:ln w="19050">
            <a:solidFill>
              <a:srgbClr val="D6DED4"/>
            </a:solidFill>
            <a:prstDash val="solid"/>
          </a:ln>
        </p:spPr>
      </p:sp>
      <p:sp>
        <p:nvSpPr>
          <p:cNvPr id="25" name="Shape 23"/>
          <p:cNvSpPr/>
          <p:nvPr/>
        </p:nvSpPr>
        <p:spPr>
          <a:xfrm>
            <a:off x="548640" y="3594760"/>
            <a:ext cx="310896" cy="310896"/>
          </a:xfrm>
          <a:prstGeom prst="ellipse">
            <a:avLst/>
          </a:prstGeom>
          <a:solidFill>
            <a:srgbClr val="4B321D"/>
          </a:solidFill>
          <a:ln/>
        </p:spPr>
      </p:sp>
      <p:sp>
        <p:nvSpPr>
          <p:cNvPr id="26" name="Text 24"/>
          <p:cNvSpPr/>
          <p:nvPr/>
        </p:nvSpPr>
        <p:spPr>
          <a:xfrm>
            <a:off x="548640" y="3594760"/>
            <a:ext cx="310896"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7" name="Text 25"/>
          <p:cNvSpPr/>
          <p:nvPr/>
        </p:nvSpPr>
        <p:spPr>
          <a:xfrm>
            <a:off x="1005840" y="3567328"/>
            <a:ext cx="2606040" cy="365760"/>
          </a:xfrm>
          <a:prstGeom prst="rect">
            <a:avLst/>
          </a:prstGeom>
          <a:noFill/>
          <a:ln/>
        </p:spPr>
        <p:txBody>
          <a:bodyPr wrap="square" rtlCol="0" anchor="ctr"/>
          <a:lstStyle/>
          <a:p>
            <a:pPr marL="0" indent="0">
              <a:lnSpc>
                <a:spcPct val="95000"/>
              </a:lnSpc>
              <a:buNone/>
            </a:pPr>
            <a:r>
              <a:rPr lang="en-US" sz="1050" dirty="0">
                <a:solidFill>
                  <a:srgbClr val="332A20"/>
                </a:solidFill>
                <a:latin typeface="Calibri" pitchFamily="34" charset="0"/>
                <a:ea typeface="Calibri" pitchFamily="34" charset="-122"/>
                <a:cs typeface="Calibri" pitchFamily="34" charset="-120"/>
              </a:rPr>
              <a:t>Complete recipe is displayed</a:t>
            </a:r>
            <a:endParaRPr lang="en-US" sz="1050" dirty="0"/>
          </a:p>
        </p:txBody>
      </p:sp>
      <p:sp>
        <p:nvSpPr>
          <p:cNvPr id="28" name="Text 26"/>
          <p:cNvSpPr/>
          <p:nvPr/>
        </p:nvSpPr>
        <p:spPr>
          <a:xfrm>
            <a:off x="3886200" y="1024128"/>
            <a:ext cx="3657600" cy="274320"/>
          </a:xfrm>
          <a:prstGeom prst="rect">
            <a:avLst/>
          </a:prstGeom>
          <a:noFill/>
          <a:ln/>
        </p:spPr>
        <p:txBody>
          <a:bodyPr wrap="square" rtlCol="0" anchor="ctr"/>
          <a:lstStyle/>
          <a:p>
            <a:pPr marL="0" indent="0">
              <a:buNone/>
            </a:pPr>
            <a:r>
              <a:rPr lang="en-US" sz="1200" b="1" kern="0" spc="100" dirty="0">
                <a:solidFill>
                  <a:srgbClr val="9C7A3C"/>
                </a:solidFill>
                <a:latin typeface="Calibri" pitchFamily="34" charset="0"/>
                <a:ea typeface="Calibri" pitchFamily="34" charset="-122"/>
                <a:cs typeface="Calibri" pitchFamily="34" charset="-120"/>
              </a:rPr>
              <a:t>PROPOSED FUNCTIONALITIES</a:t>
            </a:r>
            <a:endParaRPr lang="en-US" sz="1200" dirty="0"/>
          </a:p>
        </p:txBody>
      </p:sp>
      <p:pic>
        <p:nvPicPr>
          <p:cNvPr id="29" name="Image 0" descr="ic_check_green.png"/>
          <p:cNvPicPr>
            <a:picLocks noChangeAspect="1"/>
          </p:cNvPicPr>
          <p:nvPr/>
        </p:nvPicPr>
        <p:blipFill>
          <a:blip r:embed="rId3"/>
          <a:stretch>
            <a:fillRect/>
          </a:stretch>
        </p:blipFill>
        <p:spPr>
          <a:xfrm>
            <a:off x="3886200" y="1435608"/>
            <a:ext cx="201168" cy="201168"/>
          </a:xfrm>
          <a:prstGeom prst="rect">
            <a:avLst/>
          </a:prstGeom>
        </p:spPr>
      </p:pic>
      <p:sp>
        <p:nvSpPr>
          <p:cNvPr id="30" name="Text 27"/>
          <p:cNvSpPr/>
          <p:nvPr/>
        </p:nvSpPr>
        <p:spPr>
          <a:xfrm>
            <a:off x="4187952" y="1362456"/>
            <a:ext cx="3566160" cy="347472"/>
          </a:xfrm>
          <a:prstGeom prst="rect">
            <a:avLst/>
          </a:prstGeom>
          <a:noFill/>
          <a:ln/>
        </p:spPr>
        <p:txBody>
          <a:bodyPr wrap="square" rtlCol="0" anchor="ctr"/>
          <a:lstStyle/>
          <a:p>
            <a:pPr marL="0" indent="0">
              <a:buNone/>
            </a:pPr>
            <a:r>
              <a:rPr lang="en-US" sz="1100" dirty="0">
                <a:solidFill>
                  <a:srgbClr val="332A20"/>
                </a:solidFill>
                <a:latin typeface="Calibri" pitchFamily="34" charset="0"/>
                <a:ea typeface="Calibri" pitchFamily="34" charset="-122"/>
                <a:cs typeface="Calibri" pitchFamily="34" charset="-120"/>
              </a:rPr>
              <a:t>Search recipes using recipe name</a:t>
            </a:r>
            <a:endParaRPr lang="en-US" sz="1100" dirty="0"/>
          </a:p>
        </p:txBody>
      </p:sp>
      <p:pic>
        <p:nvPicPr>
          <p:cNvPr id="31" name="Image 1" descr="ic_check_green.png"/>
          <p:cNvPicPr>
            <a:picLocks noChangeAspect="1"/>
          </p:cNvPicPr>
          <p:nvPr/>
        </p:nvPicPr>
        <p:blipFill>
          <a:blip r:embed="rId3"/>
          <a:stretch>
            <a:fillRect/>
          </a:stretch>
        </p:blipFill>
        <p:spPr>
          <a:xfrm>
            <a:off x="3886200" y="1856232"/>
            <a:ext cx="201168" cy="201168"/>
          </a:xfrm>
          <a:prstGeom prst="rect">
            <a:avLst/>
          </a:prstGeom>
        </p:spPr>
      </p:pic>
      <p:sp>
        <p:nvSpPr>
          <p:cNvPr id="32" name="Text 28"/>
          <p:cNvSpPr/>
          <p:nvPr/>
        </p:nvSpPr>
        <p:spPr>
          <a:xfrm>
            <a:off x="4187952" y="1783080"/>
            <a:ext cx="3566160" cy="347472"/>
          </a:xfrm>
          <a:prstGeom prst="rect">
            <a:avLst/>
          </a:prstGeom>
          <a:noFill/>
          <a:ln/>
        </p:spPr>
        <p:txBody>
          <a:bodyPr wrap="square" rtlCol="0" anchor="ctr"/>
          <a:lstStyle/>
          <a:p>
            <a:pPr marL="0" indent="0">
              <a:buNone/>
            </a:pPr>
            <a:r>
              <a:rPr lang="en-US" sz="1100" dirty="0">
                <a:solidFill>
                  <a:srgbClr val="332A20"/>
                </a:solidFill>
                <a:latin typeface="Calibri" pitchFamily="34" charset="0"/>
                <a:ea typeface="Calibri" pitchFamily="34" charset="-122"/>
                <a:cs typeface="Calibri" pitchFamily="34" charset="-120"/>
              </a:rPr>
              <a:t>Perform keyword/pattern search</a:t>
            </a:r>
            <a:endParaRPr lang="en-US" sz="1100" dirty="0"/>
          </a:p>
        </p:txBody>
      </p:sp>
      <p:pic>
        <p:nvPicPr>
          <p:cNvPr id="33" name="Image 2" descr="ic_check_green.png"/>
          <p:cNvPicPr>
            <a:picLocks noChangeAspect="1"/>
          </p:cNvPicPr>
          <p:nvPr/>
        </p:nvPicPr>
        <p:blipFill>
          <a:blip r:embed="rId3"/>
          <a:stretch>
            <a:fillRect/>
          </a:stretch>
        </p:blipFill>
        <p:spPr>
          <a:xfrm>
            <a:off x="3886200" y="2276856"/>
            <a:ext cx="201168" cy="201168"/>
          </a:xfrm>
          <a:prstGeom prst="rect">
            <a:avLst/>
          </a:prstGeom>
        </p:spPr>
      </p:pic>
      <p:sp>
        <p:nvSpPr>
          <p:cNvPr id="34" name="Text 29"/>
          <p:cNvSpPr/>
          <p:nvPr/>
        </p:nvSpPr>
        <p:spPr>
          <a:xfrm>
            <a:off x="4187952" y="2203704"/>
            <a:ext cx="3566160" cy="347472"/>
          </a:xfrm>
          <a:prstGeom prst="rect">
            <a:avLst/>
          </a:prstGeom>
          <a:noFill/>
          <a:ln/>
        </p:spPr>
        <p:txBody>
          <a:bodyPr wrap="square" rtlCol="0" anchor="ctr"/>
          <a:lstStyle/>
          <a:p>
            <a:pPr marL="0" indent="0">
              <a:buNone/>
            </a:pPr>
            <a:r>
              <a:rPr lang="en-US" sz="1100" dirty="0">
                <a:solidFill>
                  <a:srgbClr val="332A20"/>
                </a:solidFill>
                <a:latin typeface="Calibri" pitchFamily="34" charset="0"/>
                <a:ea typeface="Calibri" pitchFamily="34" charset="-122"/>
                <a:cs typeface="Calibri" pitchFamily="34" charset="-120"/>
              </a:rPr>
              <a:t>Match the entered recipe name with the recipe collection</a:t>
            </a:r>
            <a:endParaRPr lang="en-US" sz="1100" dirty="0"/>
          </a:p>
        </p:txBody>
      </p:sp>
      <p:pic>
        <p:nvPicPr>
          <p:cNvPr id="35" name="Image 3" descr="ic_check_green.png"/>
          <p:cNvPicPr>
            <a:picLocks noChangeAspect="1"/>
          </p:cNvPicPr>
          <p:nvPr/>
        </p:nvPicPr>
        <p:blipFill>
          <a:blip r:embed="rId3"/>
          <a:stretch>
            <a:fillRect/>
          </a:stretch>
        </p:blipFill>
        <p:spPr>
          <a:xfrm>
            <a:off x="3886200" y="2697480"/>
            <a:ext cx="201168" cy="201168"/>
          </a:xfrm>
          <a:prstGeom prst="rect">
            <a:avLst/>
          </a:prstGeom>
        </p:spPr>
      </p:pic>
      <p:sp>
        <p:nvSpPr>
          <p:cNvPr id="36" name="Text 30"/>
          <p:cNvSpPr/>
          <p:nvPr/>
        </p:nvSpPr>
        <p:spPr>
          <a:xfrm>
            <a:off x="4187952" y="2624328"/>
            <a:ext cx="3566160" cy="347472"/>
          </a:xfrm>
          <a:prstGeom prst="rect">
            <a:avLst/>
          </a:prstGeom>
          <a:noFill/>
          <a:ln/>
        </p:spPr>
        <p:txBody>
          <a:bodyPr wrap="square" rtlCol="0" anchor="ctr"/>
          <a:lstStyle/>
          <a:p>
            <a:pPr marL="0" indent="0">
              <a:buNone/>
            </a:pPr>
            <a:r>
              <a:rPr lang="en-US" sz="1100" dirty="0">
                <a:solidFill>
                  <a:srgbClr val="332A20"/>
                </a:solidFill>
                <a:latin typeface="Calibri" pitchFamily="34" charset="0"/>
                <a:ea typeface="Calibri" pitchFamily="34" charset="-122"/>
                <a:cs typeface="Calibri" pitchFamily="34" charset="-120"/>
              </a:rPr>
              <a:t>Retrieve the matching recipe</a:t>
            </a:r>
            <a:endParaRPr lang="en-US" sz="1100" dirty="0"/>
          </a:p>
        </p:txBody>
      </p:sp>
      <p:pic>
        <p:nvPicPr>
          <p:cNvPr id="37" name="Image 4" descr="ic_check_green.png"/>
          <p:cNvPicPr>
            <a:picLocks noChangeAspect="1"/>
          </p:cNvPicPr>
          <p:nvPr/>
        </p:nvPicPr>
        <p:blipFill>
          <a:blip r:embed="rId3"/>
          <a:stretch>
            <a:fillRect/>
          </a:stretch>
        </p:blipFill>
        <p:spPr>
          <a:xfrm>
            <a:off x="3886200" y="3118104"/>
            <a:ext cx="201168" cy="201168"/>
          </a:xfrm>
          <a:prstGeom prst="rect">
            <a:avLst/>
          </a:prstGeom>
        </p:spPr>
      </p:pic>
      <p:sp>
        <p:nvSpPr>
          <p:cNvPr id="38" name="Text 31"/>
          <p:cNvSpPr/>
          <p:nvPr/>
        </p:nvSpPr>
        <p:spPr>
          <a:xfrm>
            <a:off x="4187952" y="3044952"/>
            <a:ext cx="3566160" cy="347472"/>
          </a:xfrm>
          <a:prstGeom prst="rect">
            <a:avLst/>
          </a:prstGeom>
          <a:noFill/>
          <a:ln/>
        </p:spPr>
        <p:txBody>
          <a:bodyPr wrap="square" rtlCol="0" anchor="ctr"/>
          <a:lstStyle/>
          <a:p>
            <a:pPr marL="0" indent="0">
              <a:buNone/>
            </a:pPr>
            <a:r>
              <a:rPr lang="en-US" sz="1100" dirty="0">
                <a:solidFill>
                  <a:srgbClr val="332A20"/>
                </a:solidFill>
                <a:latin typeface="Calibri" pitchFamily="34" charset="0"/>
                <a:ea typeface="Calibri" pitchFamily="34" charset="-122"/>
                <a:cs typeface="Calibri" pitchFamily="34" charset="-120"/>
              </a:rPr>
              <a:t>View ingredients &amp; preparation instructions</a:t>
            </a:r>
            <a:endParaRPr lang="en-US" sz="1100" dirty="0"/>
          </a:p>
        </p:txBody>
      </p:sp>
      <p:pic>
        <p:nvPicPr>
          <p:cNvPr id="39" name="Image 5" descr="ic_check_green.png"/>
          <p:cNvPicPr>
            <a:picLocks noChangeAspect="1"/>
          </p:cNvPicPr>
          <p:nvPr/>
        </p:nvPicPr>
        <p:blipFill>
          <a:blip r:embed="rId3"/>
          <a:stretch>
            <a:fillRect/>
          </a:stretch>
        </p:blipFill>
        <p:spPr>
          <a:xfrm>
            <a:off x="3886200" y="3538728"/>
            <a:ext cx="201168" cy="201168"/>
          </a:xfrm>
          <a:prstGeom prst="rect">
            <a:avLst/>
          </a:prstGeom>
        </p:spPr>
      </p:pic>
      <p:sp>
        <p:nvSpPr>
          <p:cNvPr id="40" name="Text 32"/>
          <p:cNvSpPr/>
          <p:nvPr/>
        </p:nvSpPr>
        <p:spPr>
          <a:xfrm>
            <a:off x="4187952" y="3465576"/>
            <a:ext cx="3566160" cy="347472"/>
          </a:xfrm>
          <a:prstGeom prst="rect">
            <a:avLst/>
          </a:prstGeom>
          <a:noFill/>
          <a:ln/>
        </p:spPr>
        <p:txBody>
          <a:bodyPr wrap="square" rtlCol="0" anchor="ctr"/>
          <a:lstStyle/>
          <a:p>
            <a:pPr marL="0" indent="0">
              <a:buNone/>
            </a:pPr>
            <a:r>
              <a:rPr lang="en-US" sz="1100" dirty="0">
                <a:solidFill>
                  <a:srgbClr val="332A20"/>
                </a:solidFill>
                <a:latin typeface="Calibri" pitchFamily="34" charset="0"/>
                <a:ea typeface="Calibri" pitchFamily="34" charset="-122"/>
                <a:cs typeface="Calibri" pitchFamily="34" charset="-120"/>
              </a:rPr>
              <a:t>View preparation time and cooking time</a:t>
            </a:r>
            <a:endParaRPr lang="en-US" sz="1100" dirty="0"/>
          </a:p>
        </p:txBody>
      </p:sp>
      <p:sp>
        <p:nvSpPr>
          <p:cNvPr id="41" name="Shape 33"/>
          <p:cNvSpPr/>
          <p:nvPr/>
        </p:nvSpPr>
        <p:spPr>
          <a:xfrm>
            <a:off x="8001000" y="1024128"/>
            <a:ext cx="3611880" cy="2468880"/>
          </a:xfrm>
          <a:prstGeom prst="roundRect">
            <a:avLst>
              <a:gd name="adj" fmla="val 4444"/>
            </a:avLst>
          </a:prstGeom>
          <a:solidFill>
            <a:srgbClr val="46594B"/>
          </a:solidFill>
          <a:ln/>
        </p:spPr>
      </p:sp>
      <p:sp>
        <p:nvSpPr>
          <p:cNvPr id="42" name="Shape 34"/>
          <p:cNvSpPr/>
          <p:nvPr/>
        </p:nvSpPr>
        <p:spPr>
          <a:xfrm>
            <a:off x="8275320" y="1234440"/>
            <a:ext cx="640080" cy="640080"/>
          </a:xfrm>
          <a:prstGeom prst="ellipse">
            <a:avLst/>
          </a:prstGeom>
          <a:solidFill>
            <a:srgbClr val="4B321D"/>
          </a:solidFill>
          <a:ln/>
        </p:spPr>
      </p:sp>
      <p:pic>
        <p:nvPicPr>
          <p:cNvPr id="43" name="Image 6" descr="ic_code_green.png"/>
          <p:cNvPicPr>
            <a:picLocks noChangeAspect="1"/>
          </p:cNvPicPr>
          <p:nvPr/>
        </p:nvPicPr>
        <p:blipFill>
          <a:blip r:embed="rId4"/>
          <a:stretch>
            <a:fillRect/>
          </a:stretch>
        </p:blipFill>
        <p:spPr>
          <a:xfrm>
            <a:off x="8419338" y="1378458"/>
            <a:ext cx="352044" cy="352044"/>
          </a:xfrm>
          <a:prstGeom prst="rect">
            <a:avLst/>
          </a:prstGeom>
        </p:spPr>
      </p:pic>
      <p:sp>
        <p:nvSpPr>
          <p:cNvPr id="44" name="Text 35"/>
          <p:cNvSpPr/>
          <p:nvPr/>
        </p:nvSpPr>
        <p:spPr>
          <a:xfrm>
            <a:off x="9052560" y="1280160"/>
            <a:ext cx="2468880" cy="5486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Current Focus</a:t>
            </a:r>
            <a:endParaRPr lang="en-US" sz="1400" dirty="0"/>
          </a:p>
        </p:txBody>
      </p:sp>
      <p:sp>
        <p:nvSpPr>
          <p:cNvPr id="45" name="Text 36"/>
          <p:cNvSpPr/>
          <p:nvPr/>
        </p:nvSpPr>
        <p:spPr>
          <a:xfrm>
            <a:off x="8275320" y="1965960"/>
            <a:ext cx="3063240" cy="1417320"/>
          </a:xfrm>
          <a:prstGeom prst="rect">
            <a:avLst/>
          </a:prstGeom>
          <a:noFill/>
          <a:ln/>
        </p:spPr>
        <p:txBody>
          <a:bodyPr wrap="square" rtlCol="0" anchor="ctr"/>
          <a:lstStyle/>
          <a:p>
            <a:pPr marL="0" indent="0">
              <a:lnSpc>
                <a:spcPct val="115000"/>
              </a:lnSpc>
              <a:buNone/>
            </a:pPr>
            <a:r>
              <a:rPr lang="en-US" sz="1100" dirty="0">
                <a:solidFill>
                  <a:srgbClr val="DCE3D8"/>
                </a:solidFill>
                <a:latin typeface="Calibri" pitchFamily="34" charset="0"/>
                <a:ea typeface="Calibri" pitchFamily="34" charset="-122"/>
                <a:cs typeface="Calibri" pitchFamily="34" charset="-120"/>
              </a:rPr>
              <a:t>Module 1 – TextHack as a System: Keyword (Pattern) Search defines the recipe-name search query. Module 2 – String Algorithms: Naïve Pattern Matching searches the entered recipe name and finds the matching recipe.</a:t>
            </a:r>
            <a:endParaRPr lang="en-US" sz="1100" dirty="0"/>
          </a:p>
        </p:txBody>
      </p:sp>
      <p:sp>
        <p:nvSpPr>
          <p:cNvPr id="46" name="Text 37"/>
          <p:cNvSpPr/>
          <p:nvPr/>
        </p:nvSpPr>
        <p:spPr>
          <a:xfrm>
            <a:off x="548640" y="3977640"/>
            <a:ext cx="7315200" cy="274320"/>
          </a:xfrm>
          <a:prstGeom prst="rect">
            <a:avLst/>
          </a:prstGeom>
          <a:noFill/>
          <a:ln/>
        </p:spPr>
        <p:txBody>
          <a:bodyPr wrap="square" rtlCol="0" anchor="ctr"/>
          <a:lstStyle/>
          <a:p>
            <a:pPr marL="0" indent="0">
              <a:buNone/>
            </a:pPr>
            <a:r>
              <a:rPr lang="en-US" sz="1200" b="1" kern="0" spc="100" dirty="0">
                <a:solidFill>
                  <a:srgbClr val="9C7A3C"/>
                </a:solidFill>
                <a:latin typeface="Calibri" pitchFamily="34" charset="0"/>
                <a:ea typeface="Calibri" pitchFamily="34" charset="-122"/>
                <a:cs typeface="Calibri" pitchFamily="34" charset="-120"/>
              </a:rPr>
              <a:t>DSA ALGORITHM MAPPING  (Based on DSA-3 Syllabus)</a:t>
            </a:r>
            <a:endParaRPr lang="en-US" sz="1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4279392"/>
          <a:ext cx="11064240" cy="2331720"/>
        </p:xfrm>
        <a:graphic>
          <a:graphicData uri="http://schemas.openxmlformats.org/drawingml/2006/table">
            <a:tbl>
              <a:tblPr/>
              <a:tblGrid>
                <a:gridCol w="3657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333103">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DSA Module</a:t>
                      </a:r>
                      <a:endParaRPr lang="en-US" sz="10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4B321D"/>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Algorithm(s) Used</a:t>
                      </a:r>
                      <a:endParaRPr lang="en-US" sz="10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4B321D"/>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Purpose in Recipe Finder</a:t>
                      </a:r>
                      <a:endParaRPr lang="en-US" sz="10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4B321D"/>
                    </a:solidFill>
                  </a:tcPr>
                </a:tc>
                <a:extLst>
                  <a:ext uri="{0D108BD9-81ED-4DB2-BD59-A6C34878D82A}">
                    <a16:rowId xmlns:a16="http://schemas.microsoft.com/office/drawing/2014/main" val="10000"/>
                  </a:ext>
                </a:extLst>
              </a:tr>
              <a:tr h="333103">
                <a:tc>
                  <a:txBody>
                    <a:bodyPr/>
                    <a:lstStyle/>
                    <a:p>
                      <a:pPr marL="0" indent="0" algn="l">
                        <a:buNone/>
                      </a:pPr>
                      <a:r>
                        <a:rPr lang="en-US" sz="950" b="1" dirty="0">
                          <a:solidFill>
                            <a:srgbClr val="332A20"/>
                          </a:solidFill>
                          <a:latin typeface="Calibri" pitchFamily="34" charset="0"/>
                          <a:ea typeface="Calibri" pitchFamily="34" charset="-122"/>
                          <a:cs typeface="Calibri" pitchFamily="34" charset="-120"/>
                        </a:rPr>
                        <a:t>Module 1 – TextHack as a System</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1E6D2"/>
                    </a:solidFill>
                  </a:tcPr>
                </a:tc>
                <a:tc>
                  <a:txBody>
                    <a:bodyPr/>
                    <a:lstStyle/>
                    <a:p>
                      <a:pPr marL="0" indent="0" algn="l">
                        <a:buNone/>
                      </a:pPr>
                      <a:r>
                        <a:rPr lang="en-US" sz="950" dirty="0">
                          <a:solidFill>
                            <a:srgbClr val="332A20"/>
                          </a:solidFill>
                          <a:latin typeface="Calibri" pitchFamily="34" charset="0"/>
                          <a:ea typeface="Calibri" pitchFamily="34" charset="-122"/>
                          <a:cs typeface="Calibri" pitchFamily="34" charset="-120"/>
                        </a:rPr>
                        <a:t>Keyword (Pattern) Search</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1E6D2"/>
                    </a:solidFill>
                  </a:tcPr>
                </a:tc>
                <a:tc>
                  <a:txBody>
                    <a:bodyPr/>
                    <a:lstStyle/>
                    <a:p>
                      <a:pPr marL="0" indent="0" algn="l">
                        <a:buNone/>
                      </a:pPr>
                      <a:r>
                        <a:rPr lang="en-US" sz="950" dirty="0">
                          <a:solidFill>
                            <a:srgbClr val="332A20"/>
                          </a:solidFill>
                          <a:latin typeface="Calibri" pitchFamily="34" charset="0"/>
                          <a:ea typeface="Calibri" pitchFamily="34" charset="-122"/>
                          <a:cs typeface="Calibri" pitchFamily="34" charset="-120"/>
                        </a:rPr>
                        <a:t>Defines the recipe-name search query</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1E6D2"/>
                    </a:solidFill>
                  </a:tcPr>
                </a:tc>
                <a:extLst>
                  <a:ext uri="{0D108BD9-81ED-4DB2-BD59-A6C34878D82A}">
                    <a16:rowId xmlns:a16="http://schemas.microsoft.com/office/drawing/2014/main" val="10001"/>
                  </a:ext>
                </a:extLst>
              </a:tr>
              <a:tr h="333103">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Module 2 – String Algorithms (Current)</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Naïve Pattern Matching</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Searches the entered recipe name and finds the matching recipe</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333103">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Module 3 – Advanced Dynamic Programming (Planned)</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Edit Distance</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Handle spelling mistakes in recipe names</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333103">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Module 4 – Network Flow (Planned)</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Ford–Fulkerson</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Possible future resource/ingredient allocation</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r h="333103">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Module 5 – NP-Completeness and Approximation (Planned)</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Approximation Algorithms</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Possible future recipe optimization</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5"/>
                  </a:ext>
                </a:extLst>
              </a:tr>
              <a:tr h="333103">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Module 6 – Randomised and Parallel Algorithms (Planned)</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Randomised / Parallel Algorithms</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l">
                        <a:buNone/>
                      </a:pPr>
                      <a:r>
                        <a:rPr lang="en-US" sz="950" dirty="0">
                          <a:solidFill>
                            <a:srgbClr val="7A7267"/>
                          </a:solidFill>
                          <a:latin typeface="Calibri" pitchFamily="34" charset="0"/>
                          <a:ea typeface="Calibri" pitchFamily="34" charset="-122"/>
                          <a:cs typeface="Calibri" pitchFamily="34" charset="-120"/>
                        </a:rPr>
                        <a:t>Possible future random selection and large-scale search</a:t>
                      </a:r>
                      <a:endParaRPr lang="en-US" sz="9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8" name="Text 38"/>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7A7267"/>
                </a:solidFill>
                <a:latin typeface="Calibri" pitchFamily="34" charset="0"/>
                <a:ea typeface="Calibri" pitchFamily="34" charset="-122"/>
                <a:cs typeface="Calibri" pitchFamily="34" charset="-120"/>
              </a:rPr>
              <a:t>Recipe Finder</a:t>
            </a:r>
            <a:endParaRPr lang="en-US" sz="900" dirty="0"/>
          </a:p>
        </p:txBody>
      </p:sp>
      <p:sp>
        <p:nvSpPr>
          <p:cNvPr id="49" name="Text 39"/>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7A7267"/>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ic_tomato_orange.png"/>
          <p:cNvPicPr>
            <a:picLocks noChangeAspect="1"/>
          </p:cNvPicPr>
          <p:nvPr/>
        </p:nvPicPr>
        <p:blipFill>
          <a:blip r:embed="rId3">
            <a:alphaModFix amt="10000"/>
          </a:blip>
          <a:stretch>
            <a:fillRect/>
          </a:stretch>
        </p:blipFill>
        <p:spPr>
          <a:xfrm>
            <a:off x="10378440" y="-502920"/>
            <a:ext cx="2194560" cy="2194560"/>
          </a:xfrm>
          <a:prstGeom prst="rect">
            <a:avLst/>
          </a:prstGeom>
        </p:spPr>
      </p:pic>
      <p:pic>
        <p:nvPicPr>
          <p:cNvPr id="3" name="Image 1" descr="ic_carrot_orange.png"/>
          <p:cNvPicPr>
            <a:picLocks noChangeAspect="1"/>
          </p:cNvPicPr>
          <p:nvPr/>
        </p:nvPicPr>
        <p:blipFill>
          <a:blip r:embed="rId4">
            <a:alphaModFix amt="8000"/>
          </a:blip>
          <a:stretch>
            <a:fillRect/>
          </a:stretch>
        </p:blipFill>
        <p:spPr>
          <a:xfrm rot="-1200000">
            <a:off x="-548640" y="5577840"/>
            <a:ext cx="2103120" cy="2103120"/>
          </a:xfrm>
          <a:prstGeom prst="rect">
            <a:avLst/>
          </a:prstGeom>
        </p:spPr>
      </p:pic>
      <p:sp>
        <p:nvSpPr>
          <p:cNvPr id="4" name="Shape 0"/>
          <p:cNvSpPr/>
          <p:nvPr/>
        </p:nvSpPr>
        <p:spPr>
          <a:xfrm>
            <a:off x="548640" y="347472"/>
            <a:ext cx="566928" cy="566928"/>
          </a:xfrm>
          <a:prstGeom prst="ellipse">
            <a:avLst/>
          </a:prstGeom>
          <a:solidFill>
            <a:srgbClr val="9C7A3C"/>
          </a:solidFill>
          <a:ln/>
        </p:spPr>
      </p:sp>
      <p:pic>
        <p:nvPicPr>
          <p:cNvPr id="5" name="Image 2" descr="ic_chefhat_white.png"/>
          <p:cNvPicPr>
            <a:picLocks noChangeAspect="1"/>
          </p:cNvPicPr>
          <p:nvPr/>
        </p:nvPicPr>
        <p:blipFill>
          <a:blip r:embed="rId5"/>
          <a:stretch>
            <a:fillRect/>
          </a:stretch>
        </p:blipFill>
        <p:spPr>
          <a:xfrm>
            <a:off x="667695" y="466527"/>
            <a:ext cx="328818" cy="328818"/>
          </a:xfrm>
          <a:prstGeom prst="rect">
            <a:avLst/>
          </a:prstGeom>
        </p:spPr>
      </p:pic>
      <p:sp>
        <p:nvSpPr>
          <p:cNvPr id="6" name="Text 1"/>
          <p:cNvSpPr/>
          <p:nvPr/>
        </p:nvSpPr>
        <p:spPr>
          <a:xfrm>
            <a:off x="1280160" y="320040"/>
            <a:ext cx="7772400" cy="594360"/>
          </a:xfrm>
          <a:prstGeom prst="rect">
            <a:avLst/>
          </a:prstGeom>
          <a:noFill/>
          <a:ln/>
        </p:spPr>
        <p:txBody>
          <a:bodyPr wrap="square" rtlCol="0" anchor="ctr"/>
          <a:lstStyle/>
          <a:p>
            <a:pPr marL="0" indent="0">
              <a:buNone/>
            </a:pPr>
            <a:r>
              <a:rPr lang="en-US" sz="3200" b="1" dirty="0">
                <a:solidFill>
                  <a:srgbClr val="46594B"/>
                </a:solidFill>
                <a:latin typeface="Poppins" pitchFamily="34" charset="0"/>
                <a:ea typeface="Poppins" pitchFamily="34" charset="-122"/>
                <a:cs typeface="Poppins" pitchFamily="34" charset="-120"/>
              </a:rPr>
              <a:t>Tools &amp; Technologies</a:t>
            </a:r>
            <a:endParaRPr lang="en-US" sz="3200" dirty="0"/>
          </a:p>
        </p:txBody>
      </p:sp>
      <p:sp>
        <p:nvSpPr>
          <p:cNvPr id="7" name="Text 2"/>
          <p:cNvSpPr/>
          <p:nvPr/>
        </p:nvSpPr>
        <p:spPr>
          <a:xfrm>
            <a:off x="1298448" y="896112"/>
            <a:ext cx="7315200" cy="274320"/>
          </a:xfrm>
          <a:prstGeom prst="rect">
            <a:avLst/>
          </a:prstGeom>
          <a:noFill/>
          <a:ln/>
        </p:spPr>
        <p:txBody>
          <a:bodyPr wrap="square" rtlCol="0" anchor="ctr"/>
          <a:lstStyle/>
          <a:p>
            <a:pPr marL="0" indent="0">
              <a:buNone/>
            </a:pPr>
            <a:r>
              <a:rPr lang="en-US" sz="1200" b="1" kern="0" spc="150" dirty="0">
                <a:solidFill>
                  <a:srgbClr val="9C7A3C"/>
                </a:solidFill>
                <a:latin typeface="Calibri" pitchFamily="34" charset="0"/>
                <a:ea typeface="Calibri" pitchFamily="34" charset="-122"/>
                <a:cs typeface="Calibri" pitchFamily="34" charset="-120"/>
              </a:rPr>
              <a:t>RECIPE CARD  –  Building Recipe Finder</a:t>
            </a:r>
            <a:endParaRPr lang="en-US" sz="1200" dirty="0"/>
          </a:p>
        </p:txBody>
      </p:sp>
      <p:sp>
        <p:nvSpPr>
          <p:cNvPr id="8" name="Shape 3"/>
          <p:cNvSpPr/>
          <p:nvPr/>
        </p:nvSpPr>
        <p:spPr>
          <a:xfrm>
            <a:off x="640080" y="1417320"/>
            <a:ext cx="3429000" cy="3429000"/>
          </a:xfrm>
          <a:prstGeom prst="roundRect">
            <a:avLst>
              <a:gd name="adj" fmla="val 3733"/>
            </a:avLst>
          </a:prstGeom>
          <a:solidFill>
            <a:srgbClr val="ECEFEA"/>
          </a:solidFill>
          <a:ln/>
        </p:spPr>
      </p:sp>
      <p:sp>
        <p:nvSpPr>
          <p:cNvPr id="9" name="Shape 4"/>
          <p:cNvSpPr/>
          <p:nvPr/>
        </p:nvSpPr>
        <p:spPr>
          <a:xfrm>
            <a:off x="1988820" y="1709928"/>
            <a:ext cx="731520" cy="731520"/>
          </a:xfrm>
          <a:prstGeom prst="ellipse">
            <a:avLst/>
          </a:prstGeom>
          <a:solidFill>
            <a:srgbClr val="FFFFFF"/>
          </a:solidFill>
          <a:ln/>
        </p:spPr>
      </p:sp>
      <p:pic>
        <p:nvPicPr>
          <p:cNvPr id="10" name="Image 3" descr="ic_java.png"/>
          <p:cNvPicPr>
            <a:picLocks noChangeAspect="1"/>
          </p:cNvPicPr>
          <p:nvPr/>
        </p:nvPicPr>
        <p:blipFill>
          <a:blip r:embed="rId6"/>
          <a:stretch>
            <a:fillRect/>
          </a:stretch>
        </p:blipFill>
        <p:spPr>
          <a:xfrm>
            <a:off x="2171700" y="1892808"/>
            <a:ext cx="365760" cy="365760"/>
          </a:xfrm>
          <a:prstGeom prst="rect">
            <a:avLst/>
          </a:prstGeom>
        </p:spPr>
      </p:pic>
      <p:sp>
        <p:nvSpPr>
          <p:cNvPr id="11" name="Text 5"/>
          <p:cNvSpPr/>
          <p:nvPr/>
        </p:nvSpPr>
        <p:spPr>
          <a:xfrm>
            <a:off x="822960" y="2587752"/>
            <a:ext cx="3063240" cy="411480"/>
          </a:xfrm>
          <a:prstGeom prst="rect">
            <a:avLst/>
          </a:prstGeom>
          <a:noFill/>
          <a:ln/>
        </p:spPr>
        <p:txBody>
          <a:bodyPr wrap="square" rtlCol="0" anchor="t"/>
          <a:lstStyle/>
          <a:p>
            <a:pPr marL="0" indent="0" algn="ctr">
              <a:buNone/>
            </a:pPr>
            <a:r>
              <a:rPr lang="en-US" sz="1450" b="1" dirty="0">
                <a:solidFill>
                  <a:srgbClr val="46594B"/>
                </a:solidFill>
                <a:latin typeface="Calibri" pitchFamily="34" charset="0"/>
                <a:ea typeface="Calibri" pitchFamily="34" charset="-122"/>
                <a:cs typeface="Calibri" pitchFamily="34" charset="-120"/>
              </a:rPr>
              <a:t>Programming Language</a:t>
            </a:r>
            <a:endParaRPr lang="en-US" sz="1450" dirty="0"/>
          </a:p>
        </p:txBody>
      </p:sp>
      <p:sp>
        <p:nvSpPr>
          <p:cNvPr id="12" name="Text 6"/>
          <p:cNvSpPr/>
          <p:nvPr/>
        </p:nvSpPr>
        <p:spPr>
          <a:xfrm>
            <a:off x="960120" y="2990088"/>
            <a:ext cx="2788920" cy="502920"/>
          </a:xfrm>
          <a:prstGeom prst="rect">
            <a:avLst/>
          </a:prstGeom>
          <a:noFill/>
          <a:ln/>
        </p:spPr>
        <p:txBody>
          <a:bodyPr wrap="square" rtlCol="0" anchor="t"/>
          <a:lstStyle/>
          <a:p>
            <a:pPr marL="0" indent="0" algn="ctr">
              <a:lnSpc>
                <a:spcPct val="110000"/>
              </a:lnSpc>
              <a:buNone/>
            </a:pPr>
            <a:r>
              <a:rPr lang="en-US" sz="1050" i="1" dirty="0">
                <a:solidFill>
                  <a:srgbClr val="7A7267"/>
                </a:solidFill>
                <a:latin typeface="Calibri" pitchFamily="34" charset="0"/>
                <a:ea typeface="Calibri" pitchFamily="34" charset="-122"/>
                <a:cs typeface="Calibri" pitchFamily="34" charset="-120"/>
              </a:rPr>
              <a:t>The base broth of every module.</a:t>
            </a:r>
            <a:endParaRPr lang="en-US" sz="1050" dirty="0"/>
          </a:p>
        </p:txBody>
      </p:sp>
      <p:sp>
        <p:nvSpPr>
          <p:cNvPr id="13" name="Shape 7"/>
          <p:cNvSpPr/>
          <p:nvPr/>
        </p:nvSpPr>
        <p:spPr>
          <a:xfrm>
            <a:off x="1211580" y="3657600"/>
            <a:ext cx="2286000" cy="420624"/>
          </a:xfrm>
          <a:prstGeom prst="roundRect">
            <a:avLst>
              <a:gd name="adj" fmla="val 21739"/>
            </a:avLst>
          </a:prstGeom>
          <a:solidFill>
            <a:srgbClr val="FFFFFF"/>
          </a:solidFill>
          <a:ln/>
        </p:spPr>
      </p:sp>
      <p:pic>
        <p:nvPicPr>
          <p:cNvPr id="14" name="Image 4" descr="ic_java.png"/>
          <p:cNvPicPr>
            <a:picLocks noChangeAspect="1"/>
          </p:cNvPicPr>
          <p:nvPr/>
        </p:nvPicPr>
        <p:blipFill>
          <a:blip r:embed="rId6"/>
          <a:stretch>
            <a:fillRect/>
          </a:stretch>
        </p:blipFill>
        <p:spPr>
          <a:xfrm>
            <a:off x="1339596" y="3758184"/>
            <a:ext cx="219456" cy="219456"/>
          </a:xfrm>
          <a:prstGeom prst="rect">
            <a:avLst/>
          </a:prstGeom>
        </p:spPr>
      </p:pic>
      <p:sp>
        <p:nvSpPr>
          <p:cNvPr id="15" name="Text 8"/>
          <p:cNvSpPr/>
          <p:nvPr/>
        </p:nvSpPr>
        <p:spPr>
          <a:xfrm>
            <a:off x="1650492" y="3657600"/>
            <a:ext cx="1737360" cy="420624"/>
          </a:xfrm>
          <a:prstGeom prst="rect">
            <a:avLst/>
          </a:prstGeom>
          <a:noFill/>
          <a:ln/>
        </p:spPr>
        <p:txBody>
          <a:bodyPr wrap="square" rtlCol="0" anchor="ctr"/>
          <a:lstStyle/>
          <a:p>
            <a:pPr marL="0" indent="0">
              <a:buNone/>
            </a:pPr>
            <a:r>
              <a:rPr lang="en-US" sz="1200" b="1" dirty="0">
                <a:solidFill>
                  <a:srgbClr val="332A20"/>
                </a:solidFill>
                <a:latin typeface="Calibri" pitchFamily="34" charset="0"/>
                <a:ea typeface="Calibri" pitchFamily="34" charset="-122"/>
                <a:cs typeface="Calibri" pitchFamily="34" charset="-120"/>
              </a:rPr>
              <a:t>Java</a:t>
            </a:r>
            <a:endParaRPr lang="en-US" sz="1200" dirty="0"/>
          </a:p>
        </p:txBody>
      </p:sp>
      <p:sp>
        <p:nvSpPr>
          <p:cNvPr id="16" name="Shape 9"/>
          <p:cNvSpPr/>
          <p:nvPr/>
        </p:nvSpPr>
        <p:spPr>
          <a:xfrm>
            <a:off x="4379976" y="1417320"/>
            <a:ext cx="3429000" cy="3429000"/>
          </a:xfrm>
          <a:prstGeom prst="roundRect">
            <a:avLst>
              <a:gd name="adj" fmla="val 3733"/>
            </a:avLst>
          </a:prstGeom>
          <a:solidFill>
            <a:srgbClr val="F1E6D2"/>
          </a:solidFill>
          <a:ln/>
        </p:spPr>
      </p:sp>
      <p:sp>
        <p:nvSpPr>
          <p:cNvPr id="17" name="Shape 10"/>
          <p:cNvSpPr/>
          <p:nvPr/>
        </p:nvSpPr>
        <p:spPr>
          <a:xfrm>
            <a:off x="5728716" y="1709928"/>
            <a:ext cx="731520" cy="731520"/>
          </a:xfrm>
          <a:prstGeom prst="ellipse">
            <a:avLst/>
          </a:prstGeom>
          <a:solidFill>
            <a:srgbClr val="FFFFFF"/>
          </a:solidFill>
          <a:ln/>
        </p:spPr>
      </p:sp>
      <p:pic>
        <p:nvPicPr>
          <p:cNvPr id="18" name="Image 5" descr="ic_vscode.png"/>
          <p:cNvPicPr>
            <a:picLocks noChangeAspect="1"/>
          </p:cNvPicPr>
          <p:nvPr/>
        </p:nvPicPr>
        <p:blipFill>
          <a:blip r:embed="rId7"/>
          <a:stretch>
            <a:fillRect/>
          </a:stretch>
        </p:blipFill>
        <p:spPr>
          <a:xfrm>
            <a:off x="5911596" y="1892808"/>
            <a:ext cx="365760" cy="365760"/>
          </a:xfrm>
          <a:prstGeom prst="rect">
            <a:avLst/>
          </a:prstGeom>
        </p:spPr>
      </p:pic>
      <p:sp>
        <p:nvSpPr>
          <p:cNvPr id="19" name="Text 11"/>
          <p:cNvSpPr/>
          <p:nvPr/>
        </p:nvSpPr>
        <p:spPr>
          <a:xfrm>
            <a:off x="4562856" y="2587752"/>
            <a:ext cx="3063240" cy="411480"/>
          </a:xfrm>
          <a:prstGeom prst="rect">
            <a:avLst/>
          </a:prstGeom>
          <a:noFill/>
          <a:ln/>
        </p:spPr>
        <p:txBody>
          <a:bodyPr wrap="square" rtlCol="0" anchor="t"/>
          <a:lstStyle/>
          <a:p>
            <a:pPr marL="0" indent="0" algn="ctr">
              <a:buNone/>
            </a:pPr>
            <a:r>
              <a:rPr lang="en-US" sz="1450" b="1" dirty="0">
                <a:solidFill>
                  <a:srgbClr val="46594B"/>
                </a:solidFill>
                <a:latin typeface="Calibri" pitchFamily="34" charset="0"/>
                <a:ea typeface="Calibri" pitchFamily="34" charset="-122"/>
                <a:cs typeface="Calibri" pitchFamily="34" charset="-120"/>
              </a:rPr>
              <a:t>Code Editor</a:t>
            </a:r>
            <a:endParaRPr lang="en-US" sz="1450" dirty="0"/>
          </a:p>
        </p:txBody>
      </p:sp>
      <p:sp>
        <p:nvSpPr>
          <p:cNvPr id="20" name="Text 12"/>
          <p:cNvSpPr/>
          <p:nvPr/>
        </p:nvSpPr>
        <p:spPr>
          <a:xfrm>
            <a:off x="4700016" y="2990088"/>
            <a:ext cx="2788920" cy="502920"/>
          </a:xfrm>
          <a:prstGeom prst="rect">
            <a:avLst/>
          </a:prstGeom>
          <a:noFill/>
          <a:ln/>
        </p:spPr>
        <p:txBody>
          <a:bodyPr wrap="square" rtlCol="0" anchor="t"/>
          <a:lstStyle/>
          <a:p>
            <a:pPr marL="0" indent="0" algn="ctr">
              <a:lnSpc>
                <a:spcPct val="110000"/>
              </a:lnSpc>
              <a:buNone/>
            </a:pPr>
            <a:r>
              <a:rPr lang="en-US" sz="1050" i="1" dirty="0">
                <a:solidFill>
                  <a:srgbClr val="7A7267"/>
                </a:solidFill>
                <a:latin typeface="Calibri" pitchFamily="34" charset="0"/>
                <a:ea typeface="Calibri" pitchFamily="34" charset="-122"/>
                <a:cs typeface="Calibri" pitchFamily="34" charset="-120"/>
              </a:rPr>
              <a:t>Where the recipe gets written.</a:t>
            </a:r>
            <a:endParaRPr lang="en-US" sz="1050" dirty="0"/>
          </a:p>
        </p:txBody>
      </p:sp>
      <p:sp>
        <p:nvSpPr>
          <p:cNvPr id="21" name="Shape 13"/>
          <p:cNvSpPr/>
          <p:nvPr/>
        </p:nvSpPr>
        <p:spPr>
          <a:xfrm>
            <a:off x="4951476" y="3657600"/>
            <a:ext cx="2286000" cy="420624"/>
          </a:xfrm>
          <a:prstGeom prst="roundRect">
            <a:avLst>
              <a:gd name="adj" fmla="val 21739"/>
            </a:avLst>
          </a:prstGeom>
          <a:solidFill>
            <a:srgbClr val="FFFFFF"/>
          </a:solidFill>
          <a:ln/>
        </p:spPr>
      </p:sp>
      <p:pic>
        <p:nvPicPr>
          <p:cNvPr id="22" name="Image 6" descr="ic_vscode.png"/>
          <p:cNvPicPr>
            <a:picLocks noChangeAspect="1"/>
          </p:cNvPicPr>
          <p:nvPr/>
        </p:nvPicPr>
        <p:blipFill>
          <a:blip r:embed="rId7"/>
          <a:stretch>
            <a:fillRect/>
          </a:stretch>
        </p:blipFill>
        <p:spPr>
          <a:xfrm>
            <a:off x="5079492" y="3758184"/>
            <a:ext cx="219456" cy="219456"/>
          </a:xfrm>
          <a:prstGeom prst="rect">
            <a:avLst/>
          </a:prstGeom>
        </p:spPr>
      </p:pic>
      <p:sp>
        <p:nvSpPr>
          <p:cNvPr id="23" name="Text 14"/>
          <p:cNvSpPr/>
          <p:nvPr/>
        </p:nvSpPr>
        <p:spPr>
          <a:xfrm>
            <a:off x="5390388" y="3657600"/>
            <a:ext cx="1737360" cy="420624"/>
          </a:xfrm>
          <a:prstGeom prst="rect">
            <a:avLst/>
          </a:prstGeom>
          <a:noFill/>
          <a:ln/>
        </p:spPr>
        <p:txBody>
          <a:bodyPr wrap="square" rtlCol="0" anchor="ctr"/>
          <a:lstStyle/>
          <a:p>
            <a:pPr marL="0" indent="0">
              <a:buNone/>
            </a:pPr>
            <a:r>
              <a:rPr lang="en-US" sz="1200" b="1" dirty="0">
                <a:solidFill>
                  <a:srgbClr val="332A20"/>
                </a:solidFill>
                <a:latin typeface="Calibri" pitchFamily="34" charset="0"/>
                <a:ea typeface="Calibri" pitchFamily="34" charset="-122"/>
                <a:cs typeface="Calibri" pitchFamily="34" charset="-120"/>
              </a:rPr>
              <a:t>VS Code</a:t>
            </a:r>
            <a:endParaRPr lang="en-US" sz="1200" dirty="0"/>
          </a:p>
        </p:txBody>
      </p:sp>
      <p:sp>
        <p:nvSpPr>
          <p:cNvPr id="24" name="Shape 15"/>
          <p:cNvSpPr/>
          <p:nvPr/>
        </p:nvSpPr>
        <p:spPr>
          <a:xfrm>
            <a:off x="8119872" y="1417320"/>
            <a:ext cx="3429000" cy="3429000"/>
          </a:xfrm>
          <a:prstGeom prst="roundRect">
            <a:avLst>
              <a:gd name="adj" fmla="val 3733"/>
            </a:avLst>
          </a:prstGeom>
          <a:solidFill>
            <a:srgbClr val="46594B"/>
          </a:solidFill>
          <a:ln/>
        </p:spPr>
      </p:sp>
      <p:sp>
        <p:nvSpPr>
          <p:cNvPr id="25" name="Shape 16"/>
          <p:cNvSpPr/>
          <p:nvPr/>
        </p:nvSpPr>
        <p:spPr>
          <a:xfrm>
            <a:off x="9468612" y="1709928"/>
            <a:ext cx="731520" cy="731520"/>
          </a:xfrm>
          <a:prstGeom prst="ellipse">
            <a:avLst/>
          </a:prstGeom>
          <a:solidFill>
            <a:srgbClr val="FFFFFF"/>
          </a:solidFill>
          <a:ln/>
        </p:spPr>
      </p:sp>
      <p:pic>
        <p:nvPicPr>
          <p:cNvPr id="26" name="Image 7" descr="ic_git.png"/>
          <p:cNvPicPr>
            <a:picLocks noChangeAspect="1"/>
          </p:cNvPicPr>
          <p:nvPr/>
        </p:nvPicPr>
        <p:blipFill>
          <a:blip r:embed="rId8"/>
          <a:stretch>
            <a:fillRect/>
          </a:stretch>
        </p:blipFill>
        <p:spPr>
          <a:xfrm>
            <a:off x="9651492" y="1892808"/>
            <a:ext cx="365760" cy="365760"/>
          </a:xfrm>
          <a:prstGeom prst="rect">
            <a:avLst/>
          </a:prstGeom>
        </p:spPr>
      </p:pic>
      <p:sp>
        <p:nvSpPr>
          <p:cNvPr id="27" name="Text 17"/>
          <p:cNvSpPr/>
          <p:nvPr/>
        </p:nvSpPr>
        <p:spPr>
          <a:xfrm>
            <a:off x="8302752" y="2587752"/>
            <a:ext cx="3063240" cy="411480"/>
          </a:xfrm>
          <a:prstGeom prst="rect">
            <a:avLst/>
          </a:prstGeom>
          <a:noFill/>
          <a:ln/>
        </p:spPr>
        <p:txBody>
          <a:bodyPr wrap="square" rtlCol="0" anchor="t"/>
          <a:lstStyle/>
          <a:p>
            <a:pPr marL="0" indent="0" algn="ctr">
              <a:buNone/>
            </a:pPr>
            <a:r>
              <a:rPr lang="en-US" sz="1450" b="1" dirty="0">
                <a:solidFill>
                  <a:srgbClr val="9C7A3C"/>
                </a:solidFill>
                <a:latin typeface="Calibri" pitchFamily="34" charset="0"/>
                <a:ea typeface="Calibri" pitchFamily="34" charset="-122"/>
                <a:cs typeface="Calibri" pitchFamily="34" charset="-120"/>
              </a:rPr>
              <a:t>Version Control</a:t>
            </a:r>
            <a:endParaRPr lang="en-US" sz="1450" dirty="0"/>
          </a:p>
        </p:txBody>
      </p:sp>
      <p:sp>
        <p:nvSpPr>
          <p:cNvPr id="28" name="Text 18"/>
          <p:cNvSpPr/>
          <p:nvPr/>
        </p:nvSpPr>
        <p:spPr>
          <a:xfrm>
            <a:off x="8439912" y="2990088"/>
            <a:ext cx="2788920" cy="502920"/>
          </a:xfrm>
          <a:prstGeom prst="rect">
            <a:avLst/>
          </a:prstGeom>
          <a:noFill/>
          <a:ln/>
        </p:spPr>
        <p:txBody>
          <a:bodyPr wrap="square" rtlCol="0" anchor="t"/>
          <a:lstStyle/>
          <a:p>
            <a:pPr marL="0" indent="0" algn="ctr">
              <a:lnSpc>
                <a:spcPct val="110000"/>
              </a:lnSpc>
              <a:buNone/>
            </a:pPr>
            <a:r>
              <a:rPr lang="en-US" sz="1050" i="1" dirty="0">
                <a:solidFill>
                  <a:srgbClr val="C8E6C9"/>
                </a:solidFill>
                <a:latin typeface="Calibri" pitchFamily="34" charset="0"/>
                <a:ea typeface="Calibri" pitchFamily="34" charset="-122"/>
                <a:cs typeface="Calibri" pitchFamily="34" charset="-120"/>
              </a:rPr>
              <a:t>Keeps every batch traceable.</a:t>
            </a:r>
            <a:endParaRPr lang="en-US" sz="1050" dirty="0"/>
          </a:p>
        </p:txBody>
      </p:sp>
      <p:sp>
        <p:nvSpPr>
          <p:cNvPr id="29" name="Shape 19"/>
          <p:cNvSpPr/>
          <p:nvPr/>
        </p:nvSpPr>
        <p:spPr>
          <a:xfrm>
            <a:off x="8691372" y="3657600"/>
            <a:ext cx="2286000" cy="420624"/>
          </a:xfrm>
          <a:prstGeom prst="roundRect">
            <a:avLst>
              <a:gd name="adj" fmla="val 21739"/>
            </a:avLst>
          </a:prstGeom>
          <a:solidFill>
            <a:srgbClr val="39473D"/>
          </a:solidFill>
          <a:ln/>
        </p:spPr>
      </p:sp>
      <p:pic>
        <p:nvPicPr>
          <p:cNvPr id="30" name="Image 8" descr="ic_git.png"/>
          <p:cNvPicPr>
            <a:picLocks noChangeAspect="1"/>
          </p:cNvPicPr>
          <p:nvPr/>
        </p:nvPicPr>
        <p:blipFill>
          <a:blip r:embed="rId8"/>
          <a:stretch>
            <a:fillRect/>
          </a:stretch>
        </p:blipFill>
        <p:spPr>
          <a:xfrm>
            <a:off x="8819388" y="3758184"/>
            <a:ext cx="219456" cy="219456"/>
          </a:xfrm>
          <a:prstGeom prst="rect">
            <a:avLst/>
          </a:prstGeom>
        </p:spPr>
      </p:pic>
      <p:sp>
        <p:nvSpPr>
          <p:cNvPr id="31" name="Text 20"/>
          <p:cNvSpPr/>
          <p:nvPr/>
        </p:nvSpPr>
        <p:spPr>
          <a:xfrm>
            <a:off x="9130284" y="3657600"/>
            <a:ext cx="1737360" cy="42062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Git</a:t>
            </a:r>
            <a:endParaRPr lang="en-US" sz="1200" dirty="0"/>
          </a:p>
        </p:txBody>
      </p:sp>
      <p:sp>
        <p:nvSpPr>
          <p:cNvPr id="32" name="Shape 21"/>
          <p:cNvSpPr/>
          <p:nvPr/>
        </p:nvSpPr>
        <p:spPr>
          <a:xfrm>
            <a:off x="8691372" y="4206240"/>
            <a:ext cx="2286000" cy="420624"/>
          </a:xfrm>
          <a:prstGeom prst="roundRect">
            <a:avLst>
              <a:gd name="adj" fmla="val 21739"/>
            </a:avLst>
          </a:prstGeom>
          <a:solidFill>
            <a:srgbClr val="39473D"/>
          </a:solidFill>
          <a:ln/>
        </p:spPr>
      </p:sp>
      <p:pic>
        <p:nvPicPr>
          <p:cNvPr id="33" name="Image 9" descr="ic_github.png"/>
          <p:cNvPicPr>
            <a:picLocks noChangeAspect="1"/>
          </p:cNvPicPr>
          <p:nvPr/>
        </p:nvPicPr>
        <p:blipFill>
          <a:blip r:embed="rId9"/>
          <a:stretch>
            <a:fillRect/>
          </a:stretch>
        </p:blipFill>
        <p:spPr>
          <a:xfrm>
            <a:off x="8819388" y="4306824"/>
            <a:ext cx="219456" cy="219456"/>
          </a:xfrm>
          <a:prstGeom prst="rect">
            <a:avLst/>
          </a:prstGeom>
        </p:spPr>
      </p:pic>
      <p:sp>
        <p:nvSpPr>
          <p:cNvPr id="34" name="Text 22"/>
          <p:cNvSpPr/>
          <p:nvPr/>
        </p:nvSpPr>
        <p:spPr>
          <a:xfrm>
            <a:off x="9130284" y="4206240"/>
            <a:ext cx="1737360" cy="42062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GitHub</a:t>
            </a:r>
            <a:endParaRPr lang="en-US" sz="1200" dirty="0"/>
          </a:p>
        </p:txBody>
      </p:sp>
      <p:pic>
        <p:nvPicPr>
          <p:cNvPr id="35" name="Image 10" descr="ic_knifefork_green.png"/>
          <p:cNvPicPr>
            <a:picLocks noChangeAspect="1"/>
          </p:cNvPicPr>
          <p:nvPr/>
        </p:nvPicPr>
        <p:blipFill>
          <a:blip r:embed="rId10"/>
          <a:stretch>
            <a:fillRect/>
          </a:stretch>
        </p:blipFill>
        <p:spPr>
          <a:xfrm>
            <a:off x="4677156" y="5230368"/>
            <a:ext cx="164592" cy="164592"/>
          </a:xfrm>
          <a:prstGeom prst="rect">
            <a:avLst/>
          </a:prstGeom>
        </p:spPr>
      </p:pic>
      <p:sp>
        <p:nvSpPr>
          <p:cNvPr id="36" name="Text 23"/>
          <p:cNvSpPr/>
          <p:nvPr/>
        </p:nvSpPr>
        <p:spPr>
          <a:xfrm>
            <a:off x="4905756" y="5184648"/>
            <a:ext cx="2377440" cy="256032"/>
          </a:xfrm>
          <a:prstGeom prst="rect">
            <a:avLst/>
          </a:prstGeom>
          <a:noFill/>
          <a:ln/>
        </p:spPr>
        <p:txBody>
          <a:bodyPr wrap="square" rtlCol="0" anchor="ctr"/>
          <a:lstStyle/>
          <a:p>
            <a:pPr marL="0" indent="0">
              <a:buNone/>
            </a:pPr>
            <a:r>
              <a:rPr lang="en-US" sz="1000" b="1" kern="0" spc="150" dirty="0">
                <a:solidFill>
                  <a:srgbClr val="4B321D"/>
                </a:solidFill>
                <a:latin typeface="Calibri" pitchFamily="34" charset="0"/>
                <a:ea typeface="Calibri" pitchFamily="34" charset="-122"/>
                <a:cs typeface="Calibri" pitchFamily="34" charset="-120"/>
              </a:rPr>
              <a:t>FULL TECH STACK</a:t>
            </a:r>
            <a:endParaRPr lang="en-US" sz="1000" dirty="0"/>
          </a:p>
        </p:txBody>
      </p:sp>
      <p:sp>
        <p:nvSpPr>
          <p:cNvPr id="37" name="Shape 24"/>
          <p:cNvSpPr/>
          <p:nvPr/>
        </p:nvSpPr>
        <p:spPr>
          <a:xfrm>
            <a:off x="3305556" y="5532120"/>
            <a:ext cx="502920" cy="502920"/>
          </a:xfrm>
          <a:prstGeom prst="ellipse">
            <a:avLst/>
          </a:prstGeom>
          <a:solidFill>
            <a:srgbClr val="F1E6D2"/>
          </a:solidFill>
          <a:ln/>
        </p:spPr>
      </p:sp>
      <p:pic>
        <p:nvPicPr>
          <p:cNvPr id="38" name="Image 11" descr="ic_java.png"/>
          <p:cNvPicPr>
            <a:picLocks noChangeAspect="1"/>
          </p:cNvPicPr>
          <p:nvPr/>
        </p:nvPicPr>
        <p:blipFill>
          <a:blip r:embed="rId6"/>
          <a:stretch>
            <a:fillRect/>
          </a:stretch>
        </p:blipFill>
        <p:spPr>
          <a:xfrm>
            <a:off x="3418713" y="5645277"/>
            <a:ext cx="276606" cy="276606"/>
          </a:xfrm>
          <a:prstGeom prst="rect">
            <a:avLst/>
          </a:prstGeom>
        </p:spPr>
      </p:pic>
      <p:sp>
        <p:nvSpPr>
          <p:cNvPr id="39" name="Text 25"/>
          <p:cNvSpPr/>
          <p:nvPr/>
        </p:nvSpPr>
        <p:spPr>
          <a:xfrm>
            <a:off x="2871216" y="6080760"/>
            <a:ext cx="1371600" cy="237744"/>
          </a:xfrm>
          <a:prstGeom prst="rect">
            <a:avLst/>
          </a:prstGeom>
          <a:noFill/>
          <a:ln/>
        </p:spPr>
        <p:txBody>
          <a:bodyPr wrap="square" rtlCol="0" anchor="ctr"/>
          <a:lstStyle/>
          <a:p>
            <a:pPr marL="0" indent="0" algn="ctr">
              <a:buNone/>
            </a:pPr>
            <a:r>
              <a:rPr lang="en-US" sz="1050" b="1" dirty="0">
                <a:solidFill>
                  <a:srgbClr val="46594B"/>
                </a:solidFill>
                <a:latin typeface="Calibri" pitchFamily="34" charset="0"/>
                <a:ea typeface="Calibri" pitchFamily="34" charset="-122"/>
                <a:cs typeface="Calibri" pitchFamily="34" charset="-120"/>
              </a:rPr>
              <a:t>Java</a:t>
            </a:r>
            <a:endParaRPr lang="en-US" sz="1050" dirty="0"/>
          </a:p>
        </p:txBody>
      </p:sp>
      <p:sp>
        <p:nvSpPr>
          <p:cNvPr id="40" name="Shape 26"/>
          <p:cNvSpPr/>
          <p:nvPr/>
        </p:nvSpPr>
        <p:spPr>
          <a:xfrm>
            <a:off x="4997196" y="5532120"/>
            <a:ext cx="502920" cy="502920"/>
          </a:xfrm>
          <a:prstGeom prst="ellipse">
            <a:avLst/>
          </a:prstGeom>
          <a:solidFill>
            <a:srgbClr val="F1E6D2"/>
          </a:solidFill>
          <a:ln/>
        </p:spPr>
      </p:sp>
      <p:pic>
        <p:nvPicPr>
          <p:cNvPr id="41" name="Image 12" descr="ic_vscode.png"/>
          <p:cNvPicPr>
            <a:picLocks noChangeAspect="1"/>
          </p:cNvPicPr>
          <p:nvPr/>
        </p:nvPicPr>
        <p:blipFill>
          <a:blip r:embed="rId7"/>
          <a:stretch>
            <a:fillRect/>
          </a:stretch>
        </p:blipFill>
        <p:spPr>
          <a:xfrm>
            <a:off x="5110353" y="5645277"/>
            <a:ext cx="276606" cy="276606"/>
          </a:xfrm>
          <a:prstGeom prst="rect">
            <a:avLst/>
          </a:prstGeom>
        </p:spPr>
      </p:pic>
      <p:sp>
        <p:nvSpPr>
          <p:cNvPr id="42" name="Text 27"/>
          <p:cNvSpPr/>
          <p:nvPr/>
        </p:nvSpPr>
        <p:spPr>
          <a:xfrm>
            <a:off x="4562856" y="6080760"/>
            <a:ext cx="1371600" cy="237744"/>
          </a:xfrm>
          <a:prstGeom prst="rect">
            <a:avLst/>
          </a:prstGeom>
          <a:noFill/>
          <a:ln/>
        </p:spPr>
        <p:txBody>
          <a:bodyPr wrap="square" rtlCol="0" anchor="ctr"/>
          <a:lstStyle/>
          <a:p>
            <a:pPr marL="0" indent="0" algn="ctr">
              <a:buNone/>
            </a:pPr>
            <a:r>
              <a:rPr lang="en-US" sz="1050" b="1" dirty="0">
                <a:solidFill>
                  <a:srgbClr val="46594B"/>
                </a:solidFill>
                <a:latin typeface="Calibri" pitchFamily="34" charset="0"/>
                <a:ea typeface="Calibri" pitchFamily="34" charset="-122"/>
                <a:cs typeface="Calibri" pitchFamily="34" charset="-120"/>
              </a:rPr>
              <a:t>VS Code</a:t>
            </a:r>
            <a:endParaRPr lang="en-US" sz="1050" dirty="0"/>
          </a:p>
        </p:txBody>
      </p:sp>
      <p:sp>
        <p:nvSpPr>
          <p:cNvPr id="43" name="Shape 28"/>
          <p:cNvSpPr/>
          <p:nvPr/>
        </p:nvSpPr>
        <p:spPr>
          <a:xfrm>
            <a:off x="6688836" y="5532120"/>
            <a:ext cx="502920" cy="502920"/>
          </a:xfrm>
          <a:prstGeom prst="ellipse">
            <a:avLst/>
          </a:prstGeom>
          <a:solidFill>
            <a:srgbClr val="F1E6D2"/>
          </a:solidFill>
          <a:ln/>
        </p:spPr>
      </p:sp>
      <p:pic>
        <p:nvPicPr>
          <p:cNvPr id="44" name="Image 13" descr="ic_git.png"/>
          <p:cNvPicPr>
            <a:picLocks noChangeAspect="1"/>
          </p:cNvPicPr>
          <p:nvPr/>
        </p:nvPicPr>
        <p:blipFill>
          <a:blip r:embed="rId8"/>
          <a:stretch>
            <a:fillRect/>
          </a:stretch>
        </p:blipFill>
        <p:spPr>
          <a:xfrm>
            <a:off x="6801993" y="5645277"/>
            <a:ext cx="276606" cy="276606"/>
          </a:xfrm>
          <a:prstGeom prst="rect">
            <a:avLst/>
          </a:prstGeom>
        </p:spPr>
      </p:pic>
      <p:sp>
        <p:nvSpPr>
          <p:cNvPr id="45" name="Text 29"/>
          <p:cNvSpPr/>
          <p:nvPr/>
        </p:nvSpPr>
        <p:spPr>
          <a:xfrm>
            <a:off x="6254496" y="6080760"/>
            <a:ext cx="1371600" cy="237744"/>
          </a:xfrm>
          <a:prstGeom prst="rect">
            <a:avLst/>
          </a:prstGeom>
          <a:noFill/>
          <a:ln/>
        </p:spPr>
        <p:txBody>
          <a:bodyPr wrap="square" rtlCol="0" anchor="ctr"/>
          <a:lstStyle/>
          <a:p>
            <a:pPr marL="0" indent="0" algn="ctr">
              <a:buNone/>
            </a:pPr>
            <a:r>
              <a:rPr lang="en-US" sz="1050" b="1" dirty="0">
                <a:solidFill>
                  <a:srgbClr val="46594B"/>
                </a:solidFill>
                <a:latin typeface="Calibri" pitchFamily="34" charset="0"/>
                <a:ea typeface="Calibri" pitchFamily="34" charset="-122"/>
                <a:cs typeface="Calibri" pitchFamily="34" charset="-120"/>
              </a:rPr>
              <a:t>Git</a:t>
            </a:r>
            <a:endParaRPr lang="en-US" sz="1050" dirty="0"/>
          </a:p>
        </p:txBody>
      </p:sp>
      <p:sp>
        <p:nvSpPr>
          <p:cNvPr id="46" name="Shape 30"/>
          <p:cNvSpPr/>
          <p:nvPr/>
        </p:nvSpPr>
        <p:spPr>
          <a:xfrm>
            <a:off x="8380476" y="5532120"/>
            <a:ext cx="502920" cy="502920"/>
          </a:xfrm>
          <a:prstGeom prst="ellipse">
            <a:avLst/>
          </a:prstGeom>
          <a:solidFill>
            <a:srgbClr val="F1E6D2"/>
          </a:solidFill>
          <a:ln/>
        </p:spPr>
      </p:sp>
      <p:pic>
        <p:nvPicPr>
          <p:cNvPr id="47" name="Image 14" descr="ic_github.png"/>
          <p:cNvPicPr>
            <a:picLocks noChangeAspect="1"/>
          </p:cNvPicPr>
          <p:nvPr/>
        </p:nvPicPr>
        <p:blipFill>
          <a:blip r:embed="rId9"/>
          <a:stretch>
            <a:fillRect/>
          </a:stretch>
        </p:blipFill>
        <p:spPr>
          <a:xfrm>
            <a:off x="8493633" y="5645277"/>
            <a:ext cx="276606" cy="276606"/>
          </a:xfrm>
          <a:prstGeom prst="rect">
            <a:avLst/>
          </a:prstGeom>
        </p:spPr>
      </p:pic>
      <p:sp>
        <p:nvSpPr>
          <p:cNvPr id="48" name="Text 31"/>
          <p:cNvSpPr/>
          <p:nvPr/>
        </p:nvSpPr>
        <p:spPr>
          <a:xfrm>
            <a:off x="7946136" y="6080760"/>
            <a:ext cx="1371600" cy="237744"/>
          </a:xfrm>
          <a:prstGeom prst="rect">
            <a:avLst/>
          </a:prstGeom>
          <a:noFill/>
          <a:ln/>
        </p:spPr>
        <p:txBody>
          <a:bodyPr wrap="square" rtlCol="0" anchor="ctr"/>
          <a:lstStyle/>
          <a:p>
            <a:pPr marL="0" indent="0" algn="ctr">
              <a:buNone/>
            </a:pPr>
            <a:r>
              <a:rPr lang="en-US" sz="1050" b="1" dirty="0">
                <a:solidFill>
                  <a:srgbClr val="46594B"/>
                </a:solidFill>
                <a:latin typeface="Calibri" pitchFamily="34" charset="0"/>
                <a:ea typeface="Calibri" pitchFamily="34" charset="-122"/>
                <a:cs typeface="Calibri" pitchFamily="34" charset="-120"/>
              </a:rPr>
              <a:t>GitHub</a:t>
            </a:r>
            <a:endParaRPr lang="en-US" sz="1050" dirty="0"/>
          </a:p>
        </p:txBody>
      </p:sp>
      <p:sp>
        <p:nvSpPr>
          <p:cNvPr id="49" name="Text 32"/>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7A7267"/>
                </a:solidFill>
                <a:latin typeface="Calibri" pitchFamily="34" charset="0"/>
                <a:ea typeface="Calibri" pitchFamily="34" charset="-122"/>
                <a:cs typeface="Calibri" pitchFamily="34" charset="-120"/>
              </a:rPr>
              <a:t>Recipe Finder</a:t>
            </a:r>
            <a:endParaRPr lang="en-US" sz="900" dirty="0"/>
          </a:p>
        </p:txBody>
      </p:sp>
      <p:sp>
        <p:nvSpPr>
          <p:cNvPr id="50" name="Text 33"/>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7A7267"/>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rtlCol="0" anchor="ctr"/>
          <a:lstStyle/>
          <a:p>
            <a:pPr marL="0" indent="0">
              <a:buNone/>
            </a:pPr>
            <a:r>
              <a:rPr lang="en-US" sz="3400" b="1" dirty="0">
                <a:solidFill>
                  <a:srgbClr val="46594B"/>
                </a:solidFill>
                <a:latin typeface="Poppins" pitchFamily="34" charset="0"/>
                <a:ea typeface="Poppins" pitchFamily="34" charset="-122"/>
                <a:cs typeface="Poppins" pitchFamily="34" charset="-120"/>
              </a:rPr>
              <a:t>Expected Outcome</a:t>
            </a:r>
            <a:endParaRPr lang="en-US" sz="3400" dirty="0"/>
          </a:p>
        </p:txBody>
      </p:sp>
      <p:sp>
        <p:nvSpPr>
          <p:cNvPr id="3" name="Shape 1"/>
          <p:cNvSpPr/>
          <p:nvPr/>
        </p:nvSpPr>
        <p:spPr>
          <a:xfrm>
            <a:off x="566928" y="1051560"/>
            <a:ext cx="822960" cy="54864"/>
          </a:xfrm>
          <a:prstGeom prst="rect">
            <a:avLst/>
          </a:prstGeom>
          <a:solidFill>
            <a:srgbClr val="9C7A3C"/>
          </a:solidFill>
          <a:ln/>
        </p:spPr>
      </p:sp>
      <p:sp>
        <p:nvSpPr>
          <p:cNvPr id="4" name="Shape 2"/>
          <p:cNvSpPr/>
          <p:nvPr/>
        </p:nvSpPr>
        <p:spPr>
          <a:xfrm>
            <a:off x="548640" y="1463040"/>
            <a:ext cx="457200" cy="457200"/>
          </a:xfrm>
          <a:prstGeom prst="ellipse">
            <a:avLst/>
          </a:prstGeom>
          <a:solidFill>
            <a:srgbClr val="ECEFEA"/>
          </a:solidFill>
          <a:ln/>
        </p:spPr>
      </p:sp>
      <p:pic>
        <p:nvPicPr>
          <p:cNvPr id="5" name="Image 0" descr="ic_check_green.png"/>
          <p:cNvPicPr>
            <a:picLocks noChangeAspect="1"/>
          </p:cNvPicPr>
          <p:nvPr/>
        </p:nvPicPr>
        <p:blipFill>
          <a:blip r:embed="rId3"/>
          <a:stretch>
            <a:fillRect/>
          </a:stretch>
        </p:blipFill>
        <p:spPr>
          <a:xfrm>
            <a:off x="651510" y="1565910"/>
            <a:ext cx="251460" cy="251460"/>
          </a:xfrm>
          <a:prstGeom prst="rect">
            <a:avLst/>
          </a:prstGeom>
        </p:spPr>
      </p:pic>
      <p:sp>
        <p:nvSpPr>
          <p:cNvPr id="6" name="Text 3"/>
          <p:cNvSpPr/>
          <p:nvPr/>
        </p:nvSpPr>
        <p:spPr>
          <a:xfrm>
            <a:off x="1188720" y="1463040"/>
            <a:ext cx="5577840" cy="457200"/>
          </a:xfrm>
          <a:prstGeom prst="rect">
            <a:avLst/>
          </a:prstGeom>
          <a:noFill/>
          <a:ln/>
        </p:spPr>
        <p:txBody>
          <a:bodyPr wrap="square" rtlCol="0" anchor="ctr"/>
          <a:lstStyle/>
          <a:p>
            <a:pPr marL="0" indent="0">
              <a:lnSpc>
                <a:spcPct val="100000"/>
              </a:lnSpc>
              <a:buNone/>
            </a:pPr>
            <a:r>
              <a:rPr lang="en-US" sz="1250" dirty="0">
                <a:solidFill>
                  <a:srgbClr val="332A20"/>
                </a:solidFill>
                <a:latin typeface="Calibri" pitchFamily="34" charset="0"/>
                <a:ea typeface="Calibri" pitchFamily="34" charset="-122"/>
                <a:cs typeface="Calibri" pitchFamily="34" charset="-120"/>
              </a:rPr>
              <a:t>Allow users to search for recipes using the recipe name</a:t>
            </a:r>
            <a:endParaRPr lang="en-US" sz="1250" dirty="0"/>
          </a:p>
        </p:txBody>
      </p:sp>
      <p:sp>
        <p:nvSpPr>
          <p:cNvPr id="7" name="Shape 4"/>
          <p:cNvSpPr/>
          <p:nvPr/>
        </p:nvSpPr>
        <p:spPr>
          <a:xfrm>
            <a:off x="548640" y="2084832"/>
            <a:ext cx="457200" cy="457200"/>
          </a:xfrm>
          <a:prstGeom prst="ellipse">
            <a:avLst/>
          </a:prstGeom>
          <a:solidFill>
            <a:srgbClr val="F1E6D2"/>
          </a:solidFill>
          <a:ln/>
        </p:spPr>
      </p:sp>
      <p:pic>
        <p:nvPicPr>
          <p:cNvPr id="8" name="Image 1" descr="ic_check_green.png"/>
          <p:cNvPicPr>
            <a:picLocks noChangeAspect="1"/>
          </p:cNvPicPr>
          <p:nvPr/>
        </p:nvPicPr>
        <p:blipFill>
          <a:blip r:embed="rId3"/>
          <a:stretch>
            <a:fillRect/>
          </a:stretch>
        </p:blipFill>
        <p:spPr>
          <a:xfrm>
            <a:off x="651510" y="2187702"/>
            <a:ext cx="251460" cy="251460"/>
          </a:xfrm>
          <a:prstGeom prst="rect">
            <a:avLst/>
          </a:prstGeom>
        </p:spPr>
      </p:pic>
      <p:sp>
        <p:nvSpPr>
          <p:cNvPr id="9" name="Text 5"/>
          <p:cNvSpPr/>
          <p:nvPr/>
        </p:nvSpPr>
        <p:spPr>
          <a:xfrm>
            <a:off x="1188720" y="2084832"/>
            <a:ext cx="5577840" cy="457200"/>
          </a:xfrm>
          <a:prstGeom prst="rect">
            <a:avLst/>
          </a:prstGeom>
          <a:noFill/>
          <a:ln/>
        </p:spPr>
        <p:txBody>
          <a:bodyPr wrap="square" rtlCol="0" anchor="ctr"/>
          <a:lstStyle/>
          <a:p>
            <a:pPr marL="0" indent="0">
              <a:lnSpc>
                <a:spcPct val="100000"/>
              </a:lnSpc>
              <a:buNone/>
            </a:pPr>
            <a:r>
              <a:rPr lang="en-US" sz="1250" dirty="0">
                <a:solidFill>
                  <a:srgbClr val="332A20"/>
                </a:solidFill>
                <a:latin typeface="Calibri" pitchFamily="34" charset="0"/>
                <a:ea typeface="Calibri" pitchFamily="34" charset="-122"/>
                <a:cs typeface="Calibri" pitchFamily="34" charset="-120"/>
              </a:rPr>
              <a:t>Find the matching recipe from the available recipe collection</a:t>
            </a:r>
            <a:endParaRPr lang="en-US" sz="1250" dirty="0"/>
          </a:p>
        </p:txBody>
      </p:sp>
      <p:sp>
        <p:nvSpPr>
          <p:cNvPr id="10" name="Shape 6"/>
          <p:cNvSpPr/>
          <p:nvPr/>
        </p:nvSpPr>
        <p:spPr>
          <a:xfrm>
            <a:off x="548640" y="2706624"/>
            <a:ext cx="457200" cy="457200"/>
          </a:xfrm>
          <a:prstGeom prst="ellipse">
            <a:avLst/>
          </a:prstGeom>
          <a:solidFill>
            <a:srgbClr val="ECEFEA"/>
          </a:solidFill>
          <a:ln/>
        </p:spPr>
      </p:sp>
      <p:pic>
        <p:nvPicPr>
          <p:cNvPr id="11" name="Image 2" descr="ic_check_green.png"/>
          <p:cNvPicPr>
            <a:picLocks noChangeAspect="1"/>
          </p:cNvPicPr>
          <p:nvPr/>
        </p:nvPicPr>
        <p:blipFill>
          <a:blip r:embed="rId3"/>
          <a:stretch>
            <a:fillRect/>
          </a:stretch>
        </p:blipFill>
        <p:spPr>
          <a:xfrm>
            <a:off x="651510" y="2809494"/>
            <a:ext cx="251460" cy="251460"/>
          </a:xfrm>
          <a:prstGeom prst="rect">
            <a:avLst/>
          </a:prstGeom>
        </p:spPr>
      </p:pic>
      <p:sp>
        <p:nvSpPr>
          <p:cNvPr id="12" name="Text 7"/>
          <p:cNvSpPr/>
          <p:nvPr/>
        </p:nvSpPr>
        <p:spPr>
          <a:xfrm>
            <a:off x="1188720" y="2706624"/>
            <a:ext cx="5577840" cy="457200"/>
          </a:xfrm>
          <a:prstGeom prst="rect">
            <a:avLst/>
          </a:prstGeom>
          <a:noFill/>
          <a:ln/>
        </p:spPr>
        <p:txBody>
          <a:bodyPr wrap="square" rtlCol="0" anchor="ctr"/>
          <a:lstStyle/>
          <a:p>
            <a:pPr marL="0" indent="0">
              <a:lnSpc>
                <a:spcPct val="100000"/>
              </a:lnSpc>
              <a:buNone/>
            </a:pPr>
            <a:r>
              <a:rPr lang="en-US" sz="1250" dirty="0">
                <a:solidFill>
                  <a:srgbClr val="332A20"/>
                </a:solidFill>
                <a:latin typeface="Calibri" pitchFamily="34" charset="0"/>
                <a:ea typeface="Calibri" pitchFamily="34" charset="-122"/>
                <a:cs typeface="Calibri" pitchFamily="34" charset="-120"/>
              </a:rPr>
              <a:t>Display the complete recipe details, including recipe name, ingredients, and preparation instructions</a:t>
            </a:r>
            <a:endParaRPr lang="en-US" sz="1250" dirty="0"/>
          </a:p>
        </p:txBody>
      </p:sp>
      <p:sp>
        <p:nvSpPr>
          <p:cNvPr id="13" name="Shape 8"/>
          <p:cNvSpPr/>
          <p:nvPr/>
        </p:nvSpPr>
        <p:spPr>
          <a:xfrm>
            <a:off x="548640" y="3328416"/>
            <a:ext cx="457200" cy="457200"/>
          </a:xfrm>
          <a:prstGeom prst="ellipse">
            <a:avLst/>
          </a:prstGeom>
          <a:solidFill>
            <a:srgbClr val="F1E6D2"/>
          </a:solidFill>
          <a:ln/>
        </p:spPr>
      </p:sp>
      <p:pic>
        <p:nvPicPr>
          <p:cNvPr id="14" name="Image 3" descr="ic_check_green.png"/>
          <p:cNvPicPr>
            <a:picLocks noChangeAspect="1"/>
          </p:cNvPicPr>
          <p:nvPr/>
        </p:nvPicPr>
        <p:blipFill>
          <a:blip r:embed="rId3"/>
          <a:stretch>
            <a:fillRect/>
          </a:stretch>
        </p:blipFill>
        <p:spPr>
          <a:xfrm>
            <a:off x="651510" y="3431286"/>
            <a:ext cx="251460" cy="251460"/>
          </a:xfrm>
          <a:prstGeom prst="rect">
            <a:avLst/>
          </a:prstGeom>
        </p:spPr>
      </p:pic>
      <p:sp>
        <p:nvSpPr>
          <p:cNvPr id="15" name="Text 9"/>
          <p:cNvSpPr/>
          <p:nvPr/>
        </p:nvSpPr>
        <p:spPr>
          <a:xfrm>
            <a:off x="1188720" y="3328416"/>
            <a:ext cx="5577840" cy="457200"/>
          </a:xfrm>
          <a:prstGeom prst="rect">
            <a:avLst/>
          </a:prstGeom>
          <a:noFill/>
          <a:ln/>
        </p:spPr>
        <p:txBody>
          <a:bodyPr wrap="square" rtlCol="0" anchor="ctr"/>
          <a:lstStyle/>
          <a:p>
            <a:pPr marL="0" indent="0">
              <a:lnSpc>
                <a:spcPct val="100000"/>
              </a:lnSpc>
              <a:buNone/>
            </a:pPr>
            <a:r>
              <a:rPr lang="en-US" sz="1250" dirty="0">
                <a:solidFill>
                  <a:srgbClr val="332A20"/>
                </a:solidFill>
                <a:latin typeface="Calibri" pitchFamily="34" charset="0"/>
                <a:ea typeface="Calibri" pitchFamily="34" charset="-122"/>
                <a:cs typeface="Calibri" pitchFamily="34" charset="-120"/>
              </a:rPr>
              <a:t>Provide preparation and cooking time when available</a:t>
            </a:r>
            <a:endParaRPr lang="en-US" sz="1250" dirty="0"/>
          </a:p>
        </p:txBody>
      </p:sp>
      <p:sp>
        <p:nvSpPr>
          <p:cNvPr id="16" name="Shape 10"/>
          <p:cNvSpPr/>
          <p:nvPr/>
        </p:nvSpPr>
        <p:spPr>
          <a:xfrm>
            <a:off x="548640" y="3950208"/>
            <a:ext cx="457200" cy="457200"/>
          </a:xfrm>
          <a:prstGeom prst="ellipse">
            <a:avLst/>
          </a:prstGeom>
          <a:solidFill>
            <a:srgbClr val="ECEFEA"/>
          </a:solidFill>
          <a:ln/>
        </p:spPr>
      </p:sp>
      <p:pic>
        <p:nvPicPr>
          <p:cNvPr id="17" name="Image 4" descr="ic_check_green.png"/>
          <p:cNvPicPr>
            <a:picLocks noChangeAspect="1"/>
          </p:cNvPicPr>
          <p:nvPr/>
        </p:nvPicPr>
        <p:blipFill>
          <a:blip r:embed="rId3"/>
          <a:stretch>
            <a:fillRect/>
          </a:stretch>
        </p:blipFill>
        <p:spPr>
          <a:xfrm>
            <a:off x="651510" y="4053078"/>
            <a:ext cx="251460" cy="251460"/>
          </a:xfrm>
          <a:prstGeom prst="rect">
            <a:avLst/>
          </a:prstGeom>
        </p:spPr>
      </p:pic>
      <p:sp>
        <p:nvSpPr>
          <p:cNvPr id="18" name="Text 11"/>
          <p:cNvSpPr/>
          <p:nvPr/>
        </p:nvSpPr>
        <p:spPr>
          <a:xfrm>
            <a:off x="1188720" y="3950208"/>
            <a:ext cx="5577840" cy="457200"/>
          </a:xfrm>
          <a:prstGeom prst="rect">
            <a:avLst/>
          </a:prstGeom>
          <a:noFill/>
          <a:ln/>
        </p:spPr>
        <p:txBody>
          <a:bodyPr wrap="square" rtlCol="0" anchor="ctr"/>
          <a:lstStyle/>
          <a:p>
            <a:pPr marL="0" indent="0">
              <a:lnSpc>
                <a:spcPct val="100000"/>
              </a:lnSpc>
              <a:buNone/>
            </a:pPr>
            <a:r>
              <a:rPr lang="en-US" sz="1250" dirty="0">
                <a:solidFill>
                  <a:srgbClr val="332A20"/>
                </a:solidFill>
                <a:latin typeface="Calibri" pitchFamily="34" charset="0"/>
                <a:ea typeface="Calibri" pitchFamily="34" charset="-122"/>
                <a:cs typeface="Calibri" pitchFamily="34" charset="-120"/>
              </a:rPr>
              <a:t>Demonstrate the practical implementation of Naïve Pattern Matching</a:t>
            </a:r>
            <a:endParaRPr lang="en-US" sz="1250" dirty="0"/>
          </a:p>
        </p:txBody>
      </p:sp>
      <p:sp>
        <p:nvSpPr>
          <p:cNvPr id="19" name="Shape 12"/>
          <p:cNvSpPr/>
          <p:nvPr/>
        </p:nvSpPr>
        <p:spPr>
          <a:xfrm>
            <a:off x="548640" y="4572000"/>
            <a:ext cx="457200" cy="457200"/>
          </a:xfrm>
          <a:prstGeom prst="ellipse">
            <a:avLst/>
          </a:prstGeom>
          <a:solidFill>
            <a:srgbClr val="F1E6D2"/>
          </a:solidFill>
          <a:ln/>
        </p:spPr>
      </p:sp>
      <p:pic>
        <p:nvPicPr>
          <p:cNvPr id="20" name="Image 5" descr="ic_check_green.png"/>
          <p:cNvPicPr>
            <a:picLocks noChangeAspect="1"/>
          </p:cNvPicPr>
          <p:nvPr/>
        </p:nvPicPr>
        <p:blipFill>
          <a:blip r:embed="rId3"/>
          <a:stretch>
            <a:fillRect/>
          </a:stretch>
        </p:blipFill>
        <p:spPr>
          <a:xfrm>
            <a:off x="651510" y="4674870"/>
            <a:ext cx="251460" cy="251460"/>
          </a:xfrm>
          <a:prstGeom prst="rect">
            <a:avLst/>
          </a:prstGeom>
        </p:spPr>
      </p:pic>
      <p:sp>
        <p:nvSpPr>
          <p:cNvPr id="21" name="Text 13"/>
          <p:cNvSpPr/>
          <p:nvPr/>
        </p:nvSpPr>
        <p:spPr>
          <a:xfrm>
            <a:off x="1188720" y="4572000"/>
            <a:ext cx="5577840" cy="457200"/>
          </a:xfrm>
          <a:prstGeom prst="rect">
            <a:avLst/>
          </a:prstGeom>
          <a:noFill/>
          <a:ln/>
        </p:spPr>
        <p:txBody>
          <a:bodyPr wrap="square" rtlCol="0" anchor="ctr"/>
          <a:lstStyle/>
          <a:p>
            <a:pPr marL="0" indent="0">
              <a:lnSpc>
                <a:spcPct val="100000"/>
              </a:lnSpc>
              <a:buNone/>
            </a:pPr>
            <a:r>
              <a:rPr lang="en-US" sz="1250" dirty="0">
                <a:solidFill>
                  <a:srgbClr val="332A20"/>
                </a:solidFill>
                <a:latin typeface="Calibri" pitchFamily="34" charset="0"/>
                <a:ea typeface="Calibri" pitchFamily="34" charset="-122"/>
                <a:cs typeface="Calibri" pitchFamily="34" charset="-120"/>
              </a:rPr>
              <a:t>Apply DSA concepts to a real-world recipe-search application</a:t>
            </a:r>
            <a:endParaRPr lang="en-US" sz="1250" dirty="0"/>
          </a:p>
        </p:txBody>
      </p:sp>
      <p:sp>
        <p:nvSpPr>
          <p:cNvPr id="22" name="Shape 14"/>
          <p:cNvSpPr/>
          <p:nvPr/>
        </p:nvSpPr>
        <p:spPr>
          <a:xfrm>
            <a:off x="548640" y="5193792"/>
            <a:ext cx="457200" cy="457200"/>
          </a:xfrm>
          <a:prstGeom prst="ellipse">
            <a:avLst/>
          </a:prstGeom>
          <a:solidFill>
            <a:srgbClr val="ECEFEA"/>
          </a:solidFill>
          <a:ln/>
        </p:spPr>
      </p:sp>
      <p:pic>
        <p:nvPicPr>
          <p:cNvPr id="23" name="Image 6" descr="ic_check_green.png"/>
          <p:cNvPicPr>
            <a:picLocks noChangeAspect="1"/>
          </p:cNvPicPr>
          <p:nvPr/>
        </p:nvPicPr>
        <p:blipFill>
          <a:blip r:embed="rId3"/>
          <a:stretch>
            <a:fillRect/>
          </a:stretch>
        </p:blipFill>
        <p:spPr>
          <a:xfrm>
            <a:off x="651510" y="5296662"/>
            <a:ext cx="251460" cy="251460"/>
          </a:xfrm>
          <a:prstGeom prst="rect">
            <a:avLst/>
          </a:prstGeom>
        </p:spPr>
      </p:pic>
      <p:sp>
        <p:nvSpPr>
          <p:cNvPr id="24" name="Text 15"/>
          <p:cNvSpPr/>
          <p:nvPr/>
        </p:nvSpPr>
        <p:spPr>
          <a:xfrm>
            <a:off x="1188720" y="5193792"/>
            <a:ext cx="5577840" cy="457200"/>
          </a:xfrm>
          <a:prstGeom prst="rect">
            <a:avLst/>
          </a:prstGeom>
          <a:noFill/>
          <a:ln/>
        </p:spPr>
        <p:txBody>
          <a:bodyPr wrap="square" rtlCol="0" anchor="ctr"/>
          <a:lstStyle/>
          <a:p>
            <a:pPr marL="0" indent="0">
              <a:lnSpc>
                <a:spcPct val="100000"/>
              </a:lnSpc>
              <a:buNone/>
            </a:pPr>
            <a:r>
              <a:rPr lang="en-US" sz="1250" dirty="0">
                <a:solidFill>
                  <a:srgbClr val="332A20"/>
                </a:solidFill>
                <a:latin typeface="Calibri" pitchFamily="34" charset="0"/>
                <a:ea typeface="Calibri" pitchFamily="34" charset="-122"/>
                <a:cs typeface="Calibri" pitchFamily="34" charset="-120"/>
              </a:rPr>
              <a:t>Provide a simple, fast, structured, and user-friendly recipe search system</a:t>
            </a:r>
            <a:endParaRPr lang="en-US" sz="1250" dirty="0"/>
          </a:p>
        </p:txBody>
      </p:sp>
      <p:sp>
        <p:nvSpPr>
          <p:cNvPr id="25" name="Shape 16"/>
          <p:cNvSpPr/>
          <p:nvPr/>
        </p:nvSpPr>
        <p:spPr>
          <a:xfrm>
            <a:off x="7407985" y="1605579"/>
            <a:ext cx="4206240" cy="4846320"/>
          </a:xfrm>
          <a:prstGeom prst="roundRect">
            <a:avLst>
              <a:gd name="adj" fmla="val 2609"/>
            </a:avLst>
          </a:prstGeom>
          <a:solidFill>
            <a:srgbClr val="46594B"/>
          </a:solidFill>
          <a:ln/>
        </p:spPr>
      </p:sp>
      <p:sp>
        <p:nvSpPr>
          <p:cNvPr id="26" name="Shape 17"/>
          <p:cNvSpPr/>
          <p:nvPr/>
        </p:nvSpPr>
        <p:spPr>
          <a:xfrm>
            <a:off x="9005944" y="1757038"/>
            <a:ext cx="822960" cy="822960"/>
          </a:xfrm>
          <a:prstGeom prst="ellipse">
            <a:avLst/>
          </a:prstGeom>
          <a:solidFill>
            <a:srgbClr val="39473D"/>
          </a:solidFill>
          <a:ln/>
        </p:spPr>
      </p:sp>
      <p:pic>
        <p:nvPicPr>
          <p:cNvPr id="27" name="Image 7" descr="ic_search_orange.png"/>
          <p:cNvPicPr>
            <a:picLocks noChangeAspect="1"/>
          </p:cNvPicPr>
          <p:nvPr/>
        </p:nvPicPr>
        <p:blipFill>
          <a:blip r:embed="rId4"/>
          <a:stretch>
            <a:fillRect/>
          </a:stretch>
        </p:blipFill>
        <p:spPr>
          <a:xfrm>
            <a:off x="9211684" y="2043281"/>
            <a:ext cx="411480" cy="411480"/>
          </a:xfrm>
          <a:prstGeom prst="rect">
            <a:avLst/>
          </a:prstGeom>
        </p:spPr>
      </p:pic>
      <p:sp>
        <p:nvSpPr>
          <p:cNvPr id="28" name="Text 18"/>
          <p:cNvSpPr/>
          <p:nvPr/>
        </p:nvSpPr>
        <p:spPr>
          <a:xfrm>
            <a:off x="7635240" y="2526030"/>
            <a:ext cx="374904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Search</a:t>
            </a:r>
            <a:endParaRPr lang="en-US" sz="1300" dirty="0"/>
          </a:p>
        </p:txBody>
      </p:sp>
      <p:pic>
        <p:nvPicPr>
          <p:cNvPr id="29" name="Image 8" descr="ic_arrowdown_orange.png"/>
          <p:cNvPicPr>
            <a:picLocks noChangeAspect="1"/>
          </p:cNvPicPr>
          <p:nvPr/>
        </p:nvPicPr>
        <p:blipFill>
          <a:blip r:embed="rId5"/>
          <a:stretch>
            <a:fillRect/>
          </a:stretch>
        </p:blipFill>
        <p:spPr>
          <a:xfrm>
            <a:off x="9354312" y="3035808"/>
            <a:ext cx="219456" cy="219456"/>
          </a:xfrm>
          <a:prstGeom prst="rect">
            <a:avLst/>
          </a:prstGeom>
        </p:spPr>
      </p:pic>
      <p:sp>
        <p:nvSpPr>
          <p:cNvPr id="30" name="Shape 19"/>
          <p:cNvSpPr/>
          <p:nvPr/>
        </p:nvSpPr>
        <p:spPr>
          <a:xfrm>
            <a:off x="9005944" y="2827782"/>
            <a:ext cx="822960" cy="822960"/>
          </a:xfrm>
          <a:prstGeom prst="ellipse">
            <a:avLst/>
          </a:prstGeom>
          <a:solidFill>
            <a:srgbClr val="39473D"/>
          </a:solidFill>
          <a:ln/>
        </p:spPr>
      </p:sp>
      <p:pic>
        <p:nvPicPr>
          <p:cNvPr id="31" name="Image 9" descr="ic_book_white.png"/>
          <p:cNvPicPr>
            <a:picLocks noChangeAspect="1"/>
          </p:cNvPicPr>
          <p:nvPr/>
        </p:nvPicPr>
        <p:blipFill>
          <a:blip r:embed="rId6"/>
          <a:stretch>
            <a:fillRect/>
          </a:stretch>
        </p:blipFill>
        <p:spPr>
          <a:xfrm>
            <a:off x="9258300" y="3028950"/>
            <a:ext cx="411480" cy="411480"/>
          </a:xfrm>
          <a:prstGeom prst="rect">
            <a:avLst/>
          </a:prstGeom>
        </p:spPr>
      </p:pic>
      <p:sp>
        <p:nvSpPr>
          <p:cNvPr id="32" name="Text 20"/>
          <p:cNvSpPr/>
          <p:nvPr/>
        </p:nvSpPr>
        <p:spPr>
          <a:xfrm>
            <a:off x="7589520" y="3643032"/>
            <a:ext cx="374904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Recipe Found</a:t>
            </a:r>
            <a:endParaRPr lang="en-US" sz="1300" dirty="0"/>
          </a:p>
        </p:txBody>
      </p:sp>
      <p:pic>
        <p:nvPicPr>
          <p:cNvPr id="33" name="Image 10" descr="ic_arrowdown_orange.png"/>
          <p:cNvPicPr>
            <a:picLocks noChangeAspect="1"/>
          </p:cNvPicPr>
          <p:nvPr/>
        </p:nvPicPr>
        <p:blipFill>
          <a:blip r:embed="rId5"/>
          <a:stretch>
            <a:fillRect/>
          </a:stretch>
        </p:blipFill>
        <p:spPr>
          <a:xfrm>
            <a:off x="9354312" y="4087368"/>
            <a:ext cx="219456" cy="219456"/>
          </a:xfrm>
          <a:prstGeom prst="rect">
            <a:avLst/>
          </a:prstGeom>
        </p:spPr>
      </p:pic>
      <p:sp>
        <p:nvSpPr>
          <p:cNvPr id="34" name="Shape 21"/>
          <p:cNvSpPr/>
          <p:nvPr/>
        </p:nvSpPr>
        <p:spPr>
          <a:xfrm>
            <a:off x="9052560" y="3931920"/>
            <a:ext cx="822960" cy="822960"/>
          </a:xfrm>
          <a:prstGeom prst="ellipse">
            <a:avLst/>
          </a:prstGeom>
          <a:solidFill>
            <a:srgbClr val="39473D"/>
          </a:solidFill>
          <a:ln/>
        </p:spPr>
      </p:sp>
      <p:pic>
        <p:nvPicPr>
          <p:cNvPr id="35" name="Image 11" descr="ic_chef_green.png"/>
          <p:cNvPicPr>
            <a:picLocks noChangeAspect="1"/>
          </p:cNvPicPr>
          <p:nvPr/>
        </p:nvPicPr>
        <p:blipFill>
          <a:blip r:embed="rId7"/>
          <a:stretch>
            <a:fillRect/>
          </a:stretch>
        </p:blipFill>
        <p:spPr>
          <a:xfrm>
            <a:off x="9258300" y="4137660"/>
            <a:ext cx="411480" cy="411480"/>
          </a:xfrm>
          <a:prstGeom prst="rect">
            <a:avLst/>
          </a:prstGeom>
        </p:spPr>
      </p:pic>
      <p:sp>
        <p:nvSpPr>
          <p:cNvPr id="36" name="Text 22"/>
          <p:cNvSpPr/>
          <p:nvPr/>
        </p:nvSpPr>
        <p:spPr>
          <a:xfrm>
            <a:off x="7635240" y="4730228"/>
            <a:ext cx="374904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Complete Recipe</a:t>
            </a:r>
            <a:endParaRPr lang="en-US" sz="1300" dirty="0"/>
          </a:p>
        </p:txBody>
      </p:sp>
      <p:pic>
        <p:nvPicPr>
          <p:cNvPr id="37" name="Image 12" descr="ic_arrowdown_orange.png"/>
          <p:cNvPicPr>
            <a:picLocks noChangeAspect="1"/>
          </p:cNvPicPr>
          <p:nvPr/>
        </p:nvPicPr>
        <p:blipFill>
          <a:blip r:embed="rId5"/>
          <a:stretch>
            <a:fillRect/>
          </a:stretch>
        </p:blipFill>
        <p:spPr>
          <a:xfrm>
            <a:off x="9354312" y="5138928"/>
            <a:ext cx="219456" cy="219456"/>
          </a:xfrm>
          <a:prstGeom prst="rect">
            <a:avLst/>
          </a:prstGeom>
        </p:spPr>
      </p:pic>
      <p:sp>
        <p:nvSpPr>
          <p:cNvPr id="38" name="Shape 23"/>
          <p:cNvSpPr/>
          <p:nvPr/>
        </p:nvSpPr>
        <p:spPr>
          <a:xfrm>
            <a:off x="9052560" y="4983480"/>
            <a:ext cx="822960" cy="822960"/>
          </a:xfrm>
          <a:prstGeom prst="ellipse">
            <a:avLst/>
          </a:prstGeom>
          <a:solidFill>
            <a:srgbClr val="39473D"/>
          </a:solidFill>
          <a:ln/>
        </p:spPr>
      </p:sp>
      <p:pic>
        <p:nvPicPr>
          <p:cNvPr id="39" name="Image 13" descr="ic_smile_orange.png"/>
          <p:cNvPicPr>
            <a:picLocks noChangeAspect="1"/>
          </p:cNvPicPr>
          <p:nvPr/>
        </p:nvPicPr>
        <p:blipFill>
          <a:blip r:embed="rId8"/>
          <a:stretch>
            <a:fillRect/>
          </a:stretch>
        </p:blipFill>
        <p:spPr>
          <a:xfrm>
            <a:off x="9258300" y="5189220"/>
            <a:ext cx="411480" cy="411480"/>
          </a:xfrm>
          <a:prstGeom prst="rect">
            <a:avLst/>
          </a:prstGeom>
        </p:spPr>
      </p:pic>
      <p:sp>
        <p:nvSpPr>
          <p:cNvPr id="40" name="Text 24"/>
          <p:cNvSpPr/>
          <p:nvPr/>
        </p:nvSpPr>
        <p:spPr>
          <a:xfrm>
            <a:off x="7635240" y="5852160"/>
            <a:ext cx="374904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Happy User</a:t>
            </a:r>
            <a:endParaRPr lang="en-US" sz="1300" dirty="0"/>
          </a:p>
        </p:txBody>
      </p:sp>
      <p:sp>
        <p:nvSpPr>
          <p:cNvPr id="41" name="Text 25"/>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7A7267"/>
                </a:solidFill>
                <a:latin typeface="Calibri" pitchFamily="34" charset="0"/>
                <a:ea typeface="Calibri" pitchFamily="34" charset="-122"/>
                <a:cs typeface="Calibri" pitchFamily="34" charset="-120"/>
              </a:rPr>
              <a:t>Recipe Finder</a:t>
            </a:r>
            <a:endParaRPr lang="en-US" sz="900" dirty="0"/>
          </a:p>
        </p:txBody>
      </p:sp>
      <p:sp>
        <p:nvSpPr>
          <p:cNvPr id="42" name="Text 26"/>
          <p:cNvSpPr/>
          <p:nvPr/>
        </p:nvSpPr>
        <p:spPr>
          <a:xfrm>
            <a:off x="11274552" y="6492240"/>
            <a:ext cx="457200" cy="274320"/>
          </a:xfrm>
          <a:prstGeom prst="rect">
            <a:avLst/>
          </a:prstGeom>
          <a:noFill/>
          <a:ln/>
        </p:spPr>
        <p:txBody>
          <a:bodyPr wrap="square" rtlCol="0" anchor="ctr"/>
          <a:lstStyle/>
          <a:p>
            <a:pPr marL="0" indent="0" algn="r">
              <a:buNone/>
            </a:pPr>
            <a:r>
              <a:rPr lang="en-US" sz="900" dirty="0">
                <a:solidFill>
                  <a:srgbClr val="7A7267"/>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thankyou_photo.jpg"/>
          <p:cNvPicPr>
            <a:picLocks noChangeAspect="1"/>
          </p:cNvPicPr>
          <p:nvPr/>
        </p:nvPicPr>
        <p:blipFill>
          <a:blip r:embed="rId3"/>
          <a:srcRect/>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1C160F">
              <a:alpha val="62000"/>
            </a:srgbClr>
          </a:solidFill>
          <a:ln/>
        </p:spPr>
      </p:sp>
      <p:sp>
        <p:nvSpPr>
          <p:cNvPr id="4" name="Shape 1"/>
          <p:cNvSpPr/>
          <p:nvPr/>
        </p:nvSpPr>
        <p:spPr>
          <a:xfrm>
            <a:off x="0" y="1920240"/>
            <a:ext cx="12188952" cy="3017520"/>
          </a:xfrm>
          <a:prstGeom prst="rect">
            <a:avLst/>
          </a:prstGeom>
          <a:solidFill>
            <a:srgbClr val="000000">
              <a:alpha val="65000"/>
            </a:srgbClr>
          </a:solidFill>
          <a:ln/>
        </p:spPr>
      </p:sp>
      <p:sp>
        <p:nvSpPr>
          <p:cNvPr id="5" name="Text 2"/>
          <p:cNvSpPr/>
          <p:nvPr/>
        </p:nvSpPr>
        <p:spPr>
          <a:xfrm>
            <a:off x="548640" y="292608"/>
            <a:ext cx="3657600" cy="365760"/>
          </a:xfrm>
          <a:prstGeom prst="rect">
            <a:avLst/>
          </a:prstGeom>
          <a:noFill/>
          <a:ln/>
        </p:spPr>
        <p:txBody>
          <a:bodyPr wrap="square" rtlCol="0" anchor="ctr"/>
          <a:lstStyle/>
          <a:p>
            <a:pPr marL="0" indent="0">
              <a:buNone/>
            </a:pPr>
            <a:r>
              <a:rPr lang="en-US" sz="1500" b="1" kern="0" spc="150" dirty="0">
                <a:solidFill>
                  <a:srgbClr val="FFFFFF"/>
                </a:solidFill>
                <a:latin typeface="Poppins" pitchFamily="34" charset="0"/>
                <a:ea typeface="Poppins" pitchFamily="34" charset="-122"/>
                <a:cs typeface="Poppins" pitchFamily="34" charset="-120"/>
              </a:rPr>
              <a:t>RECIPE FINDER</a:t>
            </a:r>
            <a:endParaRPr lang="en-US" sz="1500" dirty="0"/>
          </a:p>
        </p:txBody>
      </p:sp>
      <p:sp>
        <p:nvSpPr>
          <p:cNvPr id="6" name="Shape 3"/>
          <p:cNvSpPr/>
          <p:nvPr/>
        </p:nvSpPr>
        <p:spPr>
          <a:xfrm>
            <a:off x="548640" y="777240"/>
            <a:ext cx="11091672" cy="0"/>
          </a:xfrm>
          <a:prstGeom prst="line">
            <a:avLst/>
          </a:prstGeom>
          <a:noFill/>
          <a:ln w="9525">
            <a:solidFill>
              <a:srgbClr val="FFFFFF">
                <a:alpha val="40000"/>
              </a:srgbClr>
            </a:solidFill>
            <a:prstDash val="solid"/>
          </a:ln>
        </p:spPr>
      </p:sp>
      <p:sp>
        <p:nvSpPr>
          <p:cNvPr id="7" name="Text 4"/>
          <p:cNvSpPr/>
          <p:nvPr/>
        </p:nvSpPr>
        <p:spPr>
          <a:xfrm>
            <a:off x="0" y="2514600"/>
            <a:ext cx="12188952" cy="1005840"/>
          </a:xfrm>
          <a:prstGeom prst="rect">
            <a:avLst/>
          </a:prstGeom>
          <a:noFill/>
          <a:ln/>
        </p:spPr>
        <p:txBody>
          <a:bodyPr wrap="square" rtlCol="0" anchor="ctr"/>
          <a:lstStyle/>
          <a:p>
            <a:pPr marL="0" indent="0" algn="ctr">
              <a:buNone/>
            </a:pPr>
            <a:r>
              <a:rPr lang="en-US" sz="5000" b="1" dirty="0">
                <a:solidFill>
                  <a:srgbClr val="FFFFFF"/>
                </a:solidFill>
                <a:latin typeface="Poppins" pitchFamily="34" charset="0"/>
                <a:ea typeface="Poppins" pitchFamily="34" charset="-122"/>
                <a:cs typeface="Poppins" pitchFamily="34" charset="-120"/>
              </a:rPr>
              <a:t>THANK YOU!</a:t>
            </a:r>
            <a:endParaRPr lang="en-US" sz="5000" dirty="0"/>
          </a:p>
        </p:txBody>
      </p:sp>
      <p:sp>
        <p:nvSpPr>
          <p:cNvPr id="8" name="Text 5"/>
          <p:cNvSpPr/>
          <p:nvPr/>
        </p:nvSpPr>
        <p:spPr>
          <a:xfrm>
            <a:off x="0" y="3584448"/>
            <a:ext cx="12188952" cy="548640"/>
          </a:xfrm>
          <a:prstGeom prst="rect">
            <a:avLst/>
          </a:prstGeom>
          <a:noFill/>
          <a:ln/>
        </p:spPr>
        <p:txBody>
          <a:bodyPr wrap="square" rtlCol="0" anchor="ctr"/>
          <a:lstStyle/>
          <a:p>
            <a:pPr marL="0" indent="0" algn="ctr">
              <a:buNone/>
            </a:pPr>
            <a:r>
              <a:rPr lang="en-US" sz="2000" i="1" dirty="0">
                <a:solidFill>
                  <a:srgbClr val="E7D9B8"/>
                </a:solidFill>
                <a:latin typeface="Calibri" pitchFamily="34" charset="0"/>
                <a:ea typeface="Calibri" pitchFamily="34" charset="-122"/>
                <a:cs typeface="Calibri" pitchFamily="34" charset="-120"/>
              </a:rPr>
              <a:t>Questions &amp; Discussion</a:t>
            </a:r>
            <a:endParaRPr lang="en-US" sz="2000" dirty="0"/>
          </a:p>
        </p:txBody>
      </p:sp>
      <p:sp>
        <p:nvSpPr>
          <p:cNvPr id="9" name="Shape 6"/>
          <p:cNvSpPr/>
          <p:nvPr/>
        </p:nvSpPr>
        <p:spPr>
          <a:xfrm>
            <a:off x="4494276" y="6291072"/>
            <a:ext cx="3200400" cy="384048"/>
          </a:xfrm>
          <a:prstGeom prst="roundRect">
            <a:avLst>
              <a:gd name="adj" fmla="val 50000"/>
            </a:avLst>
          </a:prstGeom>
          <a:solidFill>
            <a:srgbClr val="FFFFFF"/>
          </a:solidFill>
          <a:ln/>
        </p:spPr>
      </p:sp>
      <p:sp>
        <p:nvSpPr>
          <p:cNvPr id="10" name="Text 7"/>
          <p:cNvSpPr/>
          <p:nvPr/>
        </p:nvSpPr>
        <p:spPr>
          <a:xfrm>
            <a:off x="4494276" y="6291072"/>
            <a:ext cx="3200400" cy="384048"/>
          </a:xfrm>
          <a:prstGeom prst="rect">
            <a:avLst/>
          </a:prstGeom>
          <a:noFill/>
          <a:ln/>
        </p:spPr>
        <p:txBody>
          <a:bodyPr wrap="square" rtlCol="0" anchor="ctr"/>
          <a:lstStyle/>
          <a:p>
            <a:pPr marL="0" indent="0" algn="ctr">
              <a:buNone/>
            </a:pPr>
            <a:r>
              <a:rPr lang="en-US" sz="1050" b="1" dirty="0">
                <a:solidFill>
                  <a:srgbClr val="332A20"/>
                </a:solidFill>
                <a:latin typeface="Calibri" pitchFamily="34" charset="0"/>
                <a:ea typeface="Calibri" pitchFamily="34" charset="-122"/>
                <a:cs typeface="Calibri" pitchFamily="34" charset="-120"/>
              </a:rPr>
              <a:t>Recipe Finder · DSA Project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662</Words>
  <Application>Microsoft Office PowerPoint</Application>
  <PresentationFormat>Widescreen</PresentationFormat>
  <Paragraphs>124</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Monisha Raghini Chelle</cp:lastModifiedBy>
  <cp:revision>3</cp:revision>
  <dcterms:created xsi:type="dcterms:W3CDTF">2026-08-02T15:51:46Z</dcterms:created>
  <dcterms:modified xsi:type="dcterms:W3CDTF">2026-08-02T16:01:14Z</dcterms:modified>
</cp:coreProperties>
</file>