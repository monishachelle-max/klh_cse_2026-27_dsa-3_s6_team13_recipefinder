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4" r:id="rId4"/>
    <p:sldId id="258" r:id="rId5"/>
    <p:sldId id="261" r:id="rId6"/>
    <p:sldId id="265" r:id="rId7"/>
    <p:sldId id="259" r:id="rId8"/>
    <p:sldId id="267" r:id="rId9"/>
    <p:sldId id="266" r:id="rId10"/>
    <p:sldId id="260" r:id="rId11"/>
    <p:sldId id="262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 descr="KL University Hyderabad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/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0" y="86868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900" b="1">
                <a:solidFill>
                  <a:srgbClr val="BE0000"/>
                </a:solidFill>
                <a:latin typeface="Aptos"/>
              </a:rPr>
              <a:t>Data Structures and Algorithms -3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66160" y="150876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BE0000"/>
                </a:solidFill>
                <a:latin typeface="Aptos"/>
              </a:rPr>
              <a:t>(25CS2103E)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233172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100" b="1">
                <a:solidFill>
                  <a:srgbClr val="BE0000"/>
                </a:solidFill>
                <a:latin typeface="Aptos"/>
              </a:rPr>
              <a:t>Recipe Finder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324612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0069B4"/>
                </a:solidFill>
                <a:latin typeface="Aptos"/>
              </a:rPr>
              <a:t>Team Members</a:t>
            </a:r>
            <a:br/>
            <a:r>
              <a:rPr sz="1600" b="0">
                <a:solidFill>
                  <a:srgbClr val="0069B4"/>
                </a:solidFill>
                <a:latin typeface="Aptos"/>
              </a:rPr>
              <a:t>Monisha Raghini Chelle – 2520030537</a:t>
            </a:r>
            <a:br/>
            <a:r>
              <a:rPr sz="1600" b="0">
                <a:solidFill>
                  <a:srgbClr val="0069B4"/>
                </a:solidFill>
                <a:latin typeface="Aptos"/>
              </a:rPr>
              <a:t>Shaik Sabiya Tabassum – 2520030502</a:t>
            </a:r>
            <a:br/>
            <a:r>
              <a:rPr sz="1600" b="0">
                <a:solidFill>
                  <a:srgbClr val="0069B4"/>
                </a:solidFill>
                <a:latin typeface="Aptos"/>
              </a:rPr>
              <a:t>K. Siri Chandana – 2520030453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46177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000000"/>
                </a:solidFill>
                <a:latin typeface="Aptos"/>
              </a:rPr>
              <a:t>Under the Esteemed Guidance 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5029200"/>
            <a:ext cx="6400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Aptos"/>
              </a:rPr>
              <a:t>Dr. V. Sireesha</a:t>
            </a:r>
            <a:br/>
            <a:r>
              <a:rPr sz="1600" b="1">
                <a:solidFill>
                  <a:srgbClr val="000000"/>
                </a:solidFill>
                <a:latin typeface="Aptos"/>
              </a:rPr>
              <a:t>Professor, Department of CSE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C70C049-38C4-198F-3181-AACE07DE24AE}"/>
              </a:ext>
            </a:extLst>
          </p:cNvPr>
          <p:cNvSpPr txBox="1"/>
          <p:nvPr/>
        </p:nvSpPr>
        <p:spPr>
          <a:xfrm>
            <a:off x="3736109" y="806448"/>
            <a:ext cx="6936386" cy="5835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Abstract</a:t>
            </a: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Introduction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Literature survey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Problem Statement and Objectives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Hardware and Software requirements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Results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Conclusion </a:t>
            </a: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Future Scope 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EAC2F32-24D5-FDE9-EB0F-31C7733C95E6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A499C0-FC38-6642-1E16-B8CFFC9C9314}"/>
              </a:ext>
            </a:extLst>
          </p:cNvPr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Contents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BE0000"/>
                </a:solidFill>
                <a:latin typeface="Aptos"/>
              </a:rPr>
              <a:t>Abstract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D3C"/>
                </a:solidFill>
                <a:latin typeface="Aptos"/>
              </a:rPr>
              <a:t>• Recipe Finder is a Java-based DSA application for searching and retrieving recipes from a text corpus.</a:t>
            </a:r>
            <a:br/>
            <a:r>
              <a:rPr sz="1800" b="0">
                <a:solidFill>
                  <a:srgbClr val="1E2D3C"/>
                </a:solidFill>
                <a:latin typeface="Aptos"/>
              </a:rPr>
              <a:t>• The current dataset contains 100,000 distinct recipe records stored in data/recipes.txt.</a:t>
            </a:r>
            <a:br/>
            <a:r>
              <a:rPr sz="1800" b="0">
                <a:solidFill>
                  <a:srgbClr val="1E2D3C"/>
                </a:solidFill>
                <a:latin typeface="Aptos"/>
              </a:rPr>
              <a:t>• Java Swing provides a normal search interface with live prefix suggestions using a Trie.</a:t>
            </a:r>
            <a:br/>
            <a:r>
              <a:rPr sz="1800" b="0">
                <a:solidFill>
                  <a:srgbClr val="1E2D3C"/>
                </a:solidFill>
                <a:latin typeface="Aptos"/>
              </a:rPr>
              <a:t>• Internal search uses Naive Pattern Matching, KMP, Rabin-Karp and Aho-Corasick.</a:t>
            </a:r>
            <a:br/>
            <a:r>
              <a:rPr sz="1800" b="0">
                <a:solidFill>
                  <a:srgbClr val="1E2D3C"/>
                </a:solidFill>
                <a:latin typeface="Aptos"/>
              </a:rPr>
              <a:t>• Levenshtein Edit Distance supports fuzzy matching and similarity calculation.</a:t>
            </a:r>
            <a:br/>
            <a:r>
              <a:rPr sz="1800" b="0">
                <a:solidFill>
                  <a:srgbClr val="1E2D3C"/>
                </a:solidFill>
                <a:latin typeface="Aptos"/>
              </a:rPr>
              <a:t>• Ingredient retrieval uses bipartite matching; ingredient coverage uses Greedy Set Cover.</a:t>
            </a:r>
            <a:br/>
            <a:r>
              <a:rPr sz="1800" b="0">
                <a:solidFill>
                  <a:srgbClr val="1E2D3C"/>
                </a:solidFill>
                <a:latin typeface="Aptos"/>
              </a:rPr>
              <a:t>• Randomized recommendation and parallel similarity processing are also implemented.</a:t>
            </a:r>
          </a:p>
        </p:txBody>
      </p:sp>
    </p:spTree>
    <p:extLst>
      <p:ext uri="{BB962C8B-B14F-4D97-AF65-F5344CB8AC3E}">
        <p14:creationId xmlns:p14="http://schemas.microsoft.com/office/powerpoint/2010/main" val="1672422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BE0000"/>
                </a:solidFill>
                <a:latin typeface="Aptos"/>
              </a:rPr>
              <a:t>Introduction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9802" y="1336637"/>
            <a:ext cx="5120640" cy="4480560"/>
          </a:xfrm>
          <a:prstGeom prst="roundRect">
            <a:avLst/>
          </a:prstGeom>
          <a:solidFill>
            <a:srgbClr val="F8F8F8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r>
              <a:rPr sz="1700" dirty="0">
                <a:solidFill>
                  <a:srgbClr val="1E2D3C"/>
                </a:solidFill>
                <a:latin typeface="Aptos"/>
              </a:rPr>
              <a:t>Introduction</a:t>
            </a:r>
            <a:br>
              <a:rPr sz="1700" dirty="0">
                <a:solidFill>
                  <a:srgbClr val="1E2D3C"/>
                </a:solidFill>
                <a:latin typeface="Aptos"/>
              </a:rPr>
            </a:br>
            <a:br>
              <a:rPr sz="1700" dirty="0">
                <a:solidFill>
                  <a:srgbClr val="1E2D3C"/>
                </a:solidFill>
                <a:latin typeface="Aptos"/>
              </a:rPr>
            </a:br>
            <a:r>
              <a:rPr sz="1700" dirty="0">
                <a:solidFill>
                  <a:srgbClr val="1E2D3C"/>
                </a:solidFill>
                <a:latin typeface="Aptos"/>
              </a:rPr>
              <a:t>• Recipe Finder is a Java-based DSA application for searching a large recipe corpus.</a:t>
            </a:r>
            <a:br>
              <a:rPr sz="1700" dirty="0">
                <a:solidFill>
                  <a:srgbClr val="1E2D3C"/>
                </a:solidFill>
                <a:latin typeface="Aptos"/>
              </a:rPr>
            </a:br>
            <a:r>
              <a:rPr sz="1700" dirty="0">
                <a:solidFill>
                  <a:srgbClr val="1E2D3C"/>
                </a:solidFill>
                <a:latin typeface="Aptos"/>
              </a:rPr>
              <a:t>• The system uses a text-based recipe dataset stored in data/recipes.txt.</a:t>
            </a:r>
            <a:br>
              <a:rPr sz="1700" dirty="0">
                <a:solidFill>
                  <a:srgbClr val="1E2D3C"/>
                </a:solidFill>
                <a:latin typeface="Aptos"/>
              </a:rPr>
            </a:br>
            <a:r>
              <a:rPr sz="1700" dirty="0">
                <a:solidFill>
                  <a:srgbClr val="1E2D3C"/>
                </a:solidFill>
                <a:latin typeface="Aptos"/>
              </a:rPr>
              <a:t>• The current dataset contains 100,000 recipe records for large-scale testing.</a:t>
            </a:r>
            <a:br>
              <a:rPr sz="1700" dirty="0">
                <a:solidFill>
                  <a:srgbClr val="1E2D3C"/>
                </a:solidFill>
                <a:latin typeface="Aptos"/>
              </a:rPr>
            </a:br>
            <a:r>
              <a:rPr sz="1700" dirty="0">
                <a:solidFill>
                  <a:srgbClr val="1E2D3C"/>
                </a:solidFill>
                <a:latin typeface="Aptos"/>
              </a:rPr>
              <a:t>• A Java Swing interface provides a simple desktop environment for recipe search and recommendation.</a:t>
            </a:r>
            <a:br>
              <a:rPr sz="1700" dirty="0">
                <a:solidFill>
                  <a:srgbClr val="1E2D3C"/>
                </a:solidFill>
                <a:latin typeface="Aptos"/>
              </a:rPr>
            </a:br>
            <a:r>
              <a:rPr sz="1700" dirty="0">
                <a:solidFill>
                  <a:srgbClr val="1E2D3C"/>
                </a:solidFill>
                <a:latin typeface="Aptos"/>
              </a:rPr>
              <a:t>• Multiple DSA techniques are integrated to support exact search, prefix search, fuzzy matching and ingredient-based operations.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417320"/>
            <a:ext cx="5120640" cy="4480560"/>
          </a:xfrm>
          <a:prstGeom prst="roundRect">
            <a:avLst/>
          </a:prstGeom>
          <a:solidFill>
            <a:srgbClr val="F8F8F8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r>
              <a:rPr sz="1700" dirty="0">
                <a:solidFill>
                  <a:srgbClr val="1E2D3C"/>
                </a:solidFill>
                <a:latin typeface="Aptos"/>
              </a:rPr>
              <a:t>Key Features</a:t>
            </a:r>
            <a:br>
              <a:rPr sz="1700" dirty="0">
                <a:solidFill>
                  <a:srgbClr val="1E2D3C"/>
                </a:solidFill>
                <a:latin typeface="Aptos"/>
              </a:rPr>
            </a:br>
            <a:br>
              <a:rPr sz="1700" dirty="0">
                <a:solidFill>
                  <a:srgbClr val="1E2D3C"/>
                </a:solidFill>
                <a:latin typeface="Aptos"/>
              </a:rPr>
            </a:br>
            <a:r>
              <a:rPr sz="1700" dirty="0">
                <a:solidFill>
                  <a:srgbClr val="1E2D3C"/>
                </a:solidFill>
                <a:latin typeface="Aptos"/>
              </a:rPr>
              <a:t>• Trie-based autocomplete provides prefix suggestions while typing.</a:t>
            </a:r>
            <a:br>
              <a:rPr sz="1700" dirty="0">
                <a:solidFill>
                  <a:srgbClr val="1E2D3C"/>
                </a:solidFill>
                <a:latin typeface="Aptos"/>
              </a:rPr>
            </a:br>
            <a:r>
              <a:rPr sz="1700" dirty="0">
                <a:solidFill>
                  <a:srgbClr val="1E2D3C"/>
                </a:solidFill>
                <a:latin typeface="Aptos"/>
              </a:rPr>
              <a:t>• Naive, KMP, Rabin-Karp and Aho-</a:t>
            </a:r>
            <a:r>
              <a:rPr sz="1700" dirty="0" err="1">
                <a:solidFill>
                  <a:srgbClr val="1E2D3C"/>
                </a:solidFill>
                <a:latin typeface="Aptos"/>
              </a:rPr>
              <a:t>Corasick</a:t>
            </a:r>
            <a:r>
              <a:rPr sz="1700" dirty="0">
                <a:solidFill>
                  <a:srgbClr val="1E2D3C"/>
                </a:solidFill>
                <a:latin typeface="Aptos"/>
              </a:rPr>
              <a:t> support pattern matching.</a:t>
            </a:r>
            <a:br>
              <a:rPr sz="1700" dirty="0">
                <a:solidFill>
                  <a:srgbClr val="1E2D3C"/>
                </a:solidFill>
                <a:latin typeface="Aptos"/>
              </a:rPr>
            </a:br>
            <a:r>
              <a:rPr sz="1700" dirty="0">
                <a:solidFill>
                  <a:srgbClr val="1E2D3C"/>
                </a:solidFill>
                <a:latin typeface="Aptos"/>
              </a:rPr>
              <a:t>• </a:t>
            </a:r>
            <a:r>
              <a:rPr sz="1700" dirty="0" err="1">
                <a:solidFill>
                  <a:srgbClr val="1E2D3C"/>
                </a:solidFill>
                <a:latin typeface="Aptos"/>
              </a:rPr>
              <a:t>Levenshtein</a:t>
            </a:r>
            <a:r>
              <a:rPr sz="1700" dirty="0">
                <a:solidFill>
                  <a:srgbClr val="1E2D3C"/>
                </a:solidFill>
                <a:latin typeface="Aptos"/>
              </a:rPr>
              <a:t> Edit Distance supports fuzzy search and similarity calculation.</a:t>
            </a:r>
            <a:br>
              <a:rPr sz="1700" dirty="0">
                <a:solidFill>
                  <a:srgbClr val="1E2D3C"/>
                </a:solidFill>
                <a:latin typeface="Aptos"/>
              </a:rPr>
            </a:br>
            <a:r>
              <a:rPr sz="1700" dirty="0">
                <a:solidFill>
                  <a:srgbClr val="1E2D3C"/>
                </a:solidFill>
                <a:latin typeface="Aptos"/>
              </a:rPr>
              <a:t>• Bipartite matching supports ingredient-based recipe retrieval.</a:t>
            </a:r>
            <a:br>
              <a:rPr sz="1700" dirty="0">
                <a:solidFill>
                  <a:srgbClr val="1E2D3C"/>
                </a:solidFill>
                <a:latin typeface="Aptos"/>
              </a:rPr>
            </a:br>
            <a:r>
              <a:rPr sz="1700" dirty="0">
                <a:solidFill>
                  <a:srgbClr val="1E2D3C"/>
                </a:solidFill>
                <a:latin typeface="Aptos"/>
              </a:rPr>
              <a:t>• Greedy Set Cover supports ingredient coverage.</a:t>
            </a:r>
            <a:br>
              <a:rPr sz="1700" dirty="0">
                <a:solidFill>
                  <a:srgbClr val="1E2D3C"/>
                </a:solidFill>
                <a:latin typeface="Aptos"/>
              </a:rPr>
            </a:br>
            <a:r>
              <a:rPr sz="1700" dirty="0">
                <a:solidFill>
                  <a:srgbClr val="1E2D3C"/>
                </a:solidFill>
                <a:latin typeface="Aptos"/>
              </a:rPr>
              <a:t>• Randomized recommendation and parallel similarity processing are included.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BE0000"/>
                </a:solidFill>
                <a:latin typeface="Aptos"/>
              </a:rPr>
              <a:t>Literature Survey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5486400" cy="4251960"/>
          </a:xfrm>
          <a:prstGeom prst="roundRect">
            <a:avLst/>
          </a:prstGeom>
          <a:solidFill>
            <a:srgbClr val="F8F8F8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r>
              <a:rPr sz="1700" dirty="0">
                <a:solidFill>
                  <a:srgbClr val="1E2D3C"/>
                </a:solidFill>
                <a:latin typeface="Aptos"/>
              </a:rPr>
              <a:t>Pattern Matching</a:t>
            </a:r>
            <a:br>
              <a:rPr sz="1700" dirty="0">
                <a:solidFill>
                  <a:srgbClr val="1E2D3C"/>
                </a:solidFill>
                <a:latin typeface="Aptos"/>
              </a:rPr>
            </a:br>
            <a:br>
              <a:rPr sz="1700" dirty="0">
                <a:solidFill>
                  <a:srgbClr val="1E2D3C"/>
                </a:solidFill>
                <a:latin typeface="Aptos"/>
              </a:rPr>
            </a:br>
            <a:r>
              <a:rPr sz="1700" dirty="0">
                <a:solidFill>
                  <a:srgbClr val="1E2D3C"/>
                </a:solidFill>
                <a:latin typeface="Aptos"/>
              </a:rPr>
              <a:t>• Naive Pattern Matching – direct character comparison. [1]</a:t>
            </a:r>
            <a:br>
              <a:rPr sz="1700" dirty="0">
                <a:solidFill>
                  <a:srgbClr val="1E2D3C"/>
                </a:solidFill>
                <a:latin typeface="Aptos"/>
              </a:rPr>
            </a:br>
            <a:r>
              <a:rPr sz="1700" dirty="0">
                <a:solidFill>
                  <a:srgbClr val="1E2D3C"/>
                </a:solidFill>
                <a:latin typeface="Aptos"/>
              </a:rPr>
              <a:t>• KMP – uses the LPS array to avoid unnecessary comparisons. [1]</a:t>
            </a:r>
            <a:br>
              <a:rPr sz="1700" dirty="0">
                <a:solidFill>
                  <a:srgbClr val="1E2D3C"/>
                </a:solidFill>
                <a:latin typeface="Aptos"/>
              </a:rPr>
            </a:br>
            <a:r>
              <a:rPr sz="1700" dirty="0">
                <a:solidFill>
                  <a:srgbClr val="1E2D3C"/>
                </a:solidFill>
                <a:latin typeface="Aptos"/>
              </a:rPr>
              <a:t>• Rabin-Karp – hashing with a rolling hash. [2]</a:t>
            </a:r>
            <a:br>
              <a:rPr sz="1700" dirty="0">
                <a:solidFill>
                  <a:srgbClr val="1E2D3C"/>
                </a:solidFill>
                <a:latin typeface="Aptos"/>
              </a:rPr>
            </a:br>
            <a:r>
              <a:rPr sz="1700" dirty="0">
                <a:solidFill>
                  <a:srgbClr val="1E2D3C"/>
                </a:solidFill>
                <a:latin typeface="Aptos"/>
              </a:rPr>
              <a:t>• Aho-</a:t>
            </a:r>
            <a:r>
              <a:rPr sz="1700" dirty="0" err="1">
                <a:solidFill>
                  <a:srgbClr val="1E2D3C"/>
                </a:solidFill>
                <a:latin typeface="Aptos"/>
              </a:rPr>
              <a:t>Corasick</a:t>
            </a:r>
            <a:r>
              <a:rPr sz="1700" dirty="0">
                <a:solidFill>
                  <a:srgbClr val="1E2D3C"/>
                </a:solidFill>
                <a:latin typeface="Aptos"/>
              </a:rPr>
              <a:t> – Trie-based multi-pattern matching with failure links. [3]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92327" y="1303020"/>
            <a:ext cx="5120640" cy="4251960"/>
          </a:xfrm>
          <a:prstGeom prst="roundRect">
            <a:avLst/>
          </a:prstGeom>
          <a:solidFill>
            <a:srgbClr val="F8F8F8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r>
              <a:rPr sz="1700" dirty="0">
                <a:solidFill>
                  <a:srgbClr val="1E2D3C"/>
                </a:solidFill>
                <a:latin typeface="Aptos"/>
              </a:rPr>
              <a:t>Search &amp; Optimization</a:t>
            </a:r>
            <a:br>
              <a:rPr sz="1700" dirty="0">
                <a:solidFill>
                  <a:srgbClr val="1E2D3C"/>
                </a:solidFill>
                <a:latin typeface="Aptos"/>
              </a:rPr>
            </a:br>
            <a:br>
              <a:rPr sz="1700" dirty="0">
                <a:solidFill>
                  <a:srgbClr val="1E2D3C"/>
                </a:solidFill>
                <a:latin typeface="Aptos"/>
              </a:rPr>
            </a:br>
            <a:r>
              <a:rPr sz="1700" dirty="0">
                <a:solidFill>
                  <a:srgbClr val="1E2D3C"/>
                </a:solidFill>
                <a:latin typeface="Aptos"/>
              </a:rPr>
              <a:t>• Trie – prefix search and autocomplete. [4]</a:t>
            </a:r>
            <a:br>
              <a:rPr sz="1700" dirty="0">
                <a:solidFill>
                  <a:srgbClr val="1E2D3C"/>
                </a:solidFill>
                <a:latin typeface="Aptos"/>
              </a:rPr>
            </a:br>
            <a:r>
              <a:rPr sz="1700" dirty="0">
                <a:solidFill>
                  <a:srgbClr val="1E2D3C"/>
                </a:solidFill>
                <a:latin typeface="Aptos"/>
              </a:rPr>
              <a:t>• </a:t>
            </a:r>
            <a:r>
              <a:rPr sz="1700" dirty="0" err="1">
                <a:solidFill>
                  <a:srgbClr val="1E2D3C"/>
                </a:solidFill>
                <a:latin typeface="Aptos"/>
              </a:rPr>
              <a:t>Levenshtein</a:t>
            </a:r>
            <a:r>
              <a:rPr sz="1700" dirty="0">
                <a:solidFill>
                  <a:srgbClr val="1E2D3C"/>
                </a:solidFill>
                <a:latin typeface="Aptos"/>
              </a:rPr>
              <a:t> Distance – edit-based similarity. [5]</a:t>
            </a:r>
            <a:br>
              <a:rPr sz="1700" dirty="0">
                <a:solidFill>
                  <a:srgbClr val="1E2D3C"/>
                </a:solidFill>
                <a:latin typeface="Aptos"/>
              </a:rPr>
            </a:br>
            <a:r>
              <a:rPr sz="1700" dirty="0">
                <a:solidFill>
                  <a:srgbClr val="1E2D3C"/>
                </a:solidFill>
                <a:latin typeface="Aptos"/>
              </a:rPr>
              <a:t>• Bipartite Matching – ingredient-to-recipe matching. [6]</a:t>
            </a:r>
            <a:br>
              <a:rPr sz="1700" dirty="0">
                <a:solidFill>
                  <a:srgbClr val="1E2D3C"/>
                </a:solidFill>
                <a:latin typeface="Aptos"/>
              </a:rPr>
            </a:br>
            <a:r>
              <a:rPr sz="1700" dirty="0">
                <a:solidFill>
                  <a:srgbClr val="1E2D3C"/>
                </a:solidFill>
                <a:latin typeface="Aptos"/>
              </a:rPr>
              <a:t>• Greedy Set Cover – ingredient coverage.</a:t>
            </a:r>
            <a:br>
              <a:rPr sz="1700" dirty="0">
                <a:solidFill>
                  <a:srgbClr val="1E2D3C"/>
                </a:solidFill>
                <a:latin typeface="Aptos"/>
              </a:rPr>
            </a:br>
            <a:r>
              <a:rPr sz="1700" dirty="0">
                <a:solidFill>
                  <a:srgbClr val="1E2D3C"/>
                </a:solidFill>
                <a:latin typeface="Aptos"/>
              </a:rPr>
              <a:t>• Randomized recommendation – random recipe selection.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7150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/>
              <a:t>Numbered references for the surveyed techniques are listed on the final References slide.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60072" y="29269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BE0000"/>
                </a:solidFill>
                <a:latin typeface="Aptos"/>
              </a:rPr>
              <a:t>Problem Statement and Objectives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5120640" cy="4389120"/>
          </a:xfrm>
          <a:prstGeom prst="roundRect">
            <a:avLst/>
          </a:prstGeom>
          <a:solidFill>
            <a:srgbClr val="F8F8F8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700" b="0" dirty="0">
                <a:solidFill>
                  <a:srgbClr val="1E2D3C"/>
                </a:solidFill>
                <a:latin typeface="Aptos"/>
              </a:rPr>
              <a:t>Problem Statement</a:t>
            </a:r>
            <a:br>
              <a:rPr dirty="0"/>
            </a:br>
            <a:br>
              <a:rPr dirty="0"/>
            </a:br>
            <a:r>
              <a:rPr sz="1700" b="0" dirty="0">
                <a:solidFill>
                  <a:srgbClr val="1E2D3C"/>
                </a:solidFill>
                <a:latin typeface="Aptos"/>
              </a:rPr>
              <a:t>• Exact search alone is limited for partial names, case variations and spelling differences.</a:t>
            </a:r>
            <a:br>
              <a:rPr dirty="0"/>
            </a:br>
            <a:r>
              <a:rPr sz="1700" b="0" dirty="0">
                <a:solidFill>
                  <a:srgbClr val="1E2D3C"/>
                </a:solidFill>
                <a:latin typeface="Aptos"/>
              </a:rPr>
              <a:t>• Users may also need recipes based on available ingredients.</a:t>
            </a:r>
            <a:br>
              <a:rPr dirty="0"/>
            </a:br>
            <a:r>
              <a:rPr sz="1700" b="0" dirty="0">
                <a:solidFill>
                  <a:srgbClr val="1E2D3C"/>
                </a:solidFill>
                <a:latin typeface="Aptos"/>
              </a:rPr>
              <a:t>• The system must remain usable with a large 100,000-record corpus.</a:t>
            </a:r>
            <a:br>
              <a:rPr dirty="0"/>
            </a:br>
            <a:r>
              <a:rPr sz="1700" b="0" dirty="0">
                <a:solidFill>
                  <a:srgbClr val="1E2D3C"/>
                </a:solidFill>
                <a:latin typeface="Aptos"/>
              </a:rPr>
              <a:t>• A practical solution should combine efficient DSA techniques with a simple user interface.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1417320"/>
            <a:ext cx="5120640" cy="4389120"/>
          </a:xfrm>
          <a:prstGeom prst="roundRect">
            <a:avLst/>
          </a:prstGeom>
          <a:solidFill>
            <a:srgbClr val="F8F8F8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600" b="0">
                <a:solidFill>
                  <a:srgbClr val="1E2D3C"/>
                </a:solidFill>
                <a:latin typeface="Aptos"/>
              </a:rPr>
              <a:t>Objectives</a:t>
            </a:r>
            <a:br/>
            <a:br/>
            <a:r>
              <a:rPr sz="1600" b="0">
                <a:solidFill>
                  <a:srgbClr val="1E2D3C"/>
                </a:solidFill>
                <a:latin typeface="Aptos"/>
              </a:rPr>
              <a:t>• Implement Naive, KMP, Rabin-Karp and Aho-Corasick.</a:t>
            </a:r>
            <a:br/>
            <a:r>
              <a:rPr sz="1600" b="0">
                <a:solidFill>
                  <a:srgbClr val="1E2D3C"/>
                </a:solidFill>
                <a:latin typeface="Aptos"/>
              </a:rPr>
              <a:t>• Provide Trie autocomplete and Levenshtein fuzzy search.</a:t>
            </a:r>
            <a:br/>
            <a:r>
              <a:rPr sz="1600" b="0">
                <a:solidFill>
                  <a:srgbClr val="1E2D3C"/>
                </a:solidFill>
                <a:latin typeface="Aptos"/>
              </a:rPr>
              <a:t>• Support ingredient matching using bipartite matching.</a:t>
            </a:r>
            <a:br/>
            <a:r>
              <a:rPr sz="1600" b="0">
                <a:solidFill>
                  <a:srgbClr val="1E2D3C"/>
                </a:solidFill>
                <a:latin typeface="Aptos"/>
              </a:rPr>
              <a:t>• Apply Greedy Set Cover for ingredient coverage.</a:t>
            </a:r>
            <a:br/>
            <a:r>
              <a:rPr sz="1600" b="0">
                <a:solidFill>
                  <a:srgbClr val="1E2D3C"/>
                </a:solidFill>
                <a:latin typeface="Aptos"/>
              </a:rPr>
              <a:t>• Provide randomized recommendation and parallel similarity.</a:t>
            </a:r>
            <a:br/>
            <a:r>
              <a:rPr sz="1600" b="0">
                <a:solidFill>
                  <a:srgbClr val="1E2D3C"/>
                </a:solidFill>
                <a:latin typeface="Aptos"/>
              </a:rPr>
              <a:t>• Test the application with 100,000 recipe records.</a:t>
            </a:r>
          </a:p>
        </p:txBody>
      </p:sp>
    </p:spTree>
    <p:extLst>
      <p:ext uri="{BB962C8B-B14F-4D97-AF65-F5344CB8AC3E}">
        <p14:creationId xmlns:p14="http://schemas.microsoft.com/office/powerpoint/2010/main" val="3441026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BE0000"/>
                </a:solidFill>
                <a:latin typeface="Aptos"/>
              </a:rPr>
              <a:t>Flow Chart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749039" y="1234440"/>
            <a:ext cx="4572000" cy="384048"/>
          </a:xfrm>
          <a:prstGeom prst="roundRect">
            <a:avLst/>
          </a:prstGeom>
          <a:solidFill>
            <a:srgbClr val="F5F8FA"/>
          </a:solidFill>
          <a:ln>
            <a:solidFill>
              <a:srgbClr val="648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>
                <a:solidFill>
                  <a:srgbClr val="1E2D3C"/>
                </a:solidFill>
                <a:latin typeface="Aptos"/>
              </a:rPr>
              <a:t>Start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97880" y="1581912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5A5A5A"/>
                </a:solidFill>
                <a:latin typeface="Aptos"/>
              </a:rPr>
              <a:t>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49039" y="1737360"/>
            <a:ext cx="4572000" cy="384048"/>
          </a:xfrm>
          <a:prstGeom prst="roundRect">
            <a:avLst/>
          </a:prstGeom>
          <a:solidFill>
            <a:srgbClr val="F5F8FA"/>
          </a:solidFill>
          <a:ln>
            <a:solidFill>
              <a:srgbClr val="648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>
                <a:solidFill>
                  <a:srgbClr val="1E2D3C"/>
                </a:solidFill>
                <a:latin typeface="Aptos"/>
              </a:rPr>
              <a:t>Load 100,000 recipe records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97880" y="2084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5A5A5A"/>
                </a:solidFill>
                <a:latin typeface="Aptos"/>
              </a:rPr>
              <a:t>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49039" y="2240280"/>
            <a:ext cx="4572000" cy="384048"/>
          </a:xfrm>
          <a:prstGeom prst="roundRect">
            <a:avLst/>
          </a:prstGeom>
          <a:solidFill>
            <a:srgbClr val="F5F8FA"/>
          </a:solidFill>
          <a:ln>
            <a:solidFill>
              <a:srgbClr val="648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>
                <a:solidFill>
                  <a:srgbClr val="1E2D3C"/>
                </a:solidFill>
                <a:latin typeface="Aptos"/>
              </a:rPr>
              <a:t>Build Trie and search structures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2587752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5A5A5A"/>
                </a:solidFill>
                <a:latin typeface="Aptos"/>
              </a:rPr>
              <a:t>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49039" y="2743200"/>
            <a:ext cx="4572000" cy="384048"/>
          </a:xfrm>
          <a:prstGeom prst="roundRect">
            <a:avLst/>
          </a:prstGeom>
          <a:solidFill>
            <a:srgbClr val="F5F8FA"/>
          </a:solidFill>
          <a:ln>
            <a:solidFill>
              <a:srgbClr val="648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>
                <a:solidFill>
                  <a:srgbClr val="1E2D3C"/>
                </a:solidFill>
                <a:latin typeface="Aptos"/>
              </a:rPr>
              <a:t>User enters query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97880" y="3090672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5A5A5A"/>
                </a:solidFill>
                <a:latin typeface="Aptos"/>
              </a:rPr>
              <a:t>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49039" y="3246120"/>
            <a:ext cx="4572000" cy="384048"/>
          </a:xfrm>
          <a:prstGeom prst="roundRect">
            <a:avLst/>
          </a:prstGeom>
          <a:solidFill>
            <a:srgbClr val="F5F8FA"/>
          </a:solidFill>
          <a:ln>
            <a:solidFill>
              <a:srgbClr val="648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>
                <a:solidFill>
                  <a:srgbClr val="1E2D3C"/>
                </a:solidFill>
                <a:latin typeface="Aptos"/>
              </a:rPr>
              <a:t>Autocomplete / query handling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7880" y="359359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5A5A5A"/>
                </a:solidFill>
                <a:latin typeface="Aptos"/>
              </a:rP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49039" y="3749039"/>
            <a:ext cx="4572000" cy="384048"/>
          </a:xfrm>
          <a:prstGeom prst="roundRect">
            <a:avLst/>
          </a:prstGeom>
          <a:solidFill>
            <a:srgbClr val="F5F8FA"/>
          </a:solidFill>
          <a:ln>
            <a:solidFill>
              <a:srgbClr val="648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>
                <a:solidFill>
                  <a:srgbClr val="1E2D3C"/>
                </a:solidFill>
                <a:latin typeface="Aptos"/>
              </a:rPr>
              <a:t>Exact / pattern 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97880" y="409651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5A5A5A"/>
                </a:solidFill>
                <a:latin typeface="Aptos"/>
              </a:rP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49039" y="4251960"/>
            <a:ext cx="4572000" cy="384048"/>
          </a:xfrm>
          <a:prstGeom prst="roundRect">
            <a:avLst/>
          </a:prstGeom>
          <a:solidFill>
            <a:srgbClr val="F5F8FA"/>
          </a:solidFill>
          <a:ln>
            <a:solidFill>
              <a:srgbClr val="648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>
                <a:solidFill>
                  <a:srgbClr val="1E2D3C"/>
                </a:solidFill>
                <a:latin typeface="Aptos"/>
              </a:rPr>
              <a:t>Fuzzy search + similarity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97880" y="4599432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5A5A5A"/>
                </a:solidFill>
                <a:latin typeface="Aptos"/>
              </a:rPr>
              <a:t>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49039" y="4754880"/>
            <a:ext cx="4572000" cy="384048"/>
          </a:xfrm>
          <a:prstGeom prst="roundRect">
            <a:avLst/>
          </a:prstGeom>
          <a:solidFill>
            <a:srgbClr val="F5F8FA"/>
          </a:solidFill>
          <a:ln>
            <a:solidFill>
              <a:srgbClr val="648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>
                <a:solidFill>
                  <a:srgbClr val="1E2D3C"/>
                </a:solidFill>
                <a:latin typeface="Aptos"/>
              </a:rPr>
              <a:t>Ingredient matching / Greedy coverage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7880" y="5102352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5A5A5A"/>
                </a:solidFill>
                <a:latin typeface="Aptos"/>
              </a:rPr>
              <a:t>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49039" y="5257800"/>
            <a:ext cx="4572000" cy="384048"/>
          </a:xfrm>
          <a:prstGeom prst="roundRect">
            <a:avLst/>
          </a:prstGeom>
          <a:solidFill>
            <a:srgbClr val="F5F8FA"/>
          </a:solidFill>
          <a:ln>
            <a:solidFill>
              <a:srgbClr val="648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>
                <a:solidFill>
                  <a:srgbClr val="1E2D3C"/>
                </a:solidFill>
                <a:latin typeface="Aptos"/>
              </a:rPr>
              <a:t>Random recommendation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97880" y="5605272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5A5A5A"/>
                </a:solidFill>
                <a:latin typeface="Aptos"/>
              </a:rPr>
              <a:t>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49039" y="5760720"/>
            <a:ext cx="4572000" cy="384048"/>
          </a:xfrm>
          <a:prstGeom prst="roundRect">
            <a:avLst/>
          </a:prstGeom>
          <a:solidFill>
            <a:srgbClr val="F5F8FA"/>
          </a:solidFill>
          <a:ln>
            <a:solidFill>
              <a:srgbClr val="648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>
                <a:solidFill>
                  <a:srgbClr val="1E2D3C"/>
                </a:solidFill>
                <a:latin typeface="Aptos"/>
              </a:rPr>
              <a:t>Display result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kern="0" dirty="0">
                <a:solidFill>
                  <a:srgbClr val="BE0000"/>
                </a:solidFill>
                <a:effectLst/>
                <a:latin typeface="Aptos"/>
                <a:ea typeface="Times New Roman" panose="02020603050405020304" pitchFamily="18" charset="0"/>
              </a:rPr>
              <a:t>Results</a:t>
            </a:r>
            <a:endParaRPr lang="en-US" sz="3200" b="1" dirty="0">
              <a:solidFill>
                <a:schemeClr val="bg1"/>
              </a:solidFill>
            </a:endParaRPr>
          </a:p>
        </p:txBody>
      </p:sp>
      <p:pic>
        <p:nvPicPr>
          <p:cNvPr id="4" name="Picture 3" descr="gui_autocomplete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6400800" cy="421721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223760" y="1325880"/>
            <a:ext cx="4160520" cy="1143000"/>
          </a:xfrm>
          <a:prstGeom prst="roundRect">
            <a:avLst/>
          </a:prstGeom>
          <a:solidFill>
            <a:srgbClr val="F5F8FA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600" b="1">
                <a:solidFill>
                  <a:srgbClr val="1E2D3C"/>
                </a:solidFill>
                <a:latin typeface="Aptos"/>
              </a:rPr>
              <a:t>Java Swing GUI</a:t>
            </a:r>
            <a:br/>
            <a:r>
              <a:rPr sz="1600" b="1">
                <a:solidFill>
                  <a:srgbClr val="1E2D3C"/>
                </a:solidFill>
                <a:latin typeface="Aptos"/>
              </a:rPr>
              <a:t>Actual project interface</a:t>
            </a:r>
            <a:br/>
            <a:r>
              <a:rPr sz="1600" b="1">
                <a:solidFill>
                  <a:srgbClr val="1E2D3C"/>
                </a:solidFill>
                <a:latin typeface="Aptos"/>
              </a:rPr>
              <a:t>100,000 recipes loaded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0" y="2697480"/>
            <a:ext cx="4160520" cy="1325880"/>
          </a:xfrm>
          <a:prstGeom prst="roundRect">
            <a:avLst/>
          </a:prstGeom>
          <a:solidFill>
            <a:srgbClr val="F8F8F8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500" b="0">
                <a:solidFill>
                  <a:srgbClr val="1E2D3C"/>
                </a:solidFill>
                <a:latin typeface="Aptos"/>
              </a:rPr>
              <a:t>Live Autocomplete</a:t>
            </a:r>
            <a:br/>
            <a:r>
              <a:rPr sz="1500" b="0">
                <a:solidFill>
                  <a:srgbClr val="1E2D3C"/>
                </a:solidFill>
                <a:latin typeface="Aptos"/>
              </a:rPr>
              <a:t>• Prefix suggestions use the existing Trie.</a:t>
            </a:r>
            <a:br/>
            <a:r>
              <a:rPr sz="1500" b="0">
                <a:solidFill>
                  <a:srgbClr val="1E2D3C"/>
                </a:solidFill>
                <a:latin typeface="Aptos"/>
              </a:rPr>
              <a:t>• Suggestions are generated from data/recipes.txt.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0" y="4251960"/>
            <a:ext cx="4160520" cy="1417320"/>
          </a:xfrm>
          <a:prstGeom prst="roundRect">
            <a:avLst/>
          </a:prstGeom>
          <a:solidFill>
            <a:srgbClr val="F8F8F8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500" b="0">
                <a:solidFill>
                  <a:srgbClr val="1E2D3C"/>
                </a:solidFill>
                <a:latin typeface="Aptos"/>
              </a:rPr>
              <a:t>Search Workflow</a:t>
            </a:r>
            <a:br/>
            <a:r>
              <a:rPr sz="1500" b="0">
                <a:solidFill>
                  <a:srgbClr val="1E2D3C"/>
                </a:solidFill>
                <a:latin typeface="Aptos"/>
              </a:rPr>
              <a:t>• Exact search first.</a:t>
            </a:r>
            <a:br/>
            <a:r>
              <a:rPr sz="1500" b="0">
                <a:solidFill>
                  <a:srgbClr val="1E2D3C"/>
                </a:solidFill>
                <a:latin typeface="Aptos"/>
              </a:rPr>
              <a:t>• If exact search fails, parallel fuzzy search is used.</a:t>
            </a:r>
            <a:br/>
            <a:r>
              <a:rPr sz="1500" b="0">
                <a:solidFill>
                  <a:srgbClr val="1E2D3C"/>
                </a:solidFill>
                <a:latin typeface="Aptos"/>
              </a:rPr>
              <a:t>• Similarity threshold in GUI: 70%.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69480" y="585216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A5A5A"/>
                </a:solidFill>
                <a:latin typeface="Aptos"/>
              </a:rPr>
              <a:t>Screenshot: current RecipeFinderGUI.java</a:t>
            </a:r>
          </a:p>
        </p:txBody>
      </p:sp>
    </p:spTree>
    <p:extLst>
      <p:ext uri="{BB962C8B-B14F-4D97-AF65-F5344CB8AC3E}">
        <p14:creationId xmlns:p14="http://schemas.microsoft.com/office/powerpoint/2010/main" val="106092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47840" y="302403"/>
            <a:ext cx="687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kern="0" dirty="0">
                <a:solidFill>
                  <a:srgbClr val="BE0000"/>
                </a:solidFill>
                <a:effectLst/>
                <a:latin typeface="Aptos"/>
                <a:ea typeface="Times New Roman" panose="02020603050405020304" pitchFamily="18" charset="0"/>
              </a:rPr>
              <a:t>Hardware and Software requirements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120640" cy="4343400"/>
          </a:xfrm>
          <a:prstGeom prst="roundRect">
            <a:avLst/>
          </a:prstGeom>
          <a:solidFill>
            <a:srgbClr val="F8F8F8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800" b="0">
                <a:solidFill>
                  <a:srgbClr val="1E2D3C"/>
                </a:solidFill>
                <a:latin typeface="Aptos"/>
              </a:rPr>
              <a:t>Hardware</a:t>
            </a:r>
            <a:br/>
            <a:br/>
            <a:r>
              <a:rPr sz="1800" b="0">
                <a:solidFill>
                  <a:srgbClr val="1E2D3C"/>
                </a:solidFill>
                <a:latin typeface="Aptos"/>
              </a:rPr>
              <a:t>• Standard computer/laptop</a:t>
            </a:r>
            <a:br/>
            <a:r>
              <a:rPr sz="1800" b="0">
                <a:solidFill>
                  <a:srgbClr val="1E2D3C"/>
                </a:solidFill>
                <a:latin typeface="Aptos"/>
              </a:rPr>
              <a:t>• Minimum 4 GB RAM</a:t>
            </a:r>
            <a:br/>
            <a:r>
              <a:rPr sz="1800" b="0">
                <a:solidFill>
                  <a:srgbClr val="1E2D3C"/>
                </a:solidFill>
                <a:latin typeface="Aptos"/>
              </a:rPr>
              <a:t>• Keyboard and display</a:t>
            </a:r>
            <a:br/>
            <a:r>
              <a:rPr sz="1800" b="0">
                <a:solidFill>
                  <a:srgbClr val="1E2D3C"/>
                </a:solidFill>
                <a:latin typeface="Aptos"/>
              </a:rPr>
              <a:t>• Basic storage for source code and dataset</a:t>
            </a:r>
            <a:br/>
            <a:r>
              <a:rPr sz="1800" b="0">
                <a:solidFill>
                  <a:srgbClr val="1E2D3C"/>
                </a:solidFill>
                <a:latin typeface="Aptos"/>
              </a:rPr>
              <a:t>• No special hardware required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417320"/>
            <a:ext cx="5120640" cy="4343400"/>
          </a:xfrm>
          <a:prstGeom prst="roundRect">
            <a:avLst/>
          </a:prstGeom>
          <a:solidFill>
            <a:srgbClr val="F8F8F8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700" b="0">
                <a:solidFill>
                  <a:srgbClr val="1E2D3C"/>
                </a:solidFill>
                <a:latin typeface="Aptos"/>
              </a:rPr>
              <a:t>Software</a:t>
            </a:r>
            <a:br/>
            <a:br/>
            <a:r>
              <a:rPr sz="1700" b="0">
                <a:solidFill>
                  <a:srgbClr val="1E2D3C"/>
                </a:solidFill>
                <a:latin typeface="Aptos"/>
              </a:rPr>
              <a:t>• Java Development Kit (JDK)</a:t>
            </a:r>
            <a:br/>
            <a:r>
              <a:rPr sz="1700" b="0">
                <a:solidFill>
                  <a:srgbClr val="1E2D3C"/>
                </a:solidFill>
                <a:latin typeface="Aptos"/>
              </a:rPr>
              <a:t>• Java Swing</a:t>
            </a:r>
            <a:br/>
            <a:r>
              <a:rPr sz="1700" b="0">
                <a:solidFill>
                  <a:srgbClr val="1E2D3C"/>
                </a:solidFill>
                <a:latin typeface="Aptos"/>
              </a:rPr>
              <a:t>• VS Code / IntelliJ IDEA / Eclipse</a:t>
            </a:r>
            <a:br/>
            <a:r>
              <a:rPr sz="1700" b="0">
                <a:solidFill>
                  <a:srgbClr val="1E2D3C"/>
                </a:solidFill>
                <a:latin typeface="Aptos"/>
              </a:rPr>
              <a:t>• Git and GitHub</a:t>
            </a:r>
            <a:br/>
            <a:r>
              <a:rPr sz="1700" b="0">
                <a:solidFill>
                  <a:srgbClr val="1E2D3C"/>
                </a:solidFill>
                <a:latin typeface="Aptos"/>
              </a:rPr>
              <a:t>• Windows / Linux / macOS</a:t>
            </a:r>
            <a:br/>
            <a:r>
              <a:rPr sz="1700" b="0">
                <a:solidFill>
                  <a:srgbClr val="1E2D3C"/>
                </a:solidFill>
                <a:latin typeface="Aptos"/>
              </a:rPr>
              <a:t>• Dataset: data/recipes.txt</a:t>
            </a:r>
            <a:br/>
            <a:r>
              <a:rPr sz="1700" b="0">
                <a:solidFill>
                  <a:srgbClr val="1E2D3C"/>
                </a:solidFill>
                <a:latin typeface="Aptos"/>
              </a:rPr>
              <a:t>• Current dataset size: 100,000 records</a:t>
            </a:r>
          </a:p>
        </p:txBody>
      </p:sp>
    </p:spTree>
    <p:extLst>
      <p:ext uri="{BB962C8B-B14F-4D97-AF65-F5344CB8AC3E}">
        <p14:creationId xmlns:p14="http://schemas.microsoft.com/office/powerpoint/2010/main" val="2292750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660072" y="18790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BE0000"/>
                </a:solidFill>
                <a:latin typeface="Aptos"/>
              </a:rPr>
              <a:t>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17320"/>
            <a:ext cx="10241280" cy="4480560"/>
          </a:xfrm>
          <a:prstGeom prst="roundRect">
            <a:avLst/>
          </a:prstGeom>
          <a:solidFill>
            <a:srgbClr val="F8F8F8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900" b="0">
                <a:solidFill>
                  <a:srgbClr val="1E2D3C"/>
                </a:solidFill>
                <a:latin typeface="Aptos"/>
              </a:rPr>
              <a:t>Conclusion</a:t>
            </a:r>
            <a:br/>
            <a:br/>
            <a:r>
              <a:rPr sz="1900" b="0">
                <a:solidFill>
                  <a:srgbClr val="1E2D3C"/>
                </a:solidFill>
                <a:latin typeface="Aptos"/>
              </a:rPr>
              <a:t>• Recipe Finder integrates multiple DSA techniques in one recipe-search application.</a:t>
            </a:r>
            <a:br/>
            <a:r>
              <a:rPr sz="1900" b="0">
                <a:solidFill>
                  <a:srgbClr val="1E2D3C"/>
                </a:solidFill>
                <a:latin typeface="Aptos"/>
              </a:rPr>
              <a:t>• Pattern matching is implemented using Naive, KMP, Rabin-Karp and Aho-Corasick.</a:t>
            </a:r>
            <a:br/>
            <a:r>
              <a:rPr sz="1900" b="0">
                <a:solidFill>
                  <a:srgbClr val="1E2D3C"/>
                </a:solidFill>
                <a:latin typeface="Aptos"/>
              </a:rPr>
              <a:t>• Trie-based autocomplete provides prefix suggestions through a normal search interface.</a:t>
            </a:r>
            <a:br/>
            <a:r>
              <a:rPr sz="1900" b="0">
                <a:solidFill>
                  <a:srgbClr val="1E2D3C"/>
                </a:solidFill>
                <a:latin typeface="Aptos"/>
              </a:rPr>
              <a:t>• Levenshtein Edit Distance and similarity calculation support fuzzy search.</a:t>
            </a:r>
            <a:br/>
            <a:r>
              <a:rPr sz="1900" b="0">
                <a:solidFill>
                  <a:srgbClr val="1E2D3C"/>
                </a:solidFill>
                <a:latin typeface="Aptos"/>
              </a:rPr>
              <a:t>• Bipartite matching supports ingredient-based retrieval.</a:t>
            </a:r>
            <a:br/>
            <a:r>
              <a:rPr sz="1900" b="0">
                <a:solidFill>
                  <a:srgbClr val="1E2D3C"/>
                </a:solidFill>
                <a:latin typeface="Aptos"/>
              </a:rPr>
              <a:t>• Greedy Set Cover supports ingredient coverage.</a:t>
            </a:r>
            <a:br/>
            <a:r>
              <a:rPr sz="1900" b="0">
                <a:solidFill>
                  <a:srgbClr val="1E2D3C"/>
                </a:solidFill>
                <a:latin typeface="Aptos"/>
              </a:rPr>
              <a:t>• Randomized recommendation and parallel similarity extend the search functionality.</a:t>
            </a:r>
            <a:br/>
            <a:r>
              <a:rPr sz="1900" b="0">
                <a:solidFill>
                  <a:srgbClr val="1E2D3C"/>
                </a:solidFill>
                <a:latin typeface="Aptos"/>
              </a:rPr>
              <a:t>• The current project operates on a 100,000-record recipe corpus and provides a Java Swing interface.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660072" y="15413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BE0000"/>
                </a:solidFill>
                <a:latin typeface="Aptos"/>
              </a:rPr>
              <a:t> Future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1417320"/>
            <a:ext cx="10058400" cy="4480560"/>
          </a:xfrm>
          <a:prstGeom prst="roundRect">
            <a:avLst/>
          </a:prstGeom>
          <a:solidFill>
            <a:srgbClr val="F8F8F8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900" b="0">
                <a:solidFill>
                  <a:srgbClr val="1E2D3C"/>
                </a:solidFill>
                <a:latin typeface="Aptos"/>
              </a:rPr>
              <a:t>Future Scope</a:t>
            </a:r>
            <a:br/>
            <a:br/>
            <a:r>
              <a:rPr sz="1900" b="0">
                <a:solidFill>
                  <a:srgbClr val="1E2D3C"/>
                </a:solidFill>
                <a:latin typeface="Aptos"/>
              </a:rPr>
              <a:t>• Improve search-result ranking and relevance scoring.</a:t>
            </a:r>
            <a:br/>
            <a:r>
              <a:rPr sz="1900" b="0">
                <a:solidFill>
                  <a:srgbClr val="1E2D3C"/>
                </a:solidFill>
                <a:latin typeface="Aptos"/>
              </a:rPr>
              <a:t>• Add advanced personalized recipe recommendations.</a:t>
            </a:r>
            <a:br/>
            <a:r>
              <a:rPr sz="1900" b="0">
                <a:solidFill>
                  <a:srgbClr val="1E2D3C"/>
                </a:solidFill>
                <a:latin typeface="Aptos"/>
              </a:rPr>
              <a:t>• Include nutritional information and user dietary preferences.</a:t>
            </a:r>
            <a:br/>
            <a:r>
              <a:rPr sz="1900" b="0">
                <a:solidFill>
                  <a:srgbClr val="1E2D3C"/>
                </a:solidFill>
                <a:latin typeface="Aptos"/>
              </a:rPr>
              <a:t>• Support larger and more diverse real-world recipe datasets.</a:t>
            </a:r>
            <a:br/>
            <a:r>
              <a:rPr sz="1900" b="0">
                <a:solidFill>
                  <a:srgbClr val="1E2D3C"/>
                </a:solidFill>
                <a:latin typeface="Aptos"/>
              </a:rPr>
              <a:t>• Add graph-based relationships between recipes and ingredients.</a:t>
            </a:r>
            <a:br/>
            <a:r>
              <a:rPr sz="1900" b="0">
                <a:solidFill>
                  <a:srgbClr val="1E2D3C"/>
                </a:solidFill>
                <a:latin typeface="Aptos"/>
              </a:rPr>
              <a:t>• Develop a graphical/web-based interface beyond the current Swing desktop GUI.</a:t>
            </a:r>
            <a:br/>
            <a:r>
              <a:rPr sz="1900" b="0">
                <a:solidFill>
                  <a:srgbClr val="1E2D3C"/>
                </a:solidFill>
                <a:latin typeface="Aptos"/>
              </a:rPr>
              <a:t>• Add automated performance benchmarking and larger test suites.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14400" y="16459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/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063240"/>
            <a:ext cx="10058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/>
            </a:pPr>
            <a:r>
              <a:rPr dirty="0"/>
              <a:t>[1] D. E. Knuth, J. H. Morris Jr., V. R. Pratt, “Fast Pattern Matching in Strings,” SIAM Journal on Computing, 6(2), 323–350, 1977. DOI: 10.1137/0206024.</a:t>
            </a:r>
          </a:p>
          <a:p>
            <a:pPr>
              <a:defRPr sz="1000"/>
            </a:pPr>
            <a:r>
              <a:rPr dirty="0"/>
              <a:t>[2] D. E. Knuth, J. H. Morris Jr., V. R. Pratt, “Fast Pattern Matching in Strings,” SIAM Journal on Computing, 1977. (KMP/LPS reference)</a:t>
            </a:r>
          </a:p>
          <a:p>
            <a:pPr>
              <a:defRPr sz="1000"/>
            </a:pPr>
            <a:r>
              <a:rPr dirty="0"/>
              <a:t>[3] R. M. Karp, M. O. Rabin, “Efficient Randomized Pattern-Matching Algorithms,” IBM Journal of Research and Development, 31(2), 249–260, 1987. DOI: 10.1147/rd.312.0249.</a:t>
            </a:r>
          </a:p>
          <a:p>
            <a:pPr>
              <a:defRPr sz="1000"/>
            </a:pPr>
            <a:r>
              <a:rPr dirty="0"/>
              <a:t>[4] A. V. Aho, M. J. </a:t>
            </a:r>
            <a:r>
              <a:rPr dirty="0" err="1"/>
              <a:t>Corasick</a:t>
            </a:r>
            <a:r>
              <a:rPr dirty="0"/>
              <a:t>, “Efficient String Matching: An Aid to Bibliographic Search,” Communications of the ACM, 18(6), 333–340, 1975. DOI: 10.1145/360825.360855.</a:t>
            </a:r>
          </a:p>
          <a:p>
            <a:pPr>
              <a:defRPr sz="1000"/>
            </a:pPr>
            <a:r>
              <a:rPr dirty="0"/>
              <a:t>[5] E. Fredkin, “Trie Memory,” Communications of the ACM, 3(9), 490–499, 1960. DOI: 10.1145/367390.367400.</a:t>
            </a:r>
          </a:p>
          <a:p>
            <a:pPr>
              <a:defRPr sz="1000"/>
            </a:pPr>
            <a:r>
              <a:rPr dirty="0"/>
              <a:t>[6] V. I. </a:t>
            </a:r>
            <a:r>
              <a:rPr dirty="0" err="1"/>
              <a:t>Levenshtein</a:t>
            </a:r>
            <a:r>
              <a:rPr dirty="0"/>
              <a:t>, “Binary Codes Capable of Correcting Deletions, Insertions, and Reversals,” Soviet Physics </a:t>
            </a:r>
            <a:r>
              <a:rPr dirty="0" err="1"/>
              <a:t>Doklady</a:t>
            </a:r>
            <a:r>
              <a:rPr dirty="0"/>
              <a:t>, 10, 707–710, 1966.</a:t>
            </a:r>
          </a:p>
          <a:p>
            <a:pPr>
              <a:defRPr sz="1000"/>
            </a:pPr>
            <a:r>
              <a:rPr dirty="0"/>
              <a:t>[7] J. E. Hopcroft, R. M. Karp, “An n^(5/2) Algorithm for Maximum Matchings in Bipartite Graphs,” SIAM Journal on Computing, 2(4), 225–231, 1973. DOI: 10.1137/0202019.</a:t>
            </a:r>
          </a:p>
          <a:p>
            <a:pPr algn="ctr"/>
            <a:br>
              <a:rPr dirty="0"/>
            </a:br>
            <a:r>
              <a:rPr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13543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1248</Words>
  <Application>Microsoft Office PowerPoint</Application>
  <PresentationFormat>Widescreen</PresentationFormat>
  <Paragraphs>68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SwamiRaghavendraPrasad Chelle</cp:lastModifiedBy>
  <cp:revision>21</cp:revision>
  <dcterms:created xsi:type="dcterms:W3CDTF">2024-08-29T05:25:00Z</dcterms:created>
  <dcterms:modified xsi:type="dcterms:W3CDTF">2026-10-02T04:25:12Z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FB2A1F042FC047C6B4D7E0BF0C20B2E9_13</vt:lpwstr>
  </property>
  <property fmtid="{D5CDD505-2E9C-101B-9397-08002B2CF9AE}" pid="3" name="KSOProductBuildVer">
    <vt:lpwstr>1033-12.2.0.23131</vt:lpwstr>
  </property>
</Properties>
</file>