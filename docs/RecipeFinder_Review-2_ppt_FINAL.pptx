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9" r:id="rId10"/>
    <p:sldId id="266" r:id="rId11"/>
    <p:sldId id="260" r:id="rId12"/>
    <p:sldId id="262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943" autoAdjust="0"/>
  </p:normalViewPr>
  <p:slideViewPr>
    <p:cSldViewPr snapToGrid="0">
      <p:cViewPr varScale="1">
        <p:scale>
          <a:sx n="81" d="100"/>
          <a:sy n="81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97F599-BCCA-4346-BE12-3951519F462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0E07AA-7781-4DEC-943F-49C12BF31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240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0E07AA-7781-4DEC-943F-49C12BF31C8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80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Recipe Finder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44471" y="3429000"/>
            <a:ext cx="5091008" cy="1811511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</a:t>
            </a:r>
          </a:p>
          <a:p>
            <a:r>
              <a:rPr lang="en-US" dirty="0">
                <a:solidFill>
                  <a:srgbClr val="0070C0"/>
                </a:solidFill>
              </a:rPr>
              <a:t>Monisha Raghini Chelle: 2520030537</a:t>
            </a:r>
          </a:p>
          <a:p>
            <a:r>
              <a:rPr lang="en-US" dirty="0">
                <a:solidFill>
                  <a:srgbClr val="0070C0"/>
                </a:solidFill>
              </a:rPr>
              <a:t>Shaik Sabiya Tabassum: 2520030502</a:t>
            </a:r>
          </a:p>
          <a:p>
            <a:r>
              <a:rPr lang="en-US" dirty="0">
                <a:solidFill>
                  <a:srgbClr val="0070C0"/>
                </a:solidFill>
              </a:rPr>
              <a:t>K. Siri Chandana : 2520030453</a:t>
            </a: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Dr. </a:t>
            </a:r>
            <a:r>
              <a:rPr lang="en-US" sz="1800" b="1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V.Sireesha</a:t>
            </a: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 Professor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Department of CSE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1EA467-06FF-6A4C-841B-7BDD66955C45}"/>
              </a:ext>
            </a:extLst>
          </p:cNvPr>
          <p:cNvSpPr txBox="1"/>
          <p:nvPr/>
        </p:nvSpPr>
        <p:spPr>
          <a:xfrm>
            <a:off x="2133599" y="2474260"/>
            <a:ext cx="8319247" cy="3034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  <a:defRPr sz="1800">
                <a:latin typeface="Calibri"/>
              </a:defRPr>
            </a:pPr>
            <a:r>
              <a:t>• Recipe Finder is a Java console application for searching a text-based recipe corpus.</a:t>
            </a:r>
          </a:p>
          <a:p>
            <a:pPr>
              <a:spcAft>
                <a:spcPts val="200"/>
              </a:spcAft>
              <a:defRPr sz="1800"/>
            </a:pPr>
            <a:r>
              <a:t>• Recipe data is stored in data/recipes.txt.</a:t>
            </a:r>
          </a:p>
          <a:p>
            <a:pPr>
              <a:spcAft>
                <a:spcPts val="200"/>
              </a:spcAft>
              <a:defRPr sz="1800"/>
            </a:pPr>
            <a:r>
              <a:t>• Pattern Matching uses the case-insensitive Naive Pattern Matching algorithm.</a:t>
            </a:r>
          </a:p>
          <a:p>
            <a:pPr>
              <a:spcAft>
                <a:spcPts val="200"/>
              </a:spcAft>
              <a:defRPr sz="1800"/>
            </a:pPr>
            <a:r>
              <a:t>• Fuzzy Search uses Levenshtein Edit Distance to handle small spelling mistakes.</a:t>
            </a:r>
          </a:p>
          <a:p>
            <a:pPr>
              <a:spcAft>
                <a:spcPts val="200"/>
              </a:spcAft>
              <a:defRPr sz="1800"/>
            </a:pPr>
            <a:r>
              <a:t>• Similarity is calculated as a percentage and the best matching recipe is selected.</a:t>
            </a:r>
          </a:p>
          <a:p>
            <a:pPr>
              <a:spcAft>
                <a:spcPts val="200"/>
              </a:spcAft>
              <a:defRPr sz="1800"/>
            </a:pPr>
            <a:r>
              <a:t>• A fuzzy match is accepted when the best score is at least 70%.</a:t>
            </a:r>
          </a:p>
          <a:p>
            <a:pPr>
              <a:spcAft>
                <a:spcPts val="200"/>
              </a:spcAft>
              <a:defRPr sz="1800"/>
            </a:pPr>
            <a:r>
              <a:t>• The complete recipe is displayed when a suitable match is found.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80CEAE-3847-1514-35E4-F50373ACDC61}"/>
              </a:ext>
            </a:extLst>
          </p:cNvPr>
          <p:cNvSpPr txBox="1"/>
          <p:nvPr/>
        </p:nvSpPr>
        <p:spPr>
          <a:xfrm>
            <a:off x="2253444" y="2242120"/>
            <a:ext cx="8767482" cy="2757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  <a:defRPr sz="1800">
                <a:latin typeface="Calibri"/>
              </a:defRPr>
            </a:pPr>
            <a:r>
              <a:t>• The user opens Recipe Finder and selects Pattern Matching or Fuzzy Search.</a:t>
            </a:r>
          </a:p>
          <a:p>
            <a:pPr>
              <a:spcAft>
                <a:spcPts val="200"/>
              </a:spcAft>
              <a:defRPr sz="1800"/>
            </a:pPr>
            <a:r>
              <a:t>• The user then enters a recipe name.</a:t>
            </a:r>
          </a:p>
          <a:p>
            <a:pPr>
              <a:spcAft>
                <a:spcPts val="200"/>
              </a:spcAft>
              <a:defRPr sz="1800"/>
            </a:pPr>
            <a:r>
              <a:t>• The program reads data/recipes.txt line by line.</a:t>
            </a:r>
          </a:p>
          <a:p>
            <a:pPr>
              <a:spcAft>
                <a:spcPts val="200"/>
              </a:spcAft>
              <a:defRPr sz="1800"/>
            </a:pPr>
            <a:r>
              <a:t>• Recipe headers are identified using the “Recipe:” prefix.</a:t>
            </a:r>
          </a:p>
          <a:p>
            <a:pPr>
              <a:spcAft>
                <a:spcPts val="200"/>
              </a:spcAft>
              <a:defRPr sz="1800"/>
            </a:pPr>
            <a:r>
              <a:t>• The recipe name is extracted from each recipe record.</a:t>
            </a:r>
          </a:p>
          <a:p>
            <a:pPr>
              <a:spcAft>
                <a:spcPts val="200"/>
              </a:spcAft>
              <a:defRPr sz="1800"/>
            </a:pPr>
            <a:r>
              <a:t>• Pattern Matching searches using the Naive algorithm.</a:t>
            </a:r>
          </a:p>
          <a:p>
            <a:pPr>
              <a:spcAft>
                <a:spcPts val="200"/>
              </a:spcAft>
              <a:defRPr sz="1800"/>
            </a:pPr>
            <a:r>
              <a:t>• Fuzzy Search compares recipe names using Levenshtein Distance and similarity.</a:t>
            </a:r>
          </a:p>
          <a:p>
            <a:pPr>
              <a:spcAft>
                <a:spcPts val="200"/>
              </a:spcAft>
              <a:defRPr sz="1800"/>
            </a:pPr>
            <a:r>
              <a:t>• The matching or closest complete recipe is displayed.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6784AD-02C7-B8E3-1A93-4E365E16A8C2}"/>
              </a:ext>
            </a:extLst>
          </p:cNvPr>
          <p:cNvSpPr txBox="1"/>
          <p:nvPr/>
        </p:nvSpPr>
        <p:spPr>
          <a:xfrm>
            <a:off x="2660072" y="1706772"/>
            <a:ext cx="8247530" cy="4929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  <a:defRPr sz="1800">
                <a:latin typeface="Calibri"/>
              </a:defRPr>
            </a:pPr>
            <a:r>
              <a:t>The implementation uses the following algorithm concepts:</a:t>
            </a:r>
          </a:p>
          <a:p>
            <a:pPr>
              <a:spcAft>
                <a:spcPts val="200"/>
              </a:spcAft>
              <a:defRPr sz="1800"/>
            </a:pPr>
            <a:endParaRPr/>
          </a:p>
          <a:p>
            <a:pPr>
              <a:spcAft>
                <a:spcPts val="200"/>
              </a:spcAft>
              <a:defRPr sz="1800"/>
            </a:pPr>
            <a:r>
              <a:t>1. Naive Pattern Matching</a:t>
            </a:r>
          </a:p>
          <a:p>
            <a:pPr>
              <a:spcAft>
                <a:spcPts val="200"/>
              </a:spcAft>
              <a:defRPr sz="1800"/>
            </a:pPr>
            <a:r>
              <a:t>   • Compares the search pattern with a recipe name character by character.</a:t>
            </a:r>
          </a:p>
          <a:p>
            <a:pPr>
              <a:spcAft>
                <a:spcPts val="200"/>
              </a:spcAft>
              <a:defRPr sz="1800"/>
            </a:pPr>
            <a:r>
              <a:t>   • Used for direct recipe-name searching.</a:t>
            </a:r>
          </a:p>
          <a:p>
            <a:pPr>
              <a:spcAft>
                <a:spcPts val="200"/>
              </a:spcAft>
              <a:defRPr sz="1800"/>
            </a:pPr>
            <a:endParaRPr/>
          </a:p>
          <a:p>
            <a:pPr>
              <a:spcAft>
                <a:spcPts val="200"/>
              </a:spcAft>
              <a:defRPr sz="1800"/>
            </a:pPr>
            <a:r>
              <a:t>2. Levenshtein Edit Distance</a:t>
            </a:r>
          </a:p>
          <a:p>
            <a:pPr>
              <a:spcAft>
                <a:spcPts val="200"/>
              </a:spcAft>
              <a:defRPr sz="1800"/>
            </a:pPr>
            <a:r>
              <a:t>   • Measures the number of insertions, deletions and substitutions needed to change one string into another.</a:t>
            </a:r>
          </a:p>
          <a:p>
            <a:pPr>
              <a:spcAft>
                <a:spcPts val="200"/>
              </a:spcAft>
              <a:defRPr sz="1800"/>
            </a:pPr>
            <a:r>
              <a:t>   • Used for fuzzy searching.</a:t>
            </a:r>
          </a:p>
          <a:p>
            <a:pPr>
              <a:spcAft>
                <a:spcPts val="200"/>
              </a:spcAft>
              <a:defRPr sz="1800"/>
            </a:pPr>
            <a:endParaRPr/>
          </a:p>
          <a:p>
            <a:pPr>
              <a:spcAft>
                <a:spcPts val="200"/>
              </a:spcAft>
              <a:defRPr sz="1800"/>
            </a:pPr>
            <a:r>
              <a:t>3. Similarity Calculation</a:t>
            </a:r>
          </a:p>
          <a:p>
            <a:pPr>
              <a:spcAft>
                <a:spcPts val="200"/>
              </a:spcAft>
              <a:defRPr sz="1800"/>
            </a:pPr>
            <a:r>
              <a:t>   • Converts edit distance into a percentage.</a:t>
            </a:r>
          </a:p>
          <a:p>
            <a:pPr>
              <a:spcAft>
                <a:spcPts val="200"/>
              </a:spcAft>
              <a:defRPr sz="1800"/>
            </a:pPr>
            <a:r>
              <a:t>   • Higher percentage means the two recipe names are more similar.</a:t>
            </a:r>
          </a:p>
          <a:p>
            <a:pPr>
              <a:spcAft>
                <a:spcPts val="200"/>
              </a:spcAft>
              <a:defRPr sz="1800"/>
            </a:pPr>
            <a:r>
              <a:t>   • The highest score is selected for fuzzy search.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D5A595-ED94-19DF-5B3A-1FF2AACF9C77}"/>
              </a:ext>
            </a:extLst>
          </p:cNvPr>
          <p:cNvSpPr txBox="1"/>
          <p:nvPr/>
        </p:nvSpPr>
        <p:spPr>
          <a:xfrm>
            <a:off x="2321858" y="2115671"/>
            <a:ext cx="8955741" cy="4007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  <a:defRPr sz="1800">
                <a:latin typeface="Calibri"/>
              </a:defRPr>
            </a:pPr>
            <a:r>
              <a:t>Problem Statement</a:t>
            </a:r>
          </a:p>
          <a:p>
            <a:pPr>
              <a:spcAft>
                <a:spcPts val="200"/>
              </a:spcAft>
              <a:defRPr sz="1800"/>
            </a:pPr>
            <a:r>
              <a:t>• Users may enter a recipe name with different letter cases or small spelling mistakes.</a:t>
            </a:r>
          </a:p>
          <a:p>
            <a:pPr>
              <a:spcAft>
                <a:spcPts val="200"/>
              </a:spcAft>
              <a:defRPr sz="1800"/>
            </a:pPr>
            <a:r>
              <a:t>• A single exact-search method is not sufficient for flexible recipe searching.</a:t>
            </a:r>
          </a:p>
          <a:p>
            <a:pPr>
              <a:spcAft>
                <a:spcPts val="200"/>
              </a:spcAft>
              <a:defRPr sz="1800"/>
            </a:pPr>
            <a:endParaRPr/>
          </a:p>
          <a:p>
            <a:pPr>
              <a:spcAft>
                <a:spcPts val="200"/>
              </a:spcAft>
              <a:defRPr sz="1800"/>
            </a:pPr>
            <a:r>
              <a:t>Objectives</a:t>
            </a:r>
          </a:p>
          <a:p>
            <a:pPr>
              <a:spcAft>
                <a:spcPts val="200"/>
              </a:spcAft>
              <a:defRPr sz="1800"/>
            </a:pPr>
            <a:r>
              <a:t>• Create and maintain the Git/GitHub project repository.</a:t>
            </a:r>
          </a:p>
          <a:p>
            <a:pPr>
              <a:spcAft>
                <a:spcPts val="200"/>
              </a:spcAft>
              <a:defRPr sz="1800"/>
            </a:pPr>
            <a:r>
              <a:t>• Store the recipe corpus and project files in an organized structure.</a:t>
            </a:r>
          </a:p>
          <a:p>
            <a:pPr>
              <a:spcAft>
                <a:spcPts val="200"/>
              </a:spcAft>
              <a:defRPr sz="1800"/>
            </a:pPr>
            <a:r>
              <a:t>• Implement Naive Pattern Matching for recipe-name search.</a:t>
            </a:r>
          </a:p>
          <a:p>
            <a:pPr>
              <a:spcAft>
                <a:spcPts val="200"/>
              </a:spcAft>
              <a:defRPr sz="1800"/>
            </a:pPr>
            <a:r>
              <a:t>• Implement Levenshtein Edit Distance for fuzzy comparison.</a:t>
            </a:r>
          </a:p>
          <a:p>
            <a:pPr>
              <a:spcAft>
                <a:spcPts val="200"/>
              </a:spcAft>
              <a:defRPr sz="1800"/>
            </a:pPr>
            <a:r>
              <a:t>• Calculate similarity percentage and select the closest recipe.</a:t>
            </a:r>
          </a:p>
          <a:p>
            <a:pPr>
              <a:spcAft>
                <a:spcPts val="200"/>
              </a:spcAft>
              <a:defRPr sz="1800"/>
            </a:pPr>
            <a:r>
              <a:t>• Display the complete recipe or “Recipe not found”.</a:t>
            </a:r>
          </a:p>
          <a:p>
            <a:pPr>
              <a:spcAft>
                <a:spcPts val="200"/>
              </a:spcAft>
              <a:defRPr sz="1800"/>
            </a:pPr>
            <a:r>
              <a:t>• Demonstrate the required Review-2 partial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168429"/>
            <a:ext cx="4719782" cy="57048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sp>
        <p:nvSpPr>
          <p:cNvPr id="5" name="AutoShape 2" descr="Recipe Finder Flowchart">
            <a:extLst>
              <a:ext uri="{FF2B5EF4-FFF2-40B4-BE49-F238E27FC236}">
                <a16:creationId xmlns:a16="http://schemas.microsoft.com/office/drawing/2014/main" id="{6CED921C-0029-AE45-A738-D6B7CDAA4E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45224"/>
            <a:ext cx="304800" cy="336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Recipe Finder Flowchart">
            <a:extLst>
              <a:ext uri="{FF2B5EF4-FFF2-40B4-BE49-F238E27FC236}">
                <a16:creationId xmlns:a16="http://schemas.microsoft.com/office/drawing/2014/main" id="{3094AE5A-F428-35D6-6AF5-27D2999337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397624"/>
            <a:ext cx="304800" cy="336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6" descr="Generated image: Recipe Finder Flowchart">
            <a:extLst>
              <a:ext uri="{FF2B5EF4-FFF2-40B4-BE49-F238E27FC236}">
                <a16:creationId xmlns:a16="http://schemas.microsoft.com/office/drawing/2014/main" id="{2AC70613-CAD5-7C6B-A3BA-2BF662546F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50024"/>
            <a:ext cx="304800" cy="336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DA4CE7-EEF4-BDD8-25CD-6FB9FF151C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804276"/>
            <a:ext cx="10287000" cy="58852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15605C-BD9A-ECED-04A9-784AA6994B20}"/>
              </a:ext>
            </a:extLst>
          </p:cNvPr>
          <p:cNvSpPr txBox="1"/>
          <p:nvPr/>
        </p:nvSpPr>
        <p:spPr>
          <a:xfrm>
            <a:off x="2660072" y="986529"/>
            <a:ext cx="8301317" cy="5678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rPr lang="en-US" dirty="0"/>
              <a:t>Implementation Results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rPr lang="en-US" dirty="0"/>
              <a:t>Pattern Matching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rPr lang="en-US" dirty="0"/>
              <a:t>• Cake → Complete recipe displayed.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rPr lang="en-US" dirty="0"/>
              <a:t>• Pasta → Complete recipe displayed.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rPr lang="en-US" dirty="0"/>
              <a:t>• Burger → Recipe not found.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rPr lang="en-US" dirty="0"/>
              <a:t>Fuzzy Search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rPr lang="en-US" dirty="0"/>
              <a:t>• </a:t>
            </a:r>
            <a:r>
              <a:rPr lang="en-US" dirty="0" err="1"/>
              <a:t>cak</a:t>
            </a:r>
            <a:r>
              <a:rPr lang="en-US" dirty="0"/>
              <a:t> → Closest Recipe: Cake; Similarity: 75.00%.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rPr lang="en-US" dirty="0"/>
              <a:t>• Pizza → Closest Recipe: Pizza; Similarity: 100.00%.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rPr lang="en-US" dirty="0"/>
              <a:t>Input Validation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rPr lang="en-US" dirty="0"/>
              <a:t>• Empty input → “Please enter a recipe name.”</a:t>
            </a:r>
          </a:p>
          <a:p>
            <a:pPr>
              <a:spcAft>
                <a:spcPts val="200"/>
              </a:spcAft>
              <a:defRPr sz="1800"/>
            </a:pPr>
            <a:r>
              <a:rPr dirty="0"/>
              <a:t>Repository Evidence</a:t>
            </a:r>
          </a:p>
          <a:p>
            <a:pPr>
              <a:spcAft>
                <a:spcPts val="200"/>
              </a:spcAft>
              <a:defRPr sz="1800"/>
            </a:pPr>
            <a:r>
              <a:rPr dirty="0"/>
              <a:t>• </a:t>
            </a:r>
            <a:r>
              <a:rPr dirty="0" err="1"/>
              <a:t>src</a:t>
            </a:r>
            <a:r>
              <a:rPr dirty="0"/>
              <a:t>/RecipeFinder.java</a:t>
            </a:r>
          </a:p>
          <a:p>
            <a:pPr>
              <a:spcAft>
                <a:spcPts val="200"/>
              </a:spcAft>
              <a:defRPr sz="1800"/>
            </a:pPr>
            <a:r>
              <a:rPr dirty="0"/>
              <a:t>• data/recipes.txt</a:t>
            </a:r>
          </a:p>
          <a:p>
            <a:pPr>
              <a:spcAft>
                <a:spcPts val="200"/>
              </a:spcAft>
              <a:defRPr sz="1800"/>
            </a:pPr>
            <a:r>
              <a:rPr dirty="0"/>
              <a:t>• README.md</a:t>
            </a:r>
          </a:p>
          <a:p>
            <a:pPr>
              <a:spcAft>
                <a:spcPts val="200"/>
              </a:spcAft>
              <a:defRPr sz="1800"/>
            </a:pPr>
            <a:r>
              <a:rPr dirty="0"/>
              <a:t>• results/ output screenshots</a:t>
            </a:r>
          </a:p>
          <a:p>
            <a:pPr>
              <a:spcAft>
                <a:spcPts val="200"/>
              </a:spcAft>
              <a:defRPr sz="1800"/>
            </a:pPr>
            <a:r>
              <a:rPr dirty="0"/>
              <a:t>• docs/ and reports/ project files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D4A9A4-48B5-4744-EC2E-5064A2439C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4" t="12648" r="48212" b="7734"/>
          <a:stretch>
            <a:fillRect/>
          </a:stretch>
        </p:blipFill>
        <p:spPr>
          <a:xfrm>
            <a:off x="123629" y="971550"/>
            <a:ext cx="4024165" cy="51149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CF17FC-E655-C8AF-9439-75FB6E0CC4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0" t="15676" r="39362" b="8411"/>
          <a:stretch>
            <a:fillRect/>
          </a:stretch>
        </p:blipFill>
        <p:spPr>
          <a:xfrm>
            <a:off x="4450532" y="971549"/>
            <a:ext cx="3722507" cy="51149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D0B987-A95D-7D54-FF47-02B9B4EDE2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83" r="51677"/>
          <a:stretch>
            <a:fillRect/>
          </a:stretch>
        </p:blipFill>
        <p:spPr>
          <a:xfrm>
            <a:off x="8475777" y="971549"/>
            <a:ext cx="2412460" cy="298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318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527D14-31CB-9A6B-A4B6-E92CD2A4DC23}"/>
              </a:ext>
            </a:extLst>
          </p:cNvPr>
          <p:cNvSpPr txBox="1"/>
          <p:nvPr/>
        </p:nvSpPr>
        <p:spPr>
          <a:xfrm>
            <a:off x="2659284" y="825623"/>
            <a:ext cx="8157882" cy="5973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  <a:defRPr sz="1800">
                <a:latin typeface="Calibri"/>
              </a:defRPr>
            </a:pPr>
            <a:r>
              <a:rPr dirty="0"/>
              <a:t>Hardware Requirements</a:t>
            </a:r>
          </a:p>
          <a:p>
            <a:pPr>
              <a:spcAft>
                <a:spcPts val="200"/>
              </a:spcAft>
              <a:defRPr sz="1800"/>
            </a:pPr>
            <a:r>
              <a:rPr dirty="0"/>
              <a:t>• Standard computer or laptop</a:t>
            </a:r>
          </a:p>
          <a:p>
            <a:pPr>
              <a:spcAft>
                <a:spcPts val="200"/>
              </a:spcAft>
              <a:defRPr sz="1800"/>
            </a:pPr>
            <a:r>
              <a:rPr dirty="0"/>
              <a:t>• Minimum 4 GB RAM</a:t>
            </a:r>
          </a:p>
          <a:p>
            <a:pPr>
              <a:spcAft>
                <a:spcPts val="200"/>
              </a:spcAft>
              <a:defRPr sz="1800"/>
            </a:pPr>
            <a:r>
              <a:rPr dirty="0"/>
              <a:t>• Keyboard and display</a:t>
            </a:r>
          </a:p>
          <a:p>
            <a:pPr>
              <a:spcAft>
                <a:spcPts val="200"/>
              </a:spcAft>
              <a:defRPr sz="1800"/>
            </a:pPr>
            <a:r>
              <a:rPr dirty="0"/>
              <a:t>• Basic storage for project files</a:t>
            </a:r>
          </a:p>
          <a:p>
            <a:pPr>
              <a:spcAft>
                <a:spcPts val="200"/>
              </a:spcAft>
              <a:defRPr sz="1800"/>
            </a:pPr>
            <a:r>
              <a:rPr dirty="0"/>
              <a:t>• No special hardware required</a:t>
            </a:r>
          </a:p>
          <a:p>
            <a:pPr>
              <a:spcAft>
                <a:spcPts val="200"/>
              </a:spcAft>
              <a:defRPr sz="1800"/>
            </a:pPr>
            <a:endParaRPr dirty="0"/>
          </a:p>
          <a:p>
            <a:pPr>
              <a:spcAft>
                <a:spcPts val="200"/>
              </a:spcAft>
              <a:defRPr sz="1800"/>
            </a:pPr>
            <a:r>
              <a:rPr dirty="0"/>
              <a:t>Software Requirements</a:t>
            </a:r>
          </a:p>
          <a:p>
            <a:pPr>
              <a:spcAft>
                <a:spcPts val="200"/>
              </a:spcAft>
              <a:defRPr sz="1800"/>
            </a:pPr>
            <a:r>
              <a:rPr dirty="0"/>
              <a:t>• Java Development Kit (JDK)</a:t>
            </a:r>
          </a:p>
          <a:p>
            <a:pPr>
              <a:spcAft>
                <a:spcPts val="200"/>
              </a:spcAft>
              <a:defRPr sz="1800"/>
            </a:pPr>
            <a:r>
              <a:rPr dirty="0"/>
              <a:t>• Visual Studio Code / IntelliJ IDEA / Eclipse</a:t>
            </a:r>
          </a:p>
          <a:p>
            <a:pPr>
              <a:spcAft>
                <a:spcPts val="200"/>
              </a:spcAft>
              <a:defRPr sz="1800"/>
            </a:pPr>
            <a:r>
              <a:rPr dirty="0"/>
              <a:t>• Git and GitHub</a:t>
            </a:r>
          </a:p>
          <a:p>
            <a:pPr>
              <a:spcAft>
                <a:spcPts val="200"/>
              </a:spcAft>
              <a:defRPr sz="1800"/>
            </a:pPr>
            <a:r>
              <a:rPr dirty="0"/>
              <a:t>• Windows / Linux / macOS</a:t>
            </a:r>
          </a:p>
          <a:p>
            <a:pPr>
              <a:spcAft>
                <a:spcPts val="200"/>
              </a:spcAft>
              <a:defRPr sz="1800"/>
            </a:pPr>
            <a:endParaRPr dirty="0"/>
          </a:p>
          <a:p>
            <a:pPr>
              <a:spcAft>
                <a:spcPts val="200"/>
              </a:spcAft>
              <a:defRPr sz="1800"/>
            </a:pPr>
            <a:r>
              <a:rPr dirty="0"/>
              <a:t>Project Repository Structure</a:t>
            </a:r>
          </a:p>
          <a:p>
            <a:pPr>
              <a:spcAft>
                <a:spcPts val="200"/>
              </a:spcAft>
              <a:defRPr sz="1800"/>
            </a:pPr>
            <a:r>
              <a:rPr dirty="0"/>
              <a:t>• </a:t>
            </a:r>
            <a:r>
              <a:rPr dirty="0" err="1"/>
              <a:t>src</a:t>
            </a:r>
            <a:r>
              <a:rPr dirty="0"/>
              <a:t>/ – Java source code</a:t>
            </a:r>
          </a:p>
          <a:p>
            <a:pPr>
              <a:spcAft>
                <a:spcPts val="200"/>
              </a:spcAft>
              <a:defRPr sz="1800"/>
            </a:pPr>
            <a:r>
              <a:rPr dirty="0"/>
              <a:t>• data/ – recipe corpus</a:t>
            </a:r>
          </a:p>
          <a:p>
            <a:pPr>
              <a:spcAft>
                <a:spcPts val="200"/>
              </a:spcAft>
              <a:defRPr sz="1800"/>
            </a:pPr>
            <a:r>
              <a:rPr dirty="0"/>
              <a:t>• results/ – output screenshots</a:t>
            </a:r>
          </a:p>
          <a:p>
            <a:pPr>
              <a:spcAft>
                <a:spcPts val="200"/>
              </a:spcAft>
              <a:defRPr sz="1800"/>
            </a:pPr>
            <a:r>
              <a:rPr dirty="0"/>
              <a:t>• docs/ – documentation</a:t>
            </a:r>
          </a:p>
          <a:p>
            <a:pPr>
              <a:spcAft>
                <a:spcPts val="200"/>
              </a:spcAft>
              <a:defRPr sz="1800"/>
            </a:pPr>
            <a:r>
              <a:rPr dirty="0"/>
              <a:t>• reports/ – project/review reports</a:t>
            </a:r>
          </a:p>
          <a:p>
            <a:pPr>
              <a:spcAft>
                <a:spcPts val="200"/>
              </a:spcAft>
              <a:defRPr sz="1800"/>
            </a:pPr>
            <a:r>
              <a:rPr dirty="0"/>
              <a:t>• README.md – project information and setup instructions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507CD5-AC50-4284-6E9C-F3B851117D58}"/>
              </a:ext>
            </a:extLst>
          </p:cNvPr>
          <p:cNvSpPr txBox="1"/>
          <p:nvPr/>
        </p:nvSpPr>
        <p:spPr>
          <a:xfrm>
            <a:off x="2660072" y="1999129"/>
            <a:ext cx="8760963" cy="2757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  <a:defRPr sz="1800">
                <a:latin typeface="Calibri"/>
              </a:defRPr>
            </a:pPr>
            <a:r>
              <a:t>• Review-2 partial implementation covers Pattern Matching, Fuzzy Search and Similarity Calculation.</a:t>
            </a:r>
          </a:p>
          <a:p>
            <a:pPr>
              <a:spcAft>
                <a:spcPts val="200"/>
              </a:spcAft>
              <a:defRPr sz="1800"/>
            </a:pPr>
            <a:r>
              <a:t>• Naive Pattern Matching performs case-insensitive recipe-name searching.</a:t>
            </a:r>
          </a:p>
          <a:p>
            <a:pPr>
              <a:spcAft>
                <a:spcPts val="200"/>
              </a:spcAft>
              <a:defRPr sz="1800"/>
            </a:pPr>
            <a:r>
              <a:t>• Levenshtein Edit Distance supports typo-tolerant searching.</a:t>
            </a:r>
          </a:p>
          <a:p>
            <a:pPr>
              <a:spcAft>
                <a:spcPts val="200"/>
              </a:spcAft>
              <a:defRPr sz="1800"/>
            </a:pPr>
            <a:r>
              <a:t>• Similarity percentage helps identify the closest recipe.</a:t>
            </a:r>
          </a:p>
          <a:p>
            <a:pPr>
              <a:spcAft>
                <a:spcPts val="200"/>
              </a:spcAft>
              <a:defRPr sz="1800"/>
            </a:pPr>
            <a:r>
              <a:t>• A 70% threshold is used for accepting fuzzy matches.</a:t>
            </a:r>
          </a:p>
          <a:p>
            <a:pPr>
              <a:spcAft>
                <a:spcPts val="200"/>
              </a:spcAft>
              <a:defRPr sz="1800"/>
            </a:pPr>
            <a:r>
              <a:t>• The program reads the recipe corpus and displays complete recipe details.</a:t>
            </a:r>
          </a:p>
          <a:p>
            <a:pPr>
              <a:spcAft>
                <a:spcPts val="200"/>
              </a:spcAft>
              <a:defRPr sz="1800"/>
            </a:pPr>
            <a:r>
              <a:t>• Source code, corpus, README and result evidence are maintained in the repository.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55BCC7-40EA-0640-6374-A9A2D5769FC2}"/>
              </a:ext>
            </a:extLst>
          </p:cNvPr>
          <p:cNvSpPr txBox="1"/>
          <p:nvPr/>
        </p:nvSpPr>
        <p:spPr>
          <a:xfrm>
            <a:off x="2770094" y="1954306"/>
            <a:ext cx="7951694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  <a:defRPr sz="1800">
                <a:latin typeface="Calibri"/>
              </a:defRPr>
            </a:pPr>
            <a:r>
              <a:t>• Add advanced pattern-matching algorithms such as KMP or Rabin–Karp.</a:t>
            </a:r>
          </a:p>
          <a:p>
            <a:pPr>
              <a:spcAft>
                <a:spcPts val="200"/>
              </a:spcAft>
              <a:defRPr sz="1800"/>
            </a:pPr>
            <a:r>
              <a:t>• Improve fuzzy ranking and compare more candidate recipes.</a:t>
            </a:r>
          </a:p>
          <a:p>
            <a:pPr>
              <a:spcAft>
                <a:spcPts val="200"/>
              </a:spcAft>
              <a:defRPr sz="1800"/>
            </a:pPr>
            <a:r>
              <a:t>• Expand the recipe corpus for larger-scale testing.</a:t>
            </a:r>
          </a:p>
          <a:p>
            <a:pPr>
              <a:spcAft>
                <a:spcPts val="200"/>
              </a:spcAft>
              <a:defRPr sz="1800"/>
            </a:pPr>
            <a:r>
              <a:t>• Add filters for ingredients, preparation time and cooking time.</a:t>
            </a:r>
          </a:p>
          <a:p>
            <a:pPr>
              <a:spcAft>
                <a:spcPts val="200"/>
              </a:spcAft>
              <a:defRPr sz="1800"/>
            </a:pPr>
            <a:r>
              <a:t>• Add a graphical or web-based user interface.</a:t>
            </a:r>
          </a:p>
          <a:p>
            <a:pPr>
              <a:spcAft>
                <a:spcPts val="200"/>
              </a:spcAft>
              <a:defRPr sz="1800"/>
            </a:pPr>
            <a:r>
              <a:t>• Add automated test cases and performance analysis.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819</Words>
  <Application>Microsoft Office PowerPoint</Application>
  <PresentationFormat>Widescreen</PresentationFormat>
  <Paragraphs>118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       Data Structures and Algorithms -3 (25CS2103E)  Recipe Finder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Monisha Raghini Chelle</cp:lastModifiedBy>
  <cp:revision>29</cp:revision>
  <dcterms:created xsi:type="dcterms:W3CDTF">2024-08-29T05:25:00Z</dcterms:created>
  <dcterms:modified xsi:type="dcterms:W3CDTF">2026-08-25T14:12:36Z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