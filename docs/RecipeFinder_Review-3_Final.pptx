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70" r:id="rId13"/>
    <p:sldId id="268" r:id="rId14"/>
    <p:sldId id="269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pPr algn="ctr"/>
            <a:r>
              <a:rPr sz="2700" b="1" dirty="0">
                <a:solidFill>
                  <a:srgbClr val="C00000"/>
                </a:solidFill>
                <a:latin typeface="Aptos"/>
              </a:rPr>
              <a:t>Data Structures and Algorithms -3 (25CS2103E)</a:t>
            </a:r>
          </a:p>
          <a:p>
            <a:pPr algn="ctr"/>
            <a:r>
              <a:rPr sz="2800" b="1" dirty="0">
                <a:solidFill>
                  <a:srgbClr val="C00000"/>
                </a:solidFill>
                <a:latin typeface="Aptos"/>
              </a:rPr>
              <a:t>
Recipe Finder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0160" y="3513524"/>
            <a:ext cx="4551284" cy="1396014"/>
          </a:xfrm>
        </p:spPr>
        <p:txBody>
          <a:bodyPr/>
          <a:lstStyle/>
          <a:p>
            <a:pPr algn="ctr"/>
            <a:r>
              <a:rPr sz="1800" b="0">
                <a:solidFill>
                  <a:srgbClr val="0070C0"/>
                </a:solidFill>
                <a:latin typeface="Aptos"/>
              </a:rPr>
              <a:t>Team Members</a:t>
            </a:r>
          </a:p>
          <a:p>
            <a:pPr algn="ctr"/>
            <a:r>
              <a:rPr sz="1600" b="0">
                <a:solidFill>
                  <a:srgbClr val="0070C0"/>
                </a:solidFill>
                <a:latin typeface="Aptos"/>
              </a:rPr>
              <a:t>Monisha Raghini Chelle : 2520030537</a:t>
            </a:r>
          </a:p>
          <a:p>
            <a:pPr algn="ctr"/>
            <a:r>
              <a:rPr sz="1600" b="0">
                <a:solidFill>
                  <a:srgbClr val="0070C0"/>
                </a:solidFill>
                <a:latin typeface="Aptos"/>
              </a:rPr>
              <a:t>Shaik Sabiya Tabassum : 2520030502</a:t>
            </a:r>
          </a:p>
          <a:p>
            <a:pPr algn="ctr"/>
            <a:r>
              <a:rPr sz="1600" b="0">
                <a:solidFill>
                  <a:srgbClr val="0070C0"/>
                </a:solidFill>
                <a:latin typeface="Aptos"/>
              </a:rPr>
              <a:t>K. Siri Chandana : 2520030453</a:t>
            </a:r>
          </a:p>
          <a:p>
            <a:pPr algn="ctr"/>
            <a:r>
              <a:rPr sz="1500" b="0">
                <a:solidFill>
                  <a:srgbClr val="191919"/>
                </a:solidFill>
                <a:latin typeface="Aptos"/>
              </a:rPr>
              <a:t>
Under the Esteemed Guidance of</a:t>
            </a:r>
          </a:p>
          <a:p>
            <a:pPr algn="ctr"/>
            <a:r>
              <a:rPr sz="1500" b="1">
                <a:solidFill>
                  <a:srgbClr val="191919"/>
                </a:solidFill>
                <a:latin typeface="Aptos"/>
              </a:rPr>
              <a:t>Dr. V. Sireesha
Professor, Department of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7069395" y="821880"/>
            <a:ext cx="646331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ctr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26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337342" y="229389"/>
            <a:ext cx="68718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ptos"/>
              </a:rPr>
              <a:t>Contents</a:t>
            </a:r>
          </a:p>
          <a:p>
            <a:pPr algn="ctr"/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22149" y="1481800"/>
            <a:ext cx="8138160" cy="496392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900">
                <a:solidFill>
                  <a:srgbClr val="191919"/>
                </a:solidFill>
                <a:latin typeface="Aptos"/>
              </a:defRPr>
            </a:pPr>
            <a:r>
              <a:rPr dirty="0"/>
              <a:t>1. Abstract</a:t>
            </a:r>
            <a:r>
              <a:rPr lang="en-US" dirty="0"/>
              <a:t>                                                                                        </a:t>
            </a:r>
            <a:endParaRPr dirty="0"/>
          </a:p>
          <a:p>
            <a:pPr>
              <a:lnSpc>
                <a:spcPct val="100000"/>
              </a:lnSpc>
              <a:spcAft>
                <a:spcPts val="500"/>
              </a:spcAft>
              <a:defRPr sz="1900">
                <a:solidFill>
                  <a:srgbClr val="191919"/>
                </a:solidFill>
                <a:latin typeface="Aptos"/>
              </a:defRPr>
            </a:pPr>
            <a:r>
              <a:rPr dirty="0"/>
              <a:t>2. Introduction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900">
                <a:solidFill>
                  <a:srgbClr val="191919"/>
                </a:solidFill>
                <a:latin typeface="Aptos"/>
              </a:defRPr>
            </a:pPr>
            <a:r>
              <a:rPr dirty="0"/>
              <a:t>3. Literature Survey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900">
                <a:solidFill>
                  <a:srgbClr val="191919"/>
                </a:solidFill>
                <a:latin typeface="Aptos"/>
              </a:defRPr>
            </a:pPr>
            <a:r>
              <a:rPr dirty="0"/>
              <a:t>4. Problem Statement and Objectives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900">
                <a:solidFill>
                  <a:srgbClr val="191919"/>
                </a:solidFill>
                <a:latin typeface="Aptos"/>
              </a:defRPr>
            </a:pPr>
            <a:r>
              <a:rPr dirty="0"/>
              <a:t>5. Algorithms and Data Structures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900">
                <a:solidFill>
                  <a:srgbClr val="191919"/>
                </a:solidFill>
                <a:latin typeface="Aptos"/>
              </a:defRPr>
            </a:pPr>
            <a:r>
              <a:rPr dirty="0"/>
              <a:t>6. Flow Chart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900">
                <a:solidFill>
                  <a:srgbClr val="191919"/>
                </a:solidFill>
                <a:latin typeface="Aptos"/>
              </a:defRPr>
            </a:pPr>
            <a:r>
              <a:rPr dirty="0"/>
              <a:t>7. Results </a:t>
            </a:r>
            <a:r>
              <a:rPr lang="en-US" dirty="0"/>
              <a:t>–Search and Autocomplete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900">
                <a:solidFill>
                  <a:srgbClr val="191919"/>
                </a:solidFill>
                <a:latin typeface="Aptos"/>
              </a:defRPr>
            </a:pPr>
            <a:r>
              <a:rPr lang="en-US" dirty="0"/>
              <a:t>8.Results –Fuzzy Search and Pattern Matching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900">
                <a:solidFill>
                  <a:srgbClr val="191919"/>
                </a:solidFill>
                <a:latin typeface="Aptos"/>
              </a:defRPr>
            </a:pPr>
            <a:r>
              <a:rPr lang="en-US" dirty="0"/>
              <a:t>9.Results – CO4,CO5 and CO6</a:t>
            </a:r>
            <a:endParaRPr dirty="0"/>
          </a:p>
          <a:p>
            <a:pPr>
              <a:lnSpc>
                <a:spcPct val="100000"/>
              </a:lnSpc>
              <a:spcAft>
                <a:spcPts val="500"/>
              </a:spcAft>
              <a:defRPr sz="1900">
                <a:solidFill>
                  <a:srgbClr val="191919"/>
                </a:solidFill>
                <a:latin typeface="Aptos"/>
              </a:defRPr>
            </a:pPr>
            <a:r>
              <a:rPr lang="en-US" dirty="0"/>
              <a:t>10</a:t>
            </a:r>
            <a:r>
              <a:rPr dirty="0"/>
              <a:t>. Hardware and Software Requirements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900">
                <a:solidFill>
                  <a:srgbClr val="191919"/>
                </a:solidFill>
                <a:latin typeface="Aptos"/>
              </a:defRPr>
            </a:pPr>
            <a:r>
              <a:rPr lang="en-US" dirty="0"/>
              <a:t>11</a:t>
            </a:r>
            <a:r>
              <a:rPr dirty="0"/>
              <a:t>. CO Mapping and Complexity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900">
                <a:solidFill>
                  <a:srgbClr val="191919"/>
                </a:solidFill>
                <a:latin typeface="Aptos"/>
              </a:defRPr>
            </a:pPr>
            <a:r>
              <a:rPr lang="en-US" dirty="0"/>
              <a:t>12</a:t>
            </a:r>
            <a:r>
              <a:rPr dirty="0"/>
              <a:t>. Conclusion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900">
                <a:solidFill>
                  <a:srgbClr val="191919"/>
                </a:solidFill>
                <a:latin typeface="Aptos"/>
              </a:defRPr>
            </a:pPr>
            <a:r>
              <a:rPr dirty="0"/>
              <a:t>1</a:t>
            </a:r>
            <a:r>
              <a:rPr lang="en-US" dirty="0"/>
              <a:t>3</a:t>
            </a:r>
            <a:r>
              <a:rPr dirty="0"/>
              <a:t>. Future Scope</a:t>
            </a:r>
            <a:endParaRPr lang="en-US" dirty="0"/>
          </a:p>
          <a:p>
            <a:pPr>
              <a:lnSpc>
                <a:spcPct val="100000"/>
              </a:lnSpc>
              <a:spcAft>
                <a:spcPts val="500"/>
              </a:spcAft>
              <a:defRPr sz="1900">
                <a:solidFill>
                  <a:srgbClr val="191919"/>
                </a:solidFill>
                <a:latin typeface="Aptos"/>
              </a:defRPr>
            </a:pPr>
            <a:r>
              <a:rPr lang="en-US" dirty="0"/>
              <a:t>14.Thank You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</a:rPr>
              <a:t>Abstract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21017" y="1805539"/>
            <a:ext cx="8869680" cy="5303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700">
                <a:solidFill>
                  <a:srgbClr val="191919"/>
                </a:solidFill>
                <a:latin typeface="Aptos"/>
              </a:defRPr>
            </a:pPr>
            <a:r>
              <a:rPr dirty="0"/>
              <a:t>• Java-based application for searching and retrieving recipes from a text corpus.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700">
                <a:solidFill>
                  <a:srgbClr val="191919"/>
                </a:solidFill>
                <a:latin typeface="Aptos"/>
              </a:defRPr>
            </a:pPr>
            <a:r>
              <a:rPr dirty="0"/>
              <a:t>• Dataset contains 2,000 distinct recipe records stored in data/recipes.txt.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700">
                <a:solidFill>
                  <a:srgbClr val="191919"/>
                </a:solidFill>
                <a:latin typeface="Aptos"/>
              </a:defRPr>
            </a:pPr>
            <a:r>
              <a:rPr dirty="0"/>
              <a:t>• Normal search interface with automatic prefix suggestions using a Trie.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700">
                <a:solidFill>
                  <a:srgbClr val="191919"/>
                </a:solidFill>
                <a:latin typeface="Aptos"/>
              </a:defRPr>
            </a:pPr>
            <a:r>
              <a:rPr dirty="0"/>
              <a:t>• Pattern matching uses Naive, KMP, Rabin-Karp and Aho-</a:t>
            </a:r>
            <a:r>
              <a:rPr dirty="0" err="1"/>
              <a:t>Corasick</a:t>
            </a:r>
            <a:r>
              <a:rPr dirty="0"/>
              <a:t> implementations internally.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700">
                <a:solidFill>
                  <a:srgbClr val="191919"/>
                </a:solidFill>
                <a:latin typeface="Aptos"/>
              </a:defRPr>
            </a:pPr>
            <a:r>
              <a:rPr dirty="0"/>
              <a:t>• Fuzzy search uses </a:t>
            </a:r>
            <a:r>
              <a:rPr dirty="0" err="1"/>
              <a:t>Levenshtein</a:t>
            </a:r>
            <a:r>
              <a:rPr dirty="0"/>
              <a:t> Edit Distance and similarity calculation.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700">
                <a:solidFill>
                  <a:srgbClr val="191919"/>
                </a:solidFill>
                <a:latin typeface="Aptos"/>
              </a:defRPr>
            </a:pPr>
            <a:r>
              <a:rPr dirty="0"/>
              <a:t>• Additional DSA features: bipartite ingredient matching, greedy set cover, random recommendation and parallel similarity processing.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600" b="1" dirty="0">
                <a:solidFill>
                  <a:schemeClr val="bg1"/>
                </a:solidFill>
                <a:latin typeface="Aptos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97480" y="100584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Aptos"/>
              </a:rPr>
              <a:t>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69480" y="100584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Aptos"/>
              </a:rPr>
              <a:t>Supported Queries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7480" y="1389888"/>
            <a:ext cx="4069080" cy="501091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550">
                <a:solidFill>
                  <a:srgbClr val="191919"/>
                </a:solidFill>
                <a:latin typeface="Aptos"/>
              </a:defRPr>
            </a:pPr>
            <a:r>
              <a:t>• Loads and parses the recipe corpus.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550">
                <a:solidFill>
                  <a:srgbClr val="191919"/>
                </a:solidFill>
                <a:latin typeface="Aptos"/>
              </a:defRPr>
            </a:pPr>
            <a:r>
              <a:t>• Builds the Trie for autocomplete.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550">
                <a:solidFill>
                  <a:srgbClr val="191919"/>
                </a:solidFill>
                <a:latin typeface="Aptos"/>
              </a:defRPr>
            </a:pPr>
            <a:r>
              <a:t>• Accepts a complete or partial recipe query.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550">
                <a:solidFill>
                  <a:srgbClr val="191919"/>
                </a:solidFill>
                <a:latin typeface="Aptos"/>
              </a:defRPr>
            </a:pPr>
            <a:r>
              <a:t>• Displays suggestions and lets the user select one.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550">
                <a:solidFill>
                  <a:srgbClr val="191919"/>
                </a:solidFill>
                <a:latin typeface="Aptos"/>
              </a:defRPr>
            </a:pPr>
            <a:r>
              <a:t>• Performs exact search first, then fuzzy search when required.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1389888"/>
            <a:ext cx="3886200" cy="501091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550">
                <a:solidFill>
                  <a:srgbClr val="191919"/>
                </a:solidFill>
                <a:latin typeface="Aptos"/>
              </a:defRPr>
            </a:pPr>
            <a:r>
              <a:t>• Recipe name: Biryani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550">
                <a:solidFill>
                  <a:srgbClr val="191919"/>
                </a:solidFill>
                <a:latin typeface="Aptos"/>
              </a:defRPr>
            </a:pPr>
            <a:r>
              <a:t>• Prefix: c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550">
                <a:solidFill>
                  <a:srgbClr val="191919"/>
                </a:solidFill>
                <a:latin typeface="Aptos"/>
              </a:defRPr>
            </a:pPr>
            <a:r>
              <a:t>• Fuzzy input: cak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550">
                <a:solidFill>
                  <a:srgbClr val="191919"/>
                </a:solidFill>
                <a:latin typeface="Aptos"/>
              </a:defRPr>
            </a:pPr>
            <a:r>
              <a:t>• Ingredient query: ingredient: chicken,onion,tomato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550">
                <a:solidFill>
                  <a:srgbClr val="191919"/>
                </a:solidFill>
                <a:latin typeface="Aptos"/>
              </a:defRPr>
            </a:pPr>
            <a:r>
              <a:t>• Coverage query: cover: chicken,onion,tomato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550">
                <a:solidFill>
                  <a:srgbClr val="191919"/>
                </a:solidFill>
                <a:latin typeface="Aptos"/>
              </a:defRPr>
            </a:pPr>
            <a:r>
              <a:t>• Recommendation: random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600" b="1" dirty="0">
                <a:solidFill>
                  <a:schemeClr val="bg1"/>
                </a:solidFill>
                <a:latin typeface="Aptos"/>
              </a:rPr>
              <a:t>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97480" y="100584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Aptos"/>
              </a:rPr>
              <a:t>String Matching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69480" y="100584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Aptos"/>
              </a:rPr>
              <a:t>Similarity &amp; 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7480" y="1389888"/>
            <a:ext cx="4069080" cy="501091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520">
                <a:solidFill>
                  <a:srgbClr val="191919"/>
                </a:solidFill>
                <a:latin typeface="Aptos"/>
              </a:defRPr>
            </a:pPr>
            <a:r>
              <a:t>• Naive Pattern Matching – direct character comparison.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520">
                <a:solidFill>
                  <a:srgbClr val="191919"/>
                </a:solidFill>
                <a:latin typeface="Aptos"/>
              </a:defRPr>
            </a:pPr>
            <a:r>
              <a:t>• KMP – uses the LPS array to avoid unnecessary comparisons.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520">
                <a:solidFill>
                  <a:srgbClr val="191919"/>
                </a:solidFill>
                <a:latin typeface="Aptos"/>
              </a:defRPr>
            </a:pPr>
            <a:r>
              <a:t>• Rabin-Karp – uses hashing and a rolling hash.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520">
                <a:solidFill>
                  <a:srgbClr val="191919"/>
                </a:solidFill>
                <a:latin typeface="Aptos"/>
              </a:defRPr>
            </a:pPr>
            <a:r>
              <a:t>• Aho-Corasick – Trie + failure links for pattern matching.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1389888"/>
            <a:ext cx="3886200" cy="2296013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520">
                <a:solidFill>
                  <a:srgbClr val="191919"/>
                </a:solidFill>
                <a:latin typeface="Aptos"/>
              </a:defRPr>
            </a:pPr>
            <a:r>
              <a:rPr dirty="0"/>
              <a:t>• Trie – prefix search and autocomplete.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520">
                <a:solidFill>
                  <a:srgbClr val="191919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Levenshtein</a:t>
            </a:r>
            <a:r>
              <a:rPr dirty="0"/>
              <a:t> Distance – edit-based string similarity.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520">
                <a:solidFill>
                  <a:srgbClr val="191919"/>
                </a:solidFill>
                <a:latin typeface="Aptos"/>
              </a:defRPr>
            </a:pPr>
            <a:r>
              <a:rPr dirty="0"/>
              <a:t>• Bipartite Matching – ingredient-to-recipe matching.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520">
                <a:solidFill>
                  <a:srgbClr val="191919"/>
                </a:solidFill>
                <a:latin typeface="Aptos"/>
              </a:defRPr>
            </a:pPr>
            <a:r>
              <a:rPr dirty="0"/>
              <a:t>• Greedy Set Cover – ingredient coverage.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520">
                <a:solidFill>
                  <a:srgbClr val="191919"/>
                </a:solidFill>
                <a:latin typeface="Aptos"/>
              </a:defRPr>
            </a:pPr>
            <a:r>
              <a:rPr dirty="0"/>
              <a:t>• Randomization &amp; parallel processing – </a:t>
            </a:r>
            <a:r>
              <a:rPr lang="en-US" dirty="0"/>
              <a:t>recipe </a:t>
            </a:r>
            <a:r>
              <a:rPr dirty="0"/>
              <a:t>recommendation and  similarity</a:t>
            </a:r>
            <a:r>
              <a:rPr lang="en-US" dirty="0"/>
              <a:t> computation.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743200" y="346723"/>
            <a:ext cx="687185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600" b="1" dirty="0">
                <a:solidFill>
                  <a:schemeClr val="bg1"/>
                </a:solidFill>
                <a:latin typeface="Aptos"/>
              </a:rPr>
              <a:t>Problem Statement 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9144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261872"/>
            <a:ext cx="8686800" cy="1508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600">
                <a:solidFill>
                  <a:srgbClr val="191919"/>
                </a:solidFill>
                <a:latin typeface="Aptos"/>
              </a:defRPr>
            </a:pPr>
            <a:r>
              <a:t>• Exact search alone is limited for partial names, case variations and small spelling differences.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600">
                <a:solidFill>
                  <a:srgbClr val="191919"/>
                </a:solidFill>
                <a:latin typeface="Aptos"/>
              </a:defRPr>
            </a:pPr>
            <a:r>
              <a:t>• Users may also want recipes based on ingredients they already have.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600">
                <a:solidFill>
                  <a:srgbClr val="191919"/>
                </a:solidFill>
                <a:latin typeface="Aptos"/>
              </a:defRPr>
            </a:pPr>
            <a:r>
              <a:t>• A practical solution should combine efficient search with user-friendly suggestions.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88036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Aptos"/>
              </a:rPr>
              <a:t>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218688"/>
            <a:ext cx="8686800" cy="2697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520">
                <a:solidFill>
                  <a:srgbClr val="191919"/>
                </a:solidFill>
                <a:latin typeface="Aptos"/>
              </a:defRPr>
            </a:pPr>
            <a:r>
              <a:t>• Implement Naive, KMP, Rabin-Karp and Aho-Corasick pattern matching.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520">
                <a:solidFill>
                  <a:srgbClr val="191919"/>
                </a:solidFill>
                <a:latin typeface="Aptos"/>
              </a:defRPr>
            </a:pPr>
            <a:r>
              <a:t>• Provide Trie-based autocomplete and Levenshtein fuzzy search.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520">
                <a:solidFill>
                  <a:srgbClr val="191919"/>
                </a:solidFill>
                <a:latin typeface="Aptos"/>
              </a:defRPr>
            </a:pPr>
            <a:r>
              <a:t>• Calculate recipe-name similarity and identify the closest match.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520">
                <a:solidFill>
                  <a:srgbClr val="191919"/>
                </a:solidFill>
                <a:latin typeface="Aptos"/>
              </a:defRPr>
            </a:pPr>
            <a:r>
              <a:t>• Implement ingredient matching using bipartite matching.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520">
                <a:solidFill>
                  <a:srgbClr val="191919"/>
                </a:solidFill>
                <a:latin typeface="Aptos"/>
              </a:defRPr>
            </a:pPr>
            <a:r>
              <a:t>• Apply Greedy Set Cover for ingredient coverage.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520">
                <a:solidFill>
                  <a:srgbClr val="191919"/>
                </a:solidFill>
                <a:latin typeface="Aptos"/>
              </a:defRPr>
            </a:pPr>
            <a:r>
              <a:t>• Provide randomized recommendation and parallel similarity processing.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520">
                <a:solidFill>
                  <a:srgbClr val="191919"/>
                </a:solidFill>
                <a:latin typeface="Aptos"/>
              </a:defRPr>
            </a:pPr>
            <a:r>
              <a:t>• Search a dataset of 2,000 distinct recipe records and analyze complexity.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600" b="1" dirty="0">
                <a:solidFill>
                  <a:schemeClr val="bg1"/>
                </a:solidFill>
                <a:latin typeface="Aptos"/>
              </a:rPr>
              <a:t>Flow Chart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71800" y="960120"/>
            <a:ext cx="1828800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191919"/>
                </a:solidFill>
                <a:latin typeface="Aptos"/>
              </a:rPr>
              <a:t>Start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66360" y="960120"/>
            <a:ext cx="2148840" cy="5943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191919"/>
                </a:solidFill>
                <a:latin typeface="Aptos"/>
              </a:rPr>
              <a:t>Load 2,000
recipe 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960120"/>
            <a:ext cx="2331720" cy="5943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191919"/>
                </a:solidFill>
                <a:latin typeface="Aptos"/>
              </a:rPr>
              <a:t>Build Trie and
search structures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66360" y="2057400"/>
            <a:ext cx="2148840" cy="5943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191919"/>
                </a:solidFill>
                <a:latin typeface="Aptos"/>
              </a:rPr>
              <a:t>User enters
query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2057400"/>
            <a:ext cx="2331720" cy="5943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191919"/>
                </a:solidFill>
                <a:latin typeface="Aptos"/>
              </a:rPr>
              <a:t>Autocomplete /
query handling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60" y="3246120"/>
            <a:ext cx="2148840" cy="5943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191919"/>
                </a:solidFill>
                <a:latin typeface="Aptos"/>
              </a:rPr>
              <a:t>Exact / pattern
search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3246120"/>
            <a:ext cx="2331720" cy="5943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191919"/>
                </a:solidFill>
                <a:latin typeface="Aptos"/>
              </a:rPr>
              <a:t>Fuzzy search +
similarity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60" y="4434840"/>
            <a:ext cx="2148840" cy="5943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191919"/>
                </a:solidFill>
                <a:latin typeface="Aptos"/>
              </a:rPr>
              <a:t>Ingredient matching /
Greedy coverage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4434840"/>
            <a:ext cx="2331720" cy="5943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191919"/>
                </a:solidFill>
                <a:latin typeface="Aptos"/>
              </a:rPr>
              <a:t>Random recommendation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5532120"/>
            <a:ext cx="2331720" cy="5029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50" b="1">
                <a:solidFill>
                  <a:srgbClr val="191919"/>
                </a:solidFill>
                <a:latin typeface="Aptos"/>
              </a:rPr>
              <a:t>Display result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00600" y="1216152"/>
            <a:ext cx="365760" cy="0"/>
          </a:xfrm>
          <a:prstGeom prst="line">
            <a:avLst/>
          </a:prstGeom>
          <a:ln w="1778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0" y="1261872"/>
            <a:ext cx="320040" cy="0"/>
          </a:xfrm>
          <a:prstGeom prst="line">
            <a:avLst/>
          </a:prstGeom>
          <a:ln w="1778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245352" y="1554480"/>
            <a:ext cx="0" cy="502920"/>
          </a:xfrm>
          <a:prstGeom prst="line">
            <a:avLst/>
          </a:prstGeom>
          <a:ln w="1778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315200" y="2359152"/>
            <a:ext cx="320040" cy="0"/>
          </a:xfrm>
          <a:prstGeom prst="line">
            <a:avLst/>
          </a:prstGeom>
          <a:ln w="1778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245352" y="2651760"/>
            <a:ext cx="0" cy="594360"/>
          </a:xfrm>
          <a:prstGeom prst="line">
            <a:avLst/>
          </a:prstGeom>
          <a:ln w="1778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796528" y="2651760"/>
            <a:ext cx="0" cy="594360"/>
          </a:xfrm>
          <a:prstGeom prst="line">
            <a:avLst/>
          </a:prstGeom>
          <a:ln w="1778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245352" y="3840480"/>
            <a:ext cx="0" cy="594360"/>
          </a:xfrm>
          <a:prstGeom prst="line">
            <a:avLst/>
          </a:prstGeom>
          <a:ln w="1778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796528" y="3840480"/>
            <a:ext cx="0" cy="594360"/>
          </a:xfrm>
          <a:prstGeom prst="line">
            <a:avLst/>
          </a:prstGeom>
          <a:ln w="1778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245352" y="5029200"/>
            <a:ext cx="1069848" cy="502920"/>
          </a:xfrm>
          <a:prstGeom prst="line">
            <a:avLst/>
          </a:prstGeom>
          <a:ln w="1778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315200" y="5029200"/>
            <a:ext cx="1481328" cy="502920"/>
          </a:xfrm>
          <a:prstGeom prst="line">
            <a:avLst/>
          </a:prstGeom>
          <a:ln w="1778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6232644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376352" y="221673"/>
            <a:ext cx="687185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600" b="1" dirty="0">
                <a:solidFill>
                  <a:schemeClr val="bg1"/>
                </a:solidFill>
                <a:latin typeface="Aptos"/>
              </a:rPr>
              <a:t>Results – Search and Autocomplete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743200" y="960120"/>
            <a:ext cx="40690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Exact_Recipe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1033272"/>
            <a:ext cx="3922776" cy="45811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816352" y="5650992"/>
            <a:ext cx="392277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555555"/>
                </a:solidFill>
                <a:latin typeface="Aptos"/>
              </a:rPr>
              <a:t>Exact recipe 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86600" y="960120"/>
            <a:ext cx="40690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utoComple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1033272"/>
            <a:ext cx="3922776" cy="45811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59752" y="5650992"/>
            <a:ext cx="392277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555555"/>
                </a:solidFill>
                <a:latin typeface="Aptos"/>
              </a:rPr>
              <a:t>Trie-based autocomplete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5989320"/>
            <a:ext cx="8412480" cy="4114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50" b="0">
                <a:solidFill>
                  <a:srgbClr val="555555"/>
                </a:solidFill>
                <a:latin typeface="Aptos"/>
              </a:rPr>
              <a:t>Observed behavior: exact recipe names are displayed with complete details; prefix input produces selectable recipe suggestions.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87185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654372" y="347472"/>
            <a:ext cx="687185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600" b="1" dirty="0">
                <a:solidFill>
                  <a:schemeClr val="bg1"/>
                </a:solidFill>
                <a:latin typeface="Aptos"/>
              </a:rPr>
              <a:t>Results – Fuzzy Search and Pattern Matching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743200" y="960120"/>
            <a:ext cx="53035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uzzy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1033272"/>
            <a:ext cx="5157216" cy="33467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816352" y="4416552"/>
            <a:ext cx="515721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555555"/>
                </a:solidFill>
                <a:latin typeface="Aptos"/>
              </a:rPr>
              <a:t>Fuzzy search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960120"/>
            <a:ext cx="28803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Aho-Corasick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472" y="1033272"/>
            <a:ext cx="2734056" cy="33467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48472" y="4416552"/>
            <a:ext cx="273405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555555"/>
                </a:solidFill>
                <a:latin typeface="Aptos"/>
              </a:rPr>
              <a:t>Aho-Corasick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50749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00000"/>
                </a:solidFill>
                <a:latin typeface="Aptos"/>
              </a:rPr>
              <a:t>Tested behavior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5413248"/>
            <a:ext cx="850392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350">
                <a:solidFill>
                  <a:srgbClr val="191919"/>
                </a:solidFill>
                <a:latin typeface="Aptos"/>
              </a:defRPr>
            </a:pPr>
            <a:r>
              <a:t>• Fuzzy search uses the closest similarity score.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350">
                <a:solidFill>
                  <a:srgbClr val="191919"/>
                </a:solidFill>
                <a:latin typeface="Aptos"/>
              </a:defRPr>
            </a:pPr>
            <a:r>
              <a:t>• Similarity is accepted when the best score is at least 70%.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350">
                <a:solidFill>
                  <a:srgbClr val="191919"/>
                </a:solidFill>
                <a:latin typeface="Aptos"/>
              </a:defRPr>
            </a:pPr>
            <a:r>
              <a:t>• Case-insensitive matching is supported.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350">
                <a:solidFill>
                  <a:srgbClr val="191919"/>
                </a:solidFill>
                <a:latin typeface="Aptos"/>
              </a:defRPr>
            </a:pPr>
            <a:r>
              <a:t>• Aho-Corasick is integrated into the pattern-matching verification routine.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575560" y="283042"/>
            <a:ext cx="687185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600" b="1" dirty="0">
                <a:solidFill>
                  <a:schemeClr val="bg1"/>
                </a:solidFill>
                <a:latin typeface="Aptos"/>
              </a:rPr>
              <a:t>Results – CO4, CO5 and CO6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97480" y="914400"/>
            <a:ext cx="28346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O4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632" y="987552"/>
            <a:ext cx="2688336" cy="3758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70632" y="4782312"/>
            <a:ext cx="268833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555555"/>
                </a:solidFill>
                <a:latin typeface="Aptos"/>
              </a:rPr>
              <a:t>CO4: Ingredient matching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914400"/>
            <a:ext cx="28346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O5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2" y="987552"/>
            <a:ext cx="2688336" cy="3758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79592" y="4782312"/>
            <a:ext cx="268833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555555"/>
                </a:solidFill>
                <a:latin typeface="Aptos"/>
              </a:rPr>
              <a:t>CO5: Greedy set cover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914400"/>
            <a:ext cx="28346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O6_T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8552" y="987552"/>
            <a:ext cx="2688336" cy="3758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988552" y="4782312"/>
            <a:ext cx="2688336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555555"/>
                </a:solidFill>
                <a:latin typeface="Aptos"/>
              </a:rPr>
              <a:t>CO6: Random recommendation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5349240"/>
            <a:ext cx="8778240" cy="640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50" b="0">
                <a:solidFill>
                  <a:srgbClr val="555555"/>
                </a:solidFill>
                <a:latin typeface="Aptos"/>
              </a:rPr>
              <a:t>CO4 test: Biryani matched 3/3 requested ingredients.  •  CO5 test: requested ingredients were fully covered.  •  CO6 test: random recommendation returned a recipe.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290047" y="221673"/>
            <a:ext cx="5997388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852813" y="246466"/>
            <a:ext cx="687185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600" b="1" dirty="0">
                <a:solidFill>
                  <a:schemeClr val="bg1"/>
                </a:solidFill>
                <a:latin typeface="Aptos"/>
              </a:rPr>
              <a:t>Hardware and Software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14918" y="941154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dirty="0">
                <a:solidFill>
                  <a:srgbClr val="C00000"/>
                </a:solidFill>
                <a:latin typeface="Aptos"/>
              </a:rPr>
              <a:t>Hardware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9480" y="96012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Aptos"/>
              </a:rPr>
              <a:t>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14918" y="1261194"/>
            <a:ext cx="4069080" cy="336499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550">
                <a:solidFill>
                  <a:srgbClr val="191919"/>
                </a:solidFill>
                <a:latin typeface="Aptos"/>
              </a:defRPr>
            </a:pPr>
            <a:r>
              <a:rPr dirty="0"/>
              <a:t>• Standard computer or laptop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550">
                <a:solidFill>
                  <a:srgbClr val="191919"/>
                </a:solidFill>
                <a:latin typeface="Aptos"/>
              </a:defRPr>
            </a:pPr>
            <a:r>
              <a:rPr dirty="0"/>
              <a:t>• Minimum 4 GB RAM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550">
                <a:solidFill>
                  <a:srgbClr val="191919"/>
                </a:solidFill>
                <a:latin typeface="Aptos"/>
              </a:defRPr>
            </a:pPr>
            <a:r>
              <a:rPr dirty="0"/>
              <a:t>• Keyboard and display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550">
                <a:solidFill>
                  <a:srgbClr val="191919"/>
                </a:solidFill>
                <a:latin typeface="Aptos"/>
              </a:defRPr>
            </a:pPr>
            <a:r>
              <a:rPr dirty="0"/>
              <a:t>• Basic storage for project files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550">
                <a:solidFill>
                  <a:srgbClr val="191919"/>
                </a:solidFill>
                <a:latin typeface="Aptos"/>
              </a:defRPr>
            </a:pPr>
            <a:r>
              <a:rPr dirty="0"/>
              <a:t>• No special hardware required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69480" y="1344168"/>
            <a:ext cx="3886200" cy="336499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550">
                <a:solidFill>
                  <a:srgbClr val="191919"/>
                </a:solidFill>
                <a:latin typeface="Aptos"/>
              </a:defRPr>
            </a:pPr>
            <a:r>
              <a:t>• Java Development Kit (JDK)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550">
                <a:solidFill>
                  <a:srgbClr val="191919"/>
                </a:solidFill>
                <a:latin typeface="Aptos"/>
              </a:defRPr>
            </a:pPr>
            <a:r>
              <a:t>• VS Code / IntelliJ IDEA / Eclipse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550">
                <a:solidFill>
                  <a:srgbClr val="191919"/>
                </a:solidFill>
                <a:latin typeface="Aptos"/>
              </a:defRPr>
            </a:pPr>
            <a:r>
              <a:t>• Git and GitHub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550">
                <a:solidFill>
                  <a:srgbClr val="191919"/>
                </a:solidFill>
                <a:latin typeface="Aptos"/>
              </a:defRPr>
            </a:pPr>
            <a:r>
              <a:t>• Windows / Linux / macOS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550">
                <a:solidFill>
                  <a:srgbClr val="191919"/>
                </a:solidFill>
                <a:latin typeface="Aptos"/>
              </a:defRPr>
            </a:pPr>
            <a:r>
              <a:t>• Project dataset: data/recipes.txt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5720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dirty="0">
                <a:solidFill>
                  <a:srgbClr val="C00000"/>
                </a:solidFill>
                <a:latin typeface="Aptos"/>
              </a:rPr>
              <a:t>Repository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4919472"/>
            <a:ext cx="8595360" cy="11887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350">
                <a:solidFill>
                  <a:srgbClr val="191919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src</a:t>
            </a:r>
            <a:r>
              <a:rPr dirty="0"/>
              <a:t>/ – Java source code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350">
                <a:solidFill>
                  <a:srgbClr val="191919"/>
                </a:solidFill>
                <a:latin typeface="Aptos"/>
              </a:defRPr>
            </a:pPr>
            <a:r>
              <a:rPr dirty="0"/>
              <a:t>• data/ – recipe corpus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350">
                <a:solidFill>
                  <a:srgbClr val="191919"/>
                </a:solidFill>
                <a:latin typeface="Aptos"/>
              </a:defRPr>
            </a:pPr>
            <a:r>
              <a:rPr dirty="0"/>
              <a:t>• docs/ – presentations and project documents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350">
                <a:solidFill>
                  <a:srgbClr val="191919"/>
                </a:solidFill>
                <a:latin typeface="Aptos"/>
              </a:defRPr>
            </a:pPr>
            <a:r>
              <a:rPr dirty="0"/>
              <a:t>• results/ – testing screenshots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350">
                <a:solidFill>
                  <a:srgbClr val="191919"/>
                </a:solidFill>
                <a:latin typeface="Aptos"/>
              </a:defRPr>
            </a:pPr>
            <a:r>
              <a:rPr dirty="0"/>
              <a:t>• reports/ – project report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350">
                <a:solidFill>
                  <a:srgbClr val="191919"/>
                </a:solidFill>
                <a:latin typeface="Aptos"/>
              </a:defRPr>
            </a:pPr>
            <a:r>
              <a:rPr dirty="0"/>
              <a:t>• README.md – project documentation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553392" y="230600"/>
            <a:ext cx="687185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600" b="1" dirty="0">
                <a:solidFill>
                  <a:schemeClr val="bg1"/>
                </a:solidFill>
                <a:latin typeface="Aptos"/>
              </a:rPr>
              <a:t>CO Mapping and Complexity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91440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Aptos"/>
              </a:rPr>
              <a:t>CO Mapping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9144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00000"/>
                </a:solidFill>
                <a:latin typeface="Aptos"/>
              </a:rPr>
              <a:t>Complexity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1298448"/>
            <a:ext cx="3931920" cy="206518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270">
                <a:solidFill>
                  <a:srgbClr val="191919"/>
                </a:solidFill>
                <a:latin typeface="Aptos"/>
              </a:defRPr>
            </a:pPr>
            <a:r>
              <a:rPr dirty="0"/>
              <a:t>Naive: O(n × m) worst case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70">
                <a:solidFill>
                  <a:srgbClr val="191919"/>
                </a:solidFill>
                <a:latin typeface="Aptos"/>
              </a:defRPr>
            </a:pPr>
            <a:r>
              <a:rPr dirty="0"/>
              <a:t>KMP: O(n + m)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70">
                <a:solidFill>
                  <a:srgbClr val="191919"/>
                </a:solidFill>
                <a:latin typeface="Aptos"/>
              </a:defRPr>
            </a:pPr>
            <a:r>
              <a:rPr dirty="0"/>
              <a:t>Rabin-Karp: O(n + m) average; O(n × m) worst case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70">
                <a:solidFill>
                  <a:srgbClr val="191919"/>
                </a:solidFill>
                <a:latin typeface="Aptos"/>
              </a:defRPr>
            </a:pPr>
            <a:r>
              <a:rPr dirty="0"/>
              <a:t>Aho-</a:t>
            </a:r>
            <a:r>
              <a:rPr dirty="0" err="1"/>
              <a:t>Corasick</a:t>
            </a:r>
            <a:r>
              <a:rPr dirty="0"/>
              <a:t>: O(P + N + Z)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70">
                <a:solidFill>
                  <a:srgbClr val="191919"/>
                </a:solidFill>
                <a:latin typeface="Aptos"/>
              </a:defRPr>
            </a:pPr>
            <a:r>
              <a:rPr dirty="0"/>
              <a:t>Trie prefix search: O(p + k) approximately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70">
                <a:solidFill>
                  <a:srgbClr val="191919"/>
                </a:solidFill>
                <a:latin typeface="Aptos"/>
              </a:defRPr>
            </a:pPr>
            <a:r>
              <a:rPr dirty="0" err="1"/>
              <a:t>Levenshtein</a:t>
            </a:r>
            <a:r>
              <a:rPr dirty="0"/>
              <a:t>: O(n × m)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70">
                <a:solidFill>
                  <a:srgbClr val="191919"/>
                </a:solidFill>
                <a:latin typeface="Aptos"/>
              </a:defRPr>
            </a:pPr>
            <a:r>
              <a:rPr dirty="0"/>
              <a:t>Greedy coverage: depends on</a:t>
            </a:r>
            <a:r>
              <a:rPr lang="en-US" dirty="0"/>
              <a:t> the number of </a:t>
            </a:r>
            <a:r>
              <a:rPr dirty="0"/>
              <a:t> recipes and requested ingredients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70">
                <a:solidFill>
                  <a:srgbClr val="191919"/>
                </a:solidFill>
                <a:latin typeface="Aptos"/>
              </a:defRPr>
            </a:pPr>
            <a:r>
              <a:rPr dirty="0"/>
              <a:t>Random selection: O(1) after dataset loading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502EF2-7420-3C96-8A64-2AAEB44862DD}"/>
              </a:ext>
            </a:extLst>
          </p:cNvPr>
          <p:cNvSpPr txBox="1"/>
          <p:nvPr/>
        </p:nvSpPr>
        <p:spPr>
          <a:xfrm>
            <a:off x="1569720" y="1476465"/>
            <a:ext cx="6096000" cy="1567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320">
                <a:solidFill>
                  <a:srgbClr val="191919"/>
                </a:solidFill>
                <a:latin typeface="Aptos"/>
              </a:defRPr>
            </a:pPr>
            <a:r>
              <a:rPr lang="en-US" dirty="0"/>
              <a:t>CO1 – Problem analysis, algorithm selection and complexity.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320">
                <a:solidFill>
                  <a:srgbClr val="191919"/>
                </a:solidFill>
                <a:latin typeface="Aptos"/>
              </a:defRPr>
            </a:pPr>
            <a:r>
              <a:rPr lang="en-US" dirty="0"/>
              <a:t>CO2 – Naive, KMP, Rabin-Karp and Aho-</a:t>
            </a:r>
            <a:r>
              <a:rPr lang="en-US" dirty="0" err="1"/>
              <a:t>Corasick</a:t>
            </a:r>
            <a:r>
              <a:rPr lang="en-US" dirty="0"/>
              <a:t>.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320">
                <a:solidFill>
                  <a:srgbClr val="191919"/>
                </a:solidFill>
                <a:latin typeface="Aptos"/>
              </a:defRPr>
            </a:pPr>
            <a:r>
              <a:rPr lang="en-US" dirty="0"/>
              <a:t>CO3 – DP, </a:t>
            </a:r>
            <a:r>
              <a:rPr lang="en-US" dirty="0" err="1"/>
              <a:t>Levenshtein</a:t>
            </a:r>
            <a:r>
              <a:rPr lang="en-US" dirty="0"/>
              <a:t> Distance and fuzzy similarity.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320">
                <a:solidFill>
                  <a:srgbClr val="191919"/>
                </a:solidFill>
                <a:latin typeface="Aptos"/>
              </a:defRPr>
            </a:pPr>
            <a:r>
              <a:rPr lang="en-US" dirty="0"/>
              <a:t>CO4 – Bipartite ingredient matching.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320">
                <a:solidFill>
                  <a:srgbClr val="191919"/>
                </a:solidFill>
                <a:latin typeface="Aptos"/>
              </a:defRPr>
            </a:pPr>
            <a:r>
              <a:rPr lang="en-US" dirty="0"/>
              <a:t>CO5 – Greedy Set Cover Approximation.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320">
                <a:solidFill>
                  <a:srgbClr val="191919"/>
                </a:solidFill>
                <a:latin typeface="Aptos"/>
              </a:defRPr>
            </a:pPr>
            <a:r>
              <a:rPr lang="en-US" dirty="0"/>
              <a:t>CO6 – Randomized recommendation and parallel similarity.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51760" y="182880"/>
            <a:ext cx="69494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C00000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83715" y="1480968"/>
            <a:ext cx="8823960" cy="254531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600">
                <a:solidFill>
                  <a:srgbClr val="191919"/>
                </a:solidFill>
                <a:latin typeface="Aptos"/>
              </a:defRPr>
            </a:pPr>
            <a:r>
              <a:rPr dirty="0"/>
              <a:t>• The Recipe Finder combines multiple DSA techniques in a single recipe-search application.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600">
                <a:solidFill>
                  <a:srgbClr val="191919"/>
                </a:solidFill>
                <a:latin typeface="Aptos"/>
              </a:defRPr>
            </a:pPr>
            <a:r>
              <a:rPr dirty="0"/>
              <a:t>• Pattern matching is implemented using Naive, KMP, Rabin-Karp and Aho-</a:t>
            </a:r>
            <a:r>
              <a:rPr dirty="0" err="1"/>
              <a:t>Corasick</a:t>
            </a:r>
            <a:r>
              <a:rPr dirty="0"/>
              <a:t>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600">
                <a:solidFill>
                  <a:srgbClr val="191919"/>
                </a:solidFill>
                <a:latin typeface="Aptos"/>
              </a:defRPr>
            </a:pPr>
            <a:r>
              <a:rPr dirty="0"/>
              <a:t>• Trie-based autocomplete provides prefix suggestions through a normal search interface.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600">
                <a:solidFill>
                  <a:srgbClr val="191919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Levenshtein</a:t>
            </a:r>
            <a:r>
              <a:rPr dirty="0"/>
              <a:t> Edit Distance and similarity calculation support fuzzy search.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600">
                <a:solidFill>
                  <a:srgbClr val="191919"/>
                </a:solidFill>
                <a:latin typeface="Aptos"/>
              </a:defRPr>
            </a:pPr>
            <a:r>
              <a:rPr dirty="0"/>
              <a:t>• Bipartite matching supports ingredient-based retrieval.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600">
                <a:solidFill>
                  <a:srgbClr val="191919"/>
                </a:solidFill>
                <a:latin typeface="Aptos"/>
              </a:defRPr>
            </a:pPr>
            <a:r>
              <a:rPr dirty="0"/>
              <a:t>• Greedy Set Cover supports ingredient coverage.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600">
                <a:solidFill>
                  <a:srgbClr val="191919"/>
                </a:solidFill>
                <a:latin typeface="Aptos"/>
              </a:defRPr>
            </a:pPr>
            <a:r>
              <a:rPr dirty="0"/>
              <a:t>• Randomized recommendation and parallel similarity provide additional processing features.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600">
                <a:solidFill>
                  <a:srgbClr val="191919"/>
                </a:solidFill>
                <a:latin typeface="Aptos"/>
              </a:defRPr>
            </a:pPr>
            <a:r>
              <a:rPr dirty="0"/>
              <a:t>• The implementation is tested using a 2,000-record recipe corpus.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936430" y="372290"/>
            <a:ext cx="687185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600" b="1">
                <a:solidFill>
                  <a:schemeClr val="bg1"/>
                </a:solidFill>
                <a:latin typeface="Aptos"/>
              </a:rPr>
              <a:t>Future Scope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21352" y="1437372"/>
            <a:ext cx="8641080" cy="248375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1700">
                <a:solidFill>
                  <a:srgbClr val="191919"/>
                </a:solidFill>
                <a:latin typeface="Aptos"/>
              </a:defRPr>
            </a:pPr>
            <a:r>
              <a:rPr dirty="0"/>
              <a:t>• Improve search-result ranking and relevance scoring.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700">
                <a:solidFill>
                  <a:srgbClr val="191919"/>
                </a:solidFill>
                <a:latin typeface="Aptos"/>
              </a:defRPr>
            </a:pPr>
            <a:r>
              <a:rPr dirty="0"/>
              <a:t>•</a:t>
            </a:r>
            <a:r>
              <a:rPr lang="en-US" dirty="0"/>
              <a:t> Add  advanced personalized  recipe recommendations.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700">
                <a:solidFill>
                  <a:srgbClr val="191919"/>
                </a:solidFill>
                <a:latin typeface="Aptos"/>
              </a:defRPr>
            </a:pPr>
            <a:r>
              <a:rPr lang="en-US" dirty="0"/>
              <a:t>• Include nutritional information and user dietary preferences.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700">
                <a:solidFill>
                  <a:srgbClr val="191919"/>
                </a:solidFill>
                <a:latin typeface="Aptos"/>
              </a:defRPr>
            </a:pPr>
            <a:r>
              <a:rPr lang="en-US" dirty="0"/>
              <a:t>• Support larger and more diverse   real-world recipe datasets.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700">
                <a:solidFill>
                  <a:srgbClr val="191919"/>
                </a:solidFill>
                <a:latin typeface="Aptos"/>
              </a:defRPr>
            </a:pPr>
            <a:r>
              <a:rPr lang="en-US" dirty="0"/>
              <a:t>• Add graph-based relationships between recipes and ingredients.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700">
                <a:solidFill>
                  <a:srgbClr val="191919"/>
                </a:solidFill>
                <a:latin typeface="Aptos"/>
              </a:defRPr>
            </a:pPr>
            <a:r>
              <a:rPr lang="en-US" dirty="0"/>
              <a:t>• Develop a graphical /web-based user interface.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700">
                <a:solidFill>
                  <a:srgbClr val="191919"/>
                </a:solidFill>
                <a:latin typeface="Aptos"/>
              </a:defRPr>
            </a:pPr>
            <a:r>
              <a:rPr lang="en-US" dirty="0"/>
              <a:t>• Add automated performance benchmarking and larger test suites.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4283242" y="2855494"/>
            <a:ext cx="4700336" cy="1519989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96552" y="3248907"/>
            <a:ext cx="2081211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200" b="1" dirty="0">
                <a:solidFill>
                  <a:schemeClr val="bg1"/>
                </a:solidFill>
                <a:latin typeface="Aptos"/>
              </a:rPr>
              <a:t>Thank You</a:t>
            </a:r>
            <a:endParaRPr lang="en-US" sz="3200" b="1" dirty="0">
              <a:solidFill>
                <a:schemeClr val="bg1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1090</Words>
  <Application>Microsoft Office PowerPoint</Application>
  <PresentationFormat>Widescreen</PresentationFormat>
  <Paragraphs>152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Data Structures and Algorithms -3 (25CS2103E) 
Recipe Finder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Monisha Raghini Chelle</cp:lastModifiedBy>
  <cp:revision>24</cp:revision>
  <dcterms:created xsi:type="dcterms:W3CDTF">2024-08-29T05:25:00Z</dcterms:created>
  <dcterms:modified xsi:type="dcterms:W3CDTF">2026-09-16T13:51:40Z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