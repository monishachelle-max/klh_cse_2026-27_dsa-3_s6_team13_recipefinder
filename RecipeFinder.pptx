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0146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0.png"/><Relationship Id="rId4" Type="http://schemas.openxmlformats.org/officeDocument/2006/relationships/image" Target="../media/image15.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cover_photo.jpg"/>
          <p:cNvPicPr>
            <a:picLocks noChangeAspect="1"/>
          </p:cNvPicPr>
          <p:nvPr/>
        </p:nvPicPr>
        <p:blipFill>
          <a:blip r:embed="rId3"/>
          <a:srcRect/>
          <a:stretch/>
        </p:blipFill>
        <p:spPr>
          <a:xfrm>
            <a:off x="0" y="0"/>
            <a:ext cx="12188952" cy="6858000"/>
          </a:xfrm>
          <a:prstGeom prst="rect">
            <a:avLst/>
          </a:prstGeom>
        </p:spPr>
      </p:pic>
      <p:sp>
        <p:nvSpPr>
          <p:cNvPr id="3" name="Shape 0"/>
          <p:cNvSpPr/>
          <p:nvPr/>
        </p:nvSpPr>
        <p:spPr>
          <a:xfrm>
            <a:off x="0" y="0"/>
            <a:ext cx="12188952" cy="6858000"/>
          </a:xfrm>
          <a:prstGeom prst="rect">
            <a:avLst/>
          </a:prstGeom>
          <a:solidFill>
            <a:srgbClr val="1C160F">
              <a:alpha val="58000"/>
            </a:srgbClr>
          </a:solidFill>
          <a:ln/>
        </p:spPr>
      </p:sp>
      <p:sp>
        <p:nvSpPr>
          <p:cNvPr id="4" name="Shape 1"/>
          <p:cNvSpPr/>
          <p:nvPr/>
        </p:nvSpPr>
        <p:spPr>
          <a:xfrm>
            <a:off x="0" y="0"/>
            <a:ext cx="12188952" cy="2331720"/>
          </a:xfrm>
          <a:prstGeom prst="rect">
            <a:avLst/>
          </a:prstGeom>
          <a:solidFill>
            <a:srgbClr val="000000">
              <a:alpha val="45000"/>
            </a:srgbClr>
          </a:solidFill>
          <a:ln/>
        </p:spPr>
      </p:sp>
      <p:sp>
        <p:nvSpPr>
          <p:cNvPr id="5" name="Shape 2"/>
          <p:cNvSpPr/>
          <p:nvPr/>
        </p:nvSpPr>
        <p:spPr>
          <a:xfrm>
            <a:off x="0" y="4389120"/>
            <a:ext cx="12188952" cy="2468880"/>
          </a:xfrm>
          <a:prstGeom prst="rect">
            <a:avLst/>
          </a:prstGeom>
          <a:solidFill>
            <a:srgbClr val="000000">
              <a:alpha val="70000"/>
            </a:srgbClr>
          </a:solidFill>
          <a:ln/>
        </p:spPr>
      </p:sp>
      <p:sp>
        <p:nvSpPr>
          <p:cNvPr id="6" name="Text 3"/>
          <p:cNvSpPr/>
          <p:nvPr/>
        </p:nvSpPr>
        <p:spPr>
          <a:xfrm>
            <a:off x="548640" y="292608"/>
            <a:ext cx="3657600" cy="365760"/>
          </a:xfrm>
          <a:prstGeom prst="rect">
            <a:avLst/>
          </a:prstGeom>
          <a:noFill/>
          <a:ln/>
        </p:spPr>
        <p:txBody>
          <a:bodyPr wrap="square" rtlCol="0" anchor="ctr"/>
          <a:lstStyle/>
          <a:p>
            <a:pPr marL="0" indent="0">
              <a:buNone/>
            </a:pPr>
            <a:r>
              <a:rPr lang="en-US" sz="1500" b="1" kern="0" spc="150" dirty="0">
                <a:solidFill>
                  <a:srgbClr val="FFFFFF"/>
                </a:solidFill>
                <a:latin typeface="Poppins" pitchFamily="34" charset="0"/>
                <a:ea typeface="Poppins" pitchFamily="34" charset="-122"/>
                <a:cs typeface="Poppins" pitchFamily="34" charset="-120"/>
              </a:rPr>
              <a:t>RECIPE FINDER</a:t>
            </a:r>
            <a:endParaRPr lang="en-US" sz="1500" dirty="0"/>
          </a:p>
        </p:txBody>
      </p:sp>
      <p:sp>
        <p:nvSpPr>
          <p:cNvPr id="7" name="Shape 4"/>
          <p:cNvSpPr/>
          <p:nvPr/>
        </p:nvSpPr>
        <p:spPr>
          <a:xfrm>
            <a:off x="548640" y="777240"/>
            <a:ext cx="11091672" cy="0"/>
          </a:xfrm>
          <a:prstGeom prst="line">
            <a:avLst/>
          </a:prstGeom>
          <a:noFill/>
          <a:ln w="9525">
            <a:solidFill>
              <a:srgbClr val="FFFFFF">
                <a:alpha val="40000"/>
              </a:srgbClr>
            </a:solidFill>
            <a:prstDash val="solid"/>
          </a:ln>
        </p:spPr>
      </p:sp>
      <p:sp>
        <p:nvSpPr>
          <p:cNvPr id="8" name="Text 5"/>
          <p:cNvSpPr/>
          <p:nvPr/>
        </p:nvSpPr>
        <p:spPr>
          <a:xfrm>
            <a:off x="548640" y="2331720"/>
            <a:ext cx="8686800" cy="1371600"/>
          </a:xfrm>
          <a:prstGeom prst="rect">
            <a:avLst/>
          </a:prstGeom>
          <a:noFill/>
          <a:ln/>
        </p:spPr>
        <p:txBody>
          <a:bodyPr wrap="square" rtlCol="0" anchor="ctr"/>
          <a:lstStyle/>
          <a:p>
            <a:pPr marL="0" indent="0">
              <a:buNone/>
            </a:pPr>
            <a:r>
              <a:rPr lang="en-US" sz="5600" b="1" dirty="0">
                <a:solidFill>
                  <a:srgbClr val="FFFFFF"/>
                </a:solidFill>
                <a:latin typeface="Poppins" pitchFamily="34" charset="0"/>
                <a:ea typeface="Poppins" pitchFamily="34" charset="-122"/>
                <a:cs typeface="Poppins" pitchFamily="34" charset="-120"/>
              </a:rPr>
              <a:t>Recipe Finder</a:t>
            </a:r>
            <a:endParaRPr lang="en-US" sz="5600" dirty="0"/>
          </a:p>
        </p:txBody>
      </p:sp>
      <p:sp>
        <p:nvSpPr>
          <p:cNvPr id="9" name="Text 6"/>
          <p:cNvSpPr/>
          <p:nvPr/>
        </p:nvSpPr>
        <p:spPr>
          <a:xfrm>
            <a:off x="566928" y="3429000"/>
            <a:ext cx="8229600" cy="548640"/>
          </a:xfrm>
          <a:prstGeom prst="rect">
            <a:avLst/>
          </a:prstGeom>
          <a:noFill/>
          <a:ln/>
        </p:spPr>
        <p:txBody>
          <a:bodyPr wrap="square" rtlCol="0" anchor="ctr"/>
          <a:lstStyle/>
          <a:p>
            <a:pPr marL="0" indent="0">
              <a:buNone/>
            </a:pPr>
            <a:r>
              <a:rPr lang="en-US" sz="1900" i="1" dirty="0">
                <a:solidFill>
                  <a:srgbClr val="E7D9B8"/>
                </a:solidFill>
                <a:latin typeface="Calibri" pitchFamily="34" charset="0"/>
                <a:ea typeface="Calibri" pitchFamily="34" charset="-122"/>
                <a:cs typeface="Calibri" pitchFamily="34" charset="-120"/>
              </a:rPr>
              <a:t>Discover Recipes Using Ingredients and Keywords</a:t>
            </a:r>
            <a:endParaRPr lang="en-US" sz="1900" dirty="0"/>
          </a:p>
        </p:txBody>
      </p:sp>
      <p:sp>
        <p:nvSpPr>
          <p:cNvPr id="10" name="Shape 7"/>
          <p:cNvSpPr/>
          <p:nvPr/>
        </p:nvSpPr>
        <p:spPr>
          <a:xfrm>
            <a:off x="548640" y="4160520"/>
            <a:ext cx="6126480" cy="1783080"/>
          </a:xfrm>
          <a:prstGeom prst="roundRect">
            <a:avLst>
              <a:gd name="adj" fmla="val 6154"/>
            </a:avLst>
          </a:prstGeom>
          <a:solidFill>
            <a:srgbClr val="000000">
              <a:alpha val="55000"/>
            </a:srgbClr>
          </a:solidFill>
          <a:ln w="9525">
            <a:solidFill>
              <a:srgbClr val="FFFFFF">
                <a:alpha val="30000"/>
              </a:srgbClr>
            </a:solidFill>
            <a:prstDash val="solid"/>
          </a:ln>
        </p:spPr>
      </p:sp>
      <p:sp>
        <p:nvSpPr>
          <p:cNvPr id="11" name="Text 8"/>
          <p:cNvSpPr/>
          <p:nvPr/>
        </p:nvSpPr>
        <p:spPr>
          <a:xfrm>
            <a:off x="777240" y="4297680"/>
            <a:ext cx="3657600" cy="274320"/>
          </a:xfrm>
          <a:prstGeom prst="rect">
            <a:avLst/>
          </a:prstGeom>
          <a:noFill/>
          <a:ln/>
        </p:spPr>
        <p:txBody>
          <a:bodyPr wrap="square" rtlCol="0" anchor="ctr"/>
          <a:lstStyle/>
          <a:p>
            <a:pPr marL="0" indent="0">
              <a:buNone/>
            </a:pPr>
            <a:r>
              <a:rPr lang="en-US" sz="1100" b="1" kern="0" spc="150" dirty="0">
                <a:solidFill>
                  <a:srgbClr val="8FA897"/>
                </a:solidFill>
                <a:latin typeface="Calibri" pitchFamily="34" charset="0"/>
                <a:ea typeface="Calibri" pitchFamily="34" charset="-122"/>
                <a:cs typeface="Calibri" pitchFamily="34" charset="-120"/>
              </a:rPr>
              <a:t>TEAM MEMBERS</a:t>
            </a:r>
            <a:endParaRPr lang="en-US" sz="1100" dirty="0"/>
          </a:p>
        </p:txBody>
      </p:sp>
      <p:sp>
        <p:nvSpPr>
          <p:cNvPr id="12" name="Text 9"/>
          <p:cNvSpPr/>
          <p:nvPr/>
        </p:nvSpPr>
        <p:spPr>
          <a:xfrm>
            <a:off x="777240" y="4590288"/>
            <a:ext cx="5669280" cy="1234440"/>
          </a:xfrm>
          <a:prstGeom prst="rect">
            <a:avLst/>
          </a:prstGeom>
          <a:noFill/>
          <a:ln/>
        </p:spPr>
        <p:txBody>
          <a:bodyPr wrap="square" rtlCol="0" anchor="t"/>
          <a:lstStyle/>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Monisha Raghini Chelle  –  2520030537</a:t>
            </a:r>
            <a:endParaRPr lang="en-US" sz="1350" dirty="0"/>
          </a:p>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Shaik Sabiya Thabassum  –  2520030502</a:t>
            </a:r>
            <a:endParaRPr lang="en-US" sz="1350" dirty="0"/>
          </a:p>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K. Siri Chandana  –  2520030453</a:t>
            </a:r>
            <a:endParaRPr lang="en-US" sz="1350" dirty="0"/>
          </a:p>
        </p:txBody>
      </p:sp>
      <p:sp>
        <p:nvSpPr>
          <p:cNvPr id="13" name="Shape 10"/>
          <p:cNvSpPr/>
          <p:nvPr/>
        </p:nvSpPr>
        <p:spPr>
          <a:xfrm>
            <a:off x="4494276" y="6291072"/>
            <a:ext cx="3200400" cy="384048"/>
          </a:xfrm>
          <a:prstGeom prst="roundRect">
            <a:avLst>
              <a:gd name="adj" fmla="val 50000"/>
            </a:avLst>
          </a:prstGeom>
          <a:solidFill>
            <a:srgbClr val="FFFFFF"/>
          </a:solidFill>
          <a:ln/>
        </p:spPr>
      </p:sp>
      <p:sp>
        <p:nvSpPr>
          <p:cNvPr id="14" name="Text 11"/>
          <p:cNvSpPr/>
          <p:nvPr/>
        </p:nvSpPr>
        <p:spPr>
          <a:xfrm>
            <a:off x="4494276" y="6291072"/>
            <a:ext cx="3200400" cy="384048"/>
          </a:xfrm>
          <a:prstGeom prst="rect">
            <a:avLst/>
          </a:prstGeom>
          <a:noFill/>
          <a:ln/>
        </p:spPr>
        <p:txBody>
          <a:bodyPr wrap="square" rtlCol="0" anchor="ctr"/>
          <a:lstStyle/>
          <a:p>
            <a:pPr marL="0" indent="0" algn="ctr">
              <a:buNone/>
            </a:pPr>
            <a:r>
              <a:rPr lang="en-US" sz="1050" b="1" dirty="0">
                <a:solidFill>
                  <a:srgbClr val="332A20"/>
                </a:solidFill>
                <a:latin typeface="Calibri" pitchFamily="34" charset="0"/>
                <a:ea typeface="Calibri" pitchFamily="34" charset="-122"/>
                <a:cs typeface="Calibri" pitchFamily="34" charset="-120"/>
              </a:rPr>
              <a:t>Recipe Finder · DSA Project</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a:ln/>
        </p:spPr>
        <p:txBody>
          <a:bodyPr wrap="square" rtlCol="0" anchor="ctr"/>
          <a:lstStyle/>
          <a:p>
            <a:pPr marL="0" indent="0">
              <a:buNone/>
            </a:pPr>
            <a:r>
              <a:rPr lang="en-US" sz="3400" b="1" dirty="0">
                <a:solidFill>
                  <a:srgbClr val="46594B"/>
                </a:solidFill>
                <a:latin typeface="Poppins" pitchFamily="34" charset="0"/>
                <a:ea typeface="Poppins" pitchFamily="34" charset="-122"/>
                <a:cs typeface="Poppins" pitchFamily="34" charset="-120"/>
              </a:rPr>
              <a:t>Abstract</a:t>
            </a:r>
            <a:endParaRPr lang="en-US" sz="3400" dirty="0"/>
          </a:p>
        </p:txBody>
      </p:sp>
      <p:sp>
        <p:nvSpPr>
          <p:cNvPr id="3" name="Shape 1"/>
          <p:cNvSpPr/>
          <p:nvPr/>
        </p:nvSpPr>
        <p:spPr>
          <a:xfrm>
            <a:off x="566928" y="1051560"/>
            <a:ext cx="822960" cy="54864"/>
          </a:xfrm>
          <a:prstGeom prst="rect">
            <a:avLst/>
          </a:prstGeom>
          <a:solidFill>
            <a:srgbClr val="9C7A3C"/>
          </a:solidFill>
          <a:ln/>
        </p:spPr>
      </p:sp>
      <p:sp>
        <p:nvSpPr>
          <p:cNvPr id="4" name="Shape 2"/>
          <p:cNvSpPr/>
          <p:nvPr/>
        </p:nvSpPr>
        <p:spPr>
          <a:xfrm>
            <a:off x="548640" y="1417320"/>
            <a:ext cx="4114800" cy="4892040"/>
          </a:xfrm>
          <a:prstGeom prst="roundRect">
            <a:avLst>
              <a:gd name="adj" fmla="val 2667"/>
            </a:avLst>
          </a:prstGeom>
          <a:solidFill>
            <a:srgbClr val="ECEFEA"/>
          </a:solidFill>
          <a:ln/>
        </p:spPr>
      </p:sp>
      <p:sp>
        <p:nvSpPr>
          <p:cNvPr id="5" name="Shape 3"/>
          <p:cNvSpPr/>
          <p:nvPr/>
        </p:nvSpPr>
        <p:spPr>
          <a:xfrm>
            <a:off x="1234440" y="1691640"/>
            <a:ext cx="777240" cy="777240"/>
          </a:xfrm>
          <a:prstGeom prst="ellipse">
            <a:avLst/>
          </a:prstGeom>
          <a:solidFill>
            <a:srgbClr val="FFFFFF"/>
          </a:solidFill>
          <a:ln/>
        </p:spPr>
      </p:sp>
      <p:pic>
        <p:nvPicPr>
          <p:cNvPr id="6" name="Image 0" descr="ic_ingredients_green.png"/>
          <p:cNvPicPr>
            <a:picLocks noChangeAspect="1"/>
          </p:cNvPicPr>
          <p:nvPr/>
        </p:nvPicPr>
        <p:blipFill>
          <a:blip r:embed="rId3"/>
          <a:stretch>
            <a:fillRect/>
          </a:stretch>
        </p:blipFill>
        <p:spPr>
          <a:xfrm>
            <a:off x="1409319" y="1866519"/>
            <a:ext cx="427482" cy="427482"/>
          </a:xfrm>
          <a:prstGeom prst="rect">
            <a:avLst/>
          </a:prstGeom>
        </p:spPr>
      </p:pic>
      <p:sp>
        <p:nvSpPr>
          <p:cNvPr id="7" name="Text 4"/>
          <p:cNvSpPr/>
          <p:nvPr/>
        </p:nvSpPr>
        <p:spPr>
          <a:xfrm>
            <a:off x="2194560" y="1691640"/>
            <a:ext cx="2331720" cy="777240"/>
          </a:xfrm>
          <a:prstGeom prst="rect">
            <a:avLst/>
          </a:prstGeom>
          <a:noFill/>
          <a:ln/>
        </p:spPr>
        <p:txBody>
          <a:bodyPr wrap="square" rtlCol="0" anchor="ctr"/>
          <a:lstStyle/>
          <a:p>
            <a:pPr marL="0" indent="0">
              <a:buNone/>
            </a:pPr>
            <a:r>
              <a:rPr lang="en-US" sz="1250" dirty="0">
                <a:solidFill>
                  <a:srgbClr val="332A20"/>
                </a:solidFill>
                <a:latin typeface="Calibri" pitchFamily="34" charset="0"/>
                <a:ea typeface="Calibri" pitchFamily="34" charset="-122"/>
                <a:cs typeface="Calibri" pitchFamily="34" charset="-120"/>
              </a:rPr>
              <a:t>Tomato · Onion · Egg</a:t>
            </a:r>
            <a:endParaRPr lang="en-US" sz="1250" dirty="0"/>
          </a:p>
        </p:txBody>
      </p:sp>
      <p:pic>
        <p:nvPicPr>
          <p:cNvPr id="8" name="Image 1" descr="ic_arrowdown_orange.png"/>
          <p:cNvPicPr>
            <a:picLocks noChangeAspect="1"/>
          </p:cNvPicPr>
          <p:nvPr/>
        </p:nvPicPr>
        <p:blipFill>
          <a:blip r:embed="rId4"/>
          <a:stretch>
            <a:fillRect/>
          </a:stretch>
        </p:blipFill>
        <p:spPr>
          <a:xfrm>
            <a:off x="1517904" y="2532888"/>
            <a:ext cx="219456" cy="219456"/>
          </a:xfrm>
          <a:prstGeom prst="rect">
            <a:avLst/>
          </a:prstGeom>
        </p:spPr>
      </p:pic>
      <p:sp>
        <p:nvSpPr>
          <p:cNvPr id="9" name="Shape 5"/>
          <p:cNvSpPr/>
          <p:nvPr/>
        </p:nvSpPr>
        <p:spPr>
          <a:xfrm>
            <a:off x="1234440" y="2807208"/>
            <a:ext cx="777240" cy="777240"/>
          </a:xfrm>
          <a:prstGeom prst="ellipse">
            <a:avLst/>
          </a:prstGeom>
          <a:solidFill>
            <a:srgbClr val="FFFFFF"/>
          </a:solidFill>
          <a:ln/>
        </p:spPr>
      </p:sp>
      <p:pic>
        <p:nvPicPr>
          <p:cNvPr id="10" name="Image 2" descr="ic_search_orange.png"/>
          <p:cNvPicPr>
            <a:picLocks noChangeAspect="1"/>
          </p:cNvPicPr>
          <p:nvPr/>
        </p:nvPicPr>
        <p:blipFill>
          <a:blip r:embed="rId5"/>
          <a:stretch>
            <a:fillRect/>
          </a:stretch>
        </p:blipFill>
        <p:spPr>
          <a:xfrm>
            <a:off x="1409319" y="2982087"/>
            <a:ext cx="427482" cy="427482"/>
          </a:xfrm>
          <a:prstGeom prst="rect">
            <a:avLst/>
          </a:prstGeom>
        </p:spPr>
      </p:pic>
      <p:sp>
        <p:nvSpPr>
          <p:cNvPr id="11" name="Text 6"/>
          <p:cNvSpPr/>
          <p:nvPr/>
        </p:nvSpPr>
        <p:spPr>
          <a:xfrm>
            <a:off x="2194560" y="2807208"/>
            <a:ext cx="2331720" cy="777240"/>
          </a:xfrm>
          <a:prstGeom prst="rect">
            <a:avLst/>
          </a:prstGeom>
          <a:noFill/>
          <a:ln/>
        </p:spPr>
        <p:txBody>
          <a:bodyPr wrap="square" rtlCol="0" anchor="ctr"/>
          <a:lstStyle/>
          <a:p>
            <a:pPr marL="0" indent="0">
              <a:buNone/>
            </a:pPr>
            <a:r>
              <a:rPr lang="en-US" sz="1250" dirty="0">
                <a:solidFill>
                  <a:srgbClr val="332A20"/>
                </a:solidFill>
                <a:latin typeface="Calibri" pitchFamily="34" charset="0"/>
                <a:ea typeface="Calibri" pitchFamily="34" charset="-122"/>
                <a:cs typeface="Calibri" pitchFamily="34" charset="-120"/>
              </a:rPr>
              <a:t>Search</a:t>
            </a:r>
            <a:endParaRPr lang="en-US" sz="1250" dirty="0"/>
          </a:p>
        </p:txBody>
      </p:sp>
      <p:pic>
        <p:nvPicPr>
          <p:cNvPr id="12" name="Image 3" descr="ic_arrowdown_orange.png"/>
          <p:cNvPicPr>
            <a:picLocks noChangeAspect="1"/>
          </p:cNvPicPr>
          <p:nvPr/>
        </p:nvPicPr>
        <p:blipFill>
          <a:blip r:embed="rId4"/>
          <a:stretch>
            <a:fillRect/>
          </a:stretch>
        </p:blipFill>
        <p:spPr>
          <a:xfrm>
            <a:off x="1517904" y="3648456"/>
            <a:ext cx="219456" cy="219456"/>
          </a:xfrm>
          <a:prstGeom prst="rect">
            <a:avLst/>
          </a:prstGeom>
        </p:spPr>
      </p:pic>
      <p:sp>
        <p:nvSpPr>
          <p:cNvPr id="13" name="Shape 7"/>
          <p:cNvSpPr/>
          <p:nvPr/>
        </p:nvSpPr>
        <p:spPr>
          <a:xfrm>
            <a:off x="1234440" y="3922776"/>
            <a:ext cx="777240" cy="777240"/>
          </a:xfrm>
          <a:prstGeom prst="ellipse">
            <a:avLst/>
          </a:prstGeom>
          <a:solidFill>
            <a:srgbClr val="FFFFFF"/>
          </a:solidFill>
          <a:ln/>
        </p:spPr>
      </p:sp>
      <p:pic>
        <p:nvPicPr>
          <p:cNvPr id="14" name="Image 4" descr="ic_book_green.png"/>
          <p:cNvPicPr>
            <a:picLocks noChangeAspect="1"/>
          </p:cNvPicPr>
          <p:nvPr/>
        </p:nvPicPr>
        <p:blipFill>
          <a:blip r:embed="rId6"/>
          <a:stretch>
            <a:fillRect/>
          </a:stretch>
        </p:blipFill>
        <p:spPr>
          <a:xfrm>
            <a:off x="1409319" y="4097655"/>
            <a:ext cx="427482" cy="427482"/>
          </a:xfrm>
          <a:prstGeom prst="rect">
            <a:avLst/>
          </a:prstGeom>
        </p:spPr>
      </p:pic>
      <p:sp>
        <p:nvSpPr>
          <p:cNvPr id="15" name="Text 8"/>
          <p:cNvSpPr/>
          <p:nvPr/>
        </p:nvSpPr>
        <p:spPr>
          <a:xfrm>
            <a:off x="2194560" y="3922776"/>
            <a:ext cx="2331720" cy="777240"/>
          </a:xfrm>
          <a:prstGeom prst="rect">
            <a:avLst/>
          </a:prstGeom>
          <a:noFill/>
          <a:ln/>
        </p:spPr>
        <p:txBody>
          <a:bodyPr wrap="square" rtlCol="0" anchor="ctr"/>
          <a:lstStyle/>
          <a:p>
            <a:pPr marL="0" indent="0">
              <a:buNone/>
            </a:pPr>
            <a:r>
              <a:rPr lang="en-US" sz="1250" b="1" dirty="0">
                <a:solidFill>
                  <a:srgbClr val="332A20"/>
                </a:solidFill>
                <a:latin typeface="Calibri" pitchFamily="34" charset="0"/>
                <a:ea typeface="Calibri" pitchFamily="34" charset="-122"/>
                <a:cs typeface="Calibri" pitchFamily="34" charset="-120"/>
              </a:rPr>
              <a:t>Recipe Finder</a:t>
            </a:r>
            <a:endParaRPr lang="en-US" sz="1250" dirty="0"/>
          </a:p>
        </p:txBody>
      </p:sp>
      <p:pic>
        <p:nvPicPr>
          <p:cNvPr id="16" name="Image 5" descr="ic_arrowdown_orange.png"/>
          <p:cNvPicPr>
            <a:picLocks noChangeAspect="1"/>
          </p:cNvPicPr>
          <p:nvPr/>
        </p:nvPicPr>
        <p:blipFill>
          <a:blip r:embed="rId4"/>
          <a:stretch>
            <a:fillRect/>
          </a:stretch>
        </p:blipFill>
        <p:spPr>
          <a:xfrm>
            <a:off x="1517904" y="4764024"/>
            <a:ext cx="219456" cy="219456"/>
          </a:xfrm>
          <a:prstGeom prst="rect">
            <a:avLst/>
          </a:prstGeom>
        </p:spPr>
      </p:pic>
      <p:sp>
        <p:nvSpPr>
          <p:cNvPr id="17" name="Shape 9"/>
          <p:cNvSpPr/>
          <p:nvPr/>
        </p:nvSpPr>
        <p:spPr>
          <a:xfrm>
            <a:off x="1234440" y="5038344"/>
            <a:ext cx="777240" cy="777240"/>
          </a:xfrm>
          <a:prstGeom prst="ellipse">
            <a:avLst/>
          </a:prstGeom>
          <a:solidFill>
            <a:srgbClr val="FFFFFF"/>
          </a:solidFill>
          <a:ln/>
        </p:spPr>
      </p:sp>
      <p:pic>
        <p:nvPicPr>
          <p:cNvPr id="18" name="Image 6" descr="ic_utensils_green.png"/>
          <p:cNvPicPr>
            <a:picLocks noChangeAspect="1"/>
          </p:cNvPicPr>
          <p:nvPr/>
        </p:nvPicPr>
        <p:blipFill>
          <a:blip r:embed="rId7"/>
          <a:stretch>
            <a:fillRect/>
          </a:stretch>
        </p:blipFill>
        <p:spPr>
          <a:xfrm>
            <a:off x="1409319" y="5213223"/>
            <a:ext cx="427482" cy="427482"/>
          </a:xfrm>
          <a:prstGeom prst="rect">
            <a:avLst/>
          </a:prstGeom>
        </p:spPr>
      </p:pic>
      <p:sp>
        <p:nvSpPr>
          <p:cNvPr id="19" name="Text 10"/>
          <p:cNvSpPr/>
          <p:nvPr/>
        </p:nvSpPr>
        <p:spPr>
          <a:xfrm>
            <a:off x="2194560" y="5038344"/>
            <a:ext cx="2331720" cy="777240"/>
          </a:xfrm>
          <a:prstGeom prst="rect">
            <a:avLst/>
          </a:prstGeom>
          <a:noFill/>
          <a:ln/>
        </p:spPr>
        <p:txBody>
          <a:bodyPr wrap="square" rtlCol="0" anchor="ctr"/>
          <a:lstStyle/>
          <a:p>
            <a:pPr marL="0" indent="0">
              <a:buNone/>
            </a:pPr>
            <a:r>
              <a:rPr lang="en-US" sz="1250" dirty="0">
                <a:solidFill>
                  <a:srgbClr val="332A20"/>
                </a:solidFill>
                <a:latin typeface="Calibri" pitchFamily="34" charset="0"/>
                <a:ea typeface="Calibri" pitchFamily="34" charset="-122"/>
                <a:cs typeface="Calibri" pitchFamily="34" charset="-120"/>
              </a:rPr>
              <a:t>Tomato Omelette, Egg Curry, Tomato Soup</a:t>
            </a:r>
            <a:endParaRPr lang="en-US" sz="1250" dirty="0"/>
          </a:p>
        </p:txBody>
      </p:sp>
      <p:sp>
        <p:nvSpPr>
          <p:cNvPr id="20" name="Text 11"/>
          <p:cNvSpPr/>
          <p:nvPr/>
        </p:nvSpPr>
        <p:spPr>
          <a:xfrm>
            <a:off x="4892040" y="1463040"/>
            <a:ext cx="6720840" cy="4846320"/>
          </a:xfrm>
          <a:prstGeom prst="rect">
            <a:avLst/>
          </a:prstGeom>
          <a:noFill/>
          <a:ln/>
        </p:spPr>
        <p:txBody>
          <a:bodyPr wrap="square" rtlCol="0" anchor="t"/>
          <a:lstStyle/>
          <a:p>
            <a:pPr marL="0" indent="0">
              <a:lnSpc>
                <a:spcPct val="115000"/>
              </a:lnSpc>
              <a:spcAft>
                <a:spcPts val="1400"/>
              </a:spcAft>
              <a:buNone/>
            </a:pPr>
            <a:r>
              <a:rPr lang="en-US" sz="1450" dirty="0">
                <a:solidFill>
                  <a:srgbClr val="332A20"/>
                </a:solidFill>
                <a:latin typeface="Calibri" pitchFamily="34" charset="0"/>
                <a:ea typeface="Calibri" pitchFamily="34" charset="-122"/>
                <a:cs typeface="Calibri" pitchFamily="34" charset="-120"/>
              </a:rPr>
              <a:t>Many people have ingredients at home but do not know which recipes they can prepare using those ingredients. Most existing recipe websites require users to search by the recipe name, which makes it difficult to discover recipes when only the available ingredients are known.</a:t>
            </a:r>
            <a:endParaRPr lang="en-US" sz="1450" dirty="0"/>
          </a:p>
          <a:p>
            <a:pPr marL="0" indent="0">
              <a:lnSpc>
                <a:spcPct val="115000"/>
              </a:lnSpc>
              <a:spcAft>
                <a:spcPts val="1400"/>
              </a:spcAft>
              <a:buNone/>
            </a:pPr>
            <a:r>
              <a:rPr lang="en-US" sz="1450" dirty="0">
                <a:solidFill>
                  <a:srgbClr val="332A20"/>
                </a:solidFill>
                <a:latin typeface="Calibri" pitchFamily="34" charset="0"/>
                <a:ea typeface="Calibri" pitchFamily="34" charset="-122"/>
                <a:cs typeface="Calibri" pitchFamily="34" charset="-120"/>
              </a:rPr>
              <a:t>Recipe Finder is an application developed using Java that allows users to enter the ingredients they have or search using keywords. The system finds matching recipes and displays complete recipe details, including ingredients, cooking instructions, preparation time, and cooking time.</a:t>
            </a:r>
            <a:endParaRPr lang="en-US" sz="1450" dirty="0"/>
          </a:p>
          <a:p>
            <a:pPr marL="0" indent="0">
              <a:lnSpc>
                <a:spcPct val="115000"/>
              </a:lnSpc>
              <a:buNone/>
            </a:pPr>
            <a:r>
              <a:rPr lang="en-US" sz="1450" dirty="0">
                <a:solidFill>
                  <a:srgbClr val="332A20"/>
                </a:solidFill>
                <a:latin typeface="Calibri" pitchFamily="34" charset="0"/>
                <a:ea typeface="Calibri" pitchFamily="34" charset="-122"/>
                <a:cs typeface="Calibri" pitchFamily="34" charset="-120"/>
              </a:rPr>
              <a:t>This helps users quickly discover suitable recipes, save time, and reduce food waste by making better use of the ingredients available at home.</a:t>
            </a:r>
            <a:endParaRPr lang="en-US" sz="1450" dirty="0"/>
          </a:p>
        </p:txBody>
      </p:sp>
      <p:sp>
        <p:nvSpPr>
          <p:cNvPr id="21" name="Text 12"/>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7A7267"/>
                </a:solidFill>
                <a:latin typeface="Calibri" pitchFamily="34" charset="0"/>
                <a:ea typeface="Calibri" pitchFamily="34" charset="-122"/>
                <a:cs typeface="Calibri" pitchFamily="34" charset="-120"/>
              </a:rPr>
              <a:t>Recipe Finder</a:t>
            </a:r>
            <a:endParaRPr lang="en-US" sz="900" dirty="0"/>
          </a:p>
        </p:txBody>
      </p:sp>
      <p:sp>
        <p:nvSpPr>
          <p:cNvPr id="22" name="Text 13"/>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7A7267"/>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rtlCol="0" anchor="ctr"/>
          <a:lstStyle/>
          <a:p>
            <a:pPr marL="0" indent="0">
              <a:buNone/>
            </a:pPr>
            <a:r>
              <a:rPr lang="en-US" sz="3400" b="1" dirty="0">
                <a:solidFill>
                  <a:srgbClr val="46594B"/>
                </a:solidFill>
                <a:latin typeface="Poppins" pitchFamily="34" charset="0"/>
                <a:ea typeface="Poppins" pitchFamily="34" charset="-122"/>
                <a:cs typeface="Poppins" pitchFamily="34" charset="-120"/>
              </a:rPr>
              <a:t>Problem Statement</a:t>
            </a:r>
            <a:endParaRPr lang="en-US" sz="3400" dirty="0"/>
          </a:p>
        </p:txBody>
      </p:sp>
      <p:sp>
        <p:nvSpPr>
          <p:cNvPr id="3" name="Shape 1"/>
          <p:cNvSpPr/>
          <p:nvPr/>
        </p:nvSpPr>
        <p:spPr>
          <a:xfrm>
            <a:off x="566928" y="1051560"/>
            <a:ext cx="822960" cy="54864"/>
          </a:xfrm>
          <a:prstGeom prst="rect">
            <a:avLst/>
          </a:prstGeom>
          <a:solidFill>
            <a:srgbClr val="9C7A3C"/>
          </a:solidFill>
          <a:ln/>
        </p:spPr>
      </p:sp>
      <p:sp>
        <p:nvSpPr>
          <p:cNvPr id="4" name="Text 2"/>
          <p:cNvSpPr/>
          <p:nvPr/>
        </p:nvSpPr>
        <p:spPr>
          <a:xfrm>
            <a:off x="548640" y="1234440"/>
            <a:ext cx="11064240" cy="777240"/>
          </a:xfrm>
          <a:prstGeom prst="rect">
            <a:avLst/>
          </a:prstGeom>
          <a:noFill/>
          <a:ln/>
        </p:spPr>
        <p:txBody>
          <a:bodyPr wrap="square" rtlCol="0" anchor="ctr"/>
          <a:lstStyle/>
          <a:p>
            <a:pPr marL="0" indent="0">
              <a:lnSpc>
                <a:spcPct val="115000"/>
              </a:lnSpc>
              <a:buNone/>
            </a:pPr>
            <a:r>
              <a:rPr lang="en-US" sz="1350" i="1" dirty="0">
                <a:solidFill>
                  <a:srgbClr val="7A7267"/>
                </a:solidFill>
                <a:latin typeface="Calibri" pitchFamily="34" charset="0"/>
                <a:ea typeface="Calibri" pitchFamily="34" charset="-122"/>
                <a:cs typeface="Calibri" pitchFamily="34" charset="-120"/>
              </a:rPr>
              <a:t>Many users have ingredients available at home but do not know which recipes they can prepare. Existing recipe applications mainly focus on searching by recipe names instead of ingredients, making it difficult for users who only know the ingredients they have.</a:t>
            </a:r>
            <a:endParaRPr lang="en-US" sz="1350" dirty="0"/>
          </a:p>
        </p:txBody>
      </p:sp>
      <p:sp>
        <p:nvSpPr>
          <p:cNvPr id="5" name="Shape 3"/>
          <p:cNvSpPr/>
          <p:nvPr/>
        </p:nvSpPr>
        <p:spPr>
          <a:xfrm>
            <a:off x="548640" y="2194560"/>
            <a:ext cx="5394960" cy="4114800"/>
          </a:xfrm>
          <a:prstGeom prst="roundRect">
            <a:avLst>
              <a:gd name="adj" fmla="val 2667"/>
            </a:avLst>
          </a:prstGeom>
          <a:solidFill>
            <a:srgbClr val="F1E6D2"/>
          </a:solidFill>
          <a:ln/>
        </p:spPr>
      </p:sp>
      <p:sp>
        <p:nvSpPr>
          <p:cNvPr id="6" name="Text 4"/>
          <p:cNvSpPr/>
          <p:nvPr/>
        </p:nvSpPr>
        <p:spPr>
          <a:xfrm>
            <a:off x="868680" y="2423160"/>
            <a:ext cx="4572000" cy="320040"/>
          </a:xfrm>
          <a:prstGeom prst="rect">
            <a:avLst/>
          </a:prstGeom>
          <a:noFill/>
          <a:ln/>
        </p:spPr>
        <p:txBody>
          <a:bodyPr wrap="square" rtlCol="0" anchor="ctr"/>
          <a:lstStyle/>
          <a:p>
            <a:pPr marL="0" indent="0">
              <a:buNone/>
            </a:pPr>
            <a:r>
              <a:rPr lang="en-US" sz="1300" b="1" kern="0" spc="100" dirty="0">
                <a:solidFill>
                  <a:srgbClr val="9C7A3C"/>
                </a:solidFill>
                <a:latin typeface="Calibri" pitchFamily="34" charset="0"/>
                <a:ea typeface="Calibri" pitchFamily="34" charset="-122"/>
                <a:cs typeface="Calibri" pitchFamily="34" charset="-120"/>
              </a:rPr>
              <a:t>EXISTING PROBLEMS</a:t>
            </a:r>
            <a:endParaRPr lang="en-US" sz="1300" dirty="0"/>
          </a:p>
        </p:txBody>
      </p:sp>
      <p:sp>
        <p:nvSpPr>
          <p:cNvPr id="7" name="Shape 5"/>
          <p:cNvSpPr/>
          <p:nvPr/>
        </p:nvSpPr>
        <p:spPr>
          <a:xfrm>
            <a:off x="868680" y="2926080"/>
            <a:ext cx="548640" cy="548640"/>
          </a:xfrm>
          <a:prstGeom prst="ellipse">
            <a:avLst/>
          </a:prstGeom>
          <a:solidFill>
            <a:srgbClr val="FFFFFF"/>
          </a:solidFill>
          <a:ln/>
        </p:spPr>
      </p:sp>
      <p:pic>
        <p:nvPicPr>
          <p:cNvPr id="8" name="Image 0" descr="ic_times_orange.png"/>
          <p:cNvPicPr>
            <a:picLocks noChangeAspect="1"/>
          </p:cNvPicPr>
          <p:nvPr/>
        </p:nvPicPr>
        <p:blipFill>
          <a:blip r:embed="rId3"/>
          <a:stretch>
            <a:fillRect/>
          </a:stretch>
        </p:blipFill>
        <p:spPr>
          <a:xfrm>
            <a:off x="992124" y="3049524"/>
            <a:ext cx="301752" cy="301752"/>
          </a:xfrm>
          <a:prstGeom prst="rect">
            <a:avLst/>
          </a:prstGeom>
        </p:spPr>
      </p:pic>
      <p:sp>
        <p:nvSpPr>
          <p:cNvPr id="9" name="Text 6"/>
          <p:cNvSpPr/>
          <p:nvPr/>
        </p:nvSpPr>
        <p:spPr>
          <a:xfrm>
            <a:off x="1600200" y="2926080"/>
            <a:ext cx="4160520" cy="548640"/>
          </a:xfrm>
          <a:prstGeom prst="rect">
            <a:avLst/>
          </a:prstGeom>
          <a:noFill/>
          <a:ln/>
        </p:spPr>
        <p:txBody>
          <a:bodyPr wrap="square" rtlCol="0" anchor="ctr"/>
          <a:lstStyle/>
          <a:p>
            <a:pPr marL="0" indent="0">
              <a:lnSpc>
                <a:spcPct val="105000"/>
              </a:lnSpc>
              <a:buNone/>
            </a:pPr>
            <a:r>
              <a:rPr lang="en-US" sz="1300" dirty="0">
                <a:solidFill>
                  <a:srgbClr val="332A20"/>
                </a:solidFill>
                <a:latin typeface="Calibri" pitchFamily="34" charset="0"/>
                <a:ea typeface="Calibri" pitchFamily="34" charset="-122"/>
                <a:cs typeface="Calibri" pitchFamily="34" charset="-120"/>
              </a:rPr>
              <a:t>Difficulty finding recipes using available ingredients</a:t>
            </a:r>
            <a:endParaRPr lang="en-US" sz="1300" dirty="0"/>
          </a:p>
        </p:txBody>
      </p:sp>
      <p:sp>
        <p:nvSpPr>
          <p:cNvPr id="10" name="Shape 7"/>
          <p:cNvSpPr/>
          <p:nvPr/>
        </p:nvSpPr>
        <p:spPr>
          <a:xfrm>
            <a:off x="868680" y="3703320"/>
            <a:ext cx="548640" cy="548640"/>
          </a:xfrm>
          <a:prstGeom prst="ellipse">
            <a:avLst/>
          </a:prstGeom>
          <a:solidFill>
            <a:srgbClr val="FFFFFF"/>
          </a:solidFill>
          <a:ln/>
        </p:spPr>
      </p:sp>
      <p:pic>
        <p:nvPicPr>
          <p:cNvPr id="11" name="Image 1" descr="ic_times_orange.png"/>
          <p:cNvPicPr>
            <a:picLocks noChangeAspect="1"/>
          </p:cNvPicPr>
          <p:nvPr/>
        </p:nvPicPr>
        <p:blipFill>
          <a:blip r:embed="rId3"/>
          <a:stretch>
            <a:fillRect/>
          </a:stretch>
        </p:blipFill>
        <p:spPr>
          <a:xfrm>
            <a:off x="992124" y="3826764"/>
            <a:ext cx="301752" cy="301752"/>
          </a:xfrm>
          <a:prstGeom prst="rect">
            <a:avLst/>
          </a:prstGeom>
        </p:spPr>
      </p:pic>
      <p:sp>
        <p:nvSpPr>
          <p:cNvPr id="12" name="Text 8"/>
          <p:cNvSpPr/>
          <p:nvPr/>
        </p:nvSpPr>
        <p:spPr>
          <a:xfrm>
            <a:off x="1600200" y="3703320"/>
            <a:ext cx="4160520" cy="548640"/>
          </a:xfrm>
          <a:prstGeom prst="rect">
            <a:avLst/>
          </a:prstGeom>
          <a:noFill/>
          <a:ln/>
        </p:spPr>
        <p:txBody>
          <a:bodyPr wrap="square" rtlCol="0" anchor="ctr"/>
          <a:lstStyle/>
          <a:p>
            <a:pPr marL="0" indent="0">
              <a:lnSpc>
                <a:spcPct val="105000"/>
              </a:lnSpc>
              <a:buNone/>
            </a:pPr>
            <a:r>
              <a:rPr lang="en-US" sz="1300" dirty="0">
                <a:solidFill>
                  <a:srgbClr val="332A20"/>
                </a:solidFill>
                <a:latin typeface="Calibri" pitchFamily="34" charset="0"/>
                <a:ea typeface="Calibri" pitchFamily="34" charset="-122"/>
                <a:cs typeface="Calibri" pitchFamily="34" charset="-120"/>
              </a:rPr>
              <a:t>Searching by recipe name is inconvenient</a:t>
            </a:r>
            <a:endParaRPr lang="en-US" sz="1300" dirty="0"/>
          </a:p>
        </p:txBody>
      </p:sp>
      <p:sp>
        <p:nvSpPr>
          <p:cNvPr id="13" name="Shape 9"/>
          <p:cNvSpPr/>
          <p:nvPr/>
        </p:nvSpPr>
        <p:spPr>
          <a:xfrm>
            <a:off x="868680" y="4480560"/>
            <a:ext cx="548640" cy="548640"/>
          </a:xfrm>
          <a:prstGeom prst="ellipse">
            <a:avLst/>
          </a:prstGeom>
          <a:solidFill>
            <a:srgbClr val="FFFFFF"/>
          </a:solidFill>
          <a:ln/>
        </p:spPr>
      </p:sp>
      <p:pic>
        <p:nvPicPr>
          <p:cNvPr id="14" name="Image 2" descr="ic_hourglass_orange.png"/>
          <p:cNvPicPr>
            <a:picLocks noChangeAspect="1"/>
          </p:cNvPicPr>
          <p:nvPr/>
        </p:nvPicPr>
        <p:blipFill>
          <a:blip r:embed="rId4"/>
          <a:stretch>
            <a:fillRect/>
          </a:stretch>
        </p:blipFill>
        <p:spPr>
          <a:xfrm>
            <a:off x="992124" y="4604004"/>
            <a:ext cx="301752" cy="301752"/>
          </a:xfrm>
          <a:prstGeom prst="rect">
            <a:avLst/>
          </a:prstGeom>
        </p:spPr>
      </p:pic>
      <p:sp>
        <p:nvSpPr>
          <p:cNvPr id="15" name="Text 10"/>
          <p:cNvSpPr/>
          <p:nvPr/>
        </p:nvSpPr>
        <p:spPr>
          <a:xfrm>
            <a:off x="1600200" y="4480560"/>
            <a:ext cx="4160520" cy="548640"/>
          </a:xfrm>
          <a:prstGeom prst="rect">
            <a:avLst/>
          </a:prstGeom>
          <a:noFill/>
          <a:ln/>
        </p:spPr>
        <p:txBody>
          <a:bodyPr wrap="square" rtlCol="0" anchor="ctr"/>
          <a:lstStyle/>
          <a:p>
            <a:pPr marL="0" indent="0">
              <a:lnSpc>
                <a:spcPct val="105000"/>
              </a:lnSpc>
              <a:buNone/>
            </a:pPr>
            <a:r>
              <a:rPr lang="en-US" sz="1300" dirty="0">
                <a:solidFill>
                  <a:srgbClr val="332A20"/>
                </a:solidFill>
                <a:latin typeface="Calibri" pitchFamily="34" charset="0"/>
                <a:ea typeface="Calibri" pitchFamily="34" charset="-122"/>
                <a:cs typeface="Calibri" pitchFamily="34" charset="-120"/>
              </a:rPr>
              <a:t>Time-consuming recipe search</a:t>
            </a:r>
            <a:endParaRPr lang="en-US" sz="1300" dirty="0"/>
          </a:p>
        </p:txBody>
      </p:sp>
      <p:sp>
        <p:nvSpPr>
          <p:cNvPr id="16" name="Shape 11"/>
          <p:cNvSpPr/>
          <p:nvPr/>
        </p:nvSpPr>
        <p:spPr>
          <a:xfrm>
            <a:off x="868680" y="5257800"/>
            <a:ext cx="548640" cy="548640"/>
          </a:xfrm>
          <a:prstGeom prst="ellipse">
            <a:avLst/>
          </a:prstGeom>
          <a:solidFill>
            <a:srgbClr val="FFFFFF"/>
          </a:solidFill>
          <a:ln/>
        </p:spPr>
      </p:sp>
      <p:pic>
        <p:nvPicPr>
          <p:cNvPr id="17" name="Image 3" descr="ic_waste_orange.png"/>
          <p:cNvPicPr>
            <a:picLocks noChangeAspect="1"/>
          </p:cNvPicPr>
          <p:nvPr/>
        </p:nvPicPr>
        <p:blipFill>
          <a:blip r:embed="rId5"/>
          <a:stretch>
            <a:fillRect/>
          </a:stretch>
        </p:blipFill>
        <p:spPr>
          <a:xfrm>
            <a:off x="992124" y="5381244"/>
            <a:ext cx="301752" cy="301752"/>
          </a:xfrm>
          <a:prstGeom prst="rect">
            <a:avLst/>
          </a:prstGeom>
        </p:spPr>
      </p:pic>
      <p:sp>
        <p:nvSpPr>
          <p:cNvPr id="18" name="Text 12"/>
          <p:cNvSpPr/>
          <p:nvPr/>
        </p:nvSpPr>
        <p:spPr>
          <a:xfrm>
            <a:off x="1600200" y="5257800"/>
            <a:ext cx="4160520" cy="548640"/>
          </a:xfrm>
          <a:prstGeom prst="rect">
            <a:avLst/>
          </a:prstGeom>
          <a:noFill/>
          <a:ln/>
        </p:spPr>
        <p:txBody>
          <a:bodyPr wrap="square" rtlCol="0" anchor="ctr"/>
          <a:lstStyle/>
          <a:p>
            <a:pPr marL="0" indent="0">
              <a:lnSpc>
                <a:spcPct val="105000"/>
              </a:lnSpc>
              <a:buNone/>
            </a:pPr>
            <a:r>
              <a:rPr lang="en-US" sz="1300" dirty="0">
                <a:solidFill>
                  <a:srgbClr val="332A20"/>
                </a:solidFill>
                <a:latin typeface="Calibri" pitchFamily="34" charset="0"/>
                <a:ea typeface="Calibri" pitchFamily="34" charset="-122"/>
                <a:cs typeface="Calibri" pitchFamily="34" charset="-120"/>
              </a:rPr>
              <a:t>Food ingredients may go unused, leading to food waste</a:t>
            </a:r>
            <a:endParaRPr lang="en-US" sz="1300" dirty="0"/>
          </a:p>
        </p:txBody>
      </p:sp>
      <p:sp>
        <p:nvSpPr>
          <p:cNvPr id="19" name="Shape 13"/>
          <p:cNvSpPr/>
          <p:nvPr/>
        </p:nvSpPr>
        <p:spPr>
          <a:xfrm>
            <a:off x="6217920" y="2194560"/>
            <a:ext cx="5394960" cy="4114800"/>
          </a:xfrm>
          <a:prstGeom prst="roundRect">
            <a:avLst>
              <a:gd name="adj" fmla="val 2667"/>
            </a:avLst>
          </a:prstGeom>
          <a:solidFill>
            <a:srgbClr val="46594B"/>
          </a:solidFill>
          <a:ln/>
        </p:spPr>
      </p:sp>
      <p:sp>
        <p:nvSpPr>
          <p:cNvPr id="20" name="Text 14"/>
          <p:cNvSpPr/>
          <p:nvPr/>
        </p:nvSpPr>
        <p:spPr>
          <a:xfrm>
            <a:off x="6537960" y="2423160"/>
            <a:ext cx="4572000" cy="320040"/>
          </a:xfrm>
          <a:prstGeom prst="rect">
            <a:avLst/>
          </a:prstGeom>
          <a:noFill/>
          <a:ln/>
        </p:spPr>
        <p:txBody>
          <a:bodyPr wrap="square" rtlCol="0" anchor="ctr"/>
          <a:lstStyle/>
          <a:p>
            <a:pPr marL="0" indent="0">
              <a:buNone/>
            </a:pPr>
            <a:r>
              <a:rPr lang="en-US" sz="1300" b="1" kern="0" spc="100" dirty="0">
                <a:solidFill>
                  <a:srgbClr val="9C7A3C"/>
                </a:solidFill>
                <a:latin typeface="Calibri" pitchFamily="34" charset="0"/>
                <a:ea typeface="Calibri" pitchFamily="34" charset="-122"/>
                <a:cs typeface="Calibri" pitchFamily="34" charset="-120"/>
              </a:rPr>
              <a:t>PROPOSED SOLUTION</a:t>
            </a:r>
            <a:endParaRPr lang="en-US" sz="1300" dirty="0"/>
          </a:p>
        </p:txBody>
      </p:sp>
      <p:sp>
        <p:nvSpPr>
          <p:cNvPr id="21" name="Shape 15"/>
          <p:cNvSpPr/>
          <p:nvPr/>
        </p:nvSpPr>
        <p:spPr>
          <a:xfrm>
            <a:off x="6537960" y="2880360"/>
            <a:ext cx="777240" cy="777240"/>
          </a:xfrm>
          <a:prstGeom prst="ellipse">
            <a:avLst/>
          </a:prstGeom>
          <a:solidFill>
            <a:srgbClr val="4B321D"/>
          </a:solidFill>
          <a:ln/>
        </p:spPr>
      </p:sp>
      <p:pic>
        <p:nvPicPr>
          <p:cNvPr id="22" name="Image 4" descr="ic_bulb_white.png"/>
          <p:cNvPicPr>
            <a:picLocks noChangeAspect="1"/>
          </p:cNvPicPr>
          <p:nvPr/>
        </p:nvPicPr>
        <p:blipFill>
          <a:blip r:embed="rId6"/>
          <a:stretch>
            <a:fillRect/>
          </a:stretch>
        </p:blipFill>
        <p:spPr>
          <a:xfrm>
            <a:off x="6712839" y="3055239"/>
            <a:ext cx="427482" cy="427482"/>
          </a:xfrm>
          <a:prstGeom prst="rect">
            <a:avLst/>
          </a:prstGeom>
        </p:spPr>
      </p:pic>
      <p:sp>
        <p:nvSpPr>
          <p:cNvPr id="23" name="Text 16"/>
          <p:cNvSpPr/>
          <p:nvPr/>
        </p:nvSpPr>
        <p:spPr>
          <a:xfrm>
            <a:off x="6537960" y="3794760"/>
            <a:ext cx="4754880" cy="1371600"/>
          </a:xfrm>
          <a:prstGeom prst="rect">
            <a:avLst/>
          </a:prstGeom>
          <a:noFill/>
          <a:ln/>
        </p:spPr>
        <p:txBody>
          <a:bodyPr wrap="square" rtlCol="0" anchor="ctr"/>
          <a:lstStyle/>
          <a:p>
            <a:pPr marL="0" indent="0">
              <a:lnSpc>
                <a:spcPct val="120000"/>
              </a:lnSpc>
              <a:buNone/>
            </a:pPr>
            <a:r>
              <a:rPr lang="en-US" sz="1400" dirty="0">
                <a:solidFill>
                  <a:srgbClr val="FFFFFF"/>
                </a:solidFill>
                <a:latin typeface="Calibri" pitchFamily="34" charset="0"/>
                <a:ea typeface="Calibri" pitchFamily="34" charset="-122"/>
                <a:cs typeface="Calibri" pitchFamily="34" charset="-120"/>
              </a:rPr>
              <a:t>Develop a Recipe Finder application that enables users to search recipes using ingredients or keywords and receive accurate recipe recommendations along with complete cooking details.</a:t>
            </a:r>
            <a:endParaRPr lang="en-US" sz="1400" dirty="0"/>
          </a:p>
        </p:txBody>
      </p:sp>
      <p:sp>
        <p:nvSpPr>
          <p:cNvPr id="24" name="Shape 17"/>
          <p:cNvSpPr/>
          <p:nvPr/>
        </p:nvSpPr>
        <p:spPr>
          <a:xfrm>
            <a:off x="6263640" y="5376672"/>
            <a:ext cx="1115568" cy="640080"/>
          </a:xfrm>
          <a:prstGeom prst="roundRect">
            <a:avLst>
              <a:gd name="adj" fmla="val 11429"/>
            </a:avLst>
          </a:prstGeom>
          <a:solidFill>
            <a:srgbClr val="39473D"/>
          </a:solidFill>
          <a:ln/>
        </p:spPr>
      </p:sp>
      <p:sp>
        <p:nvSpPr>
          <p:cNvPr id="25" name="Text 18"/>
          <p:cNvSpPr/>
          <p:nvPr/>
        </p:nvSpPr>
        <p:spPr>
          <a:xfrm>
            <a:off x="6537960" y="5376672"/>
            <a:ext cx="777240" cy="658368"/>
          </a:xfrm>
          <a:prstGeom prst="rect">
            <a:avLst/>
          </a:prstGeom>
          <a:noFill/>
          <a:ln/>
        </p:spPr>
        <p:txBody>
          <a:bodyPr wrap="square" rtlCol="0" anchor="ctr"/>
          <a:lstStyle/>
          <a:p>
            <a:pPr marL="0" indent="0" algn="ctr">
              <a:lnSpc>
                <a:spcPct val="95000"/>
              </a:lnSpc>
              <a:buNone/>
            </a:pPr>
            <a:r>
              <a:rPr lang="en-US" sz="850" dirty="0">
                <a:solidFill>
                  <a:srgbClr val="FFFFFF"/>
                </a:solidFill>
                <a:latin typeface="Calibri" pitchFamily="34" charset="0"/>
                <a:ea typeface="Calibri" pitchFamily="34" charset="-122"/>
                <a:cs typeface="Calibri" pitchFamily="34" charset="-120"/>
              </a:rPr>
              <a:t>Ingredients</a:t>
            </a:r>
            <a:endParaRPr lang="en-US" sz="850" dirty="0"/>
          </a:p>
        </p:txBody>
      </p:sp>
      <p:pic>
        <p:nvPicPr>
          <p:cNvPr id="26" name="Image 5" descr="ic_arrow_green.png"/>
          <p:cNvPicPr>
            <a:picLocks noChangeAspect="1"/>
          </p:cNvPicPr>
          <p:nvPr/>
        </p:nvPicPr>
        <p:blipFill>
          <a:blip r:embed="rId7"/>
          <a:stretch>
            <a:fillRect/>
          </a:stretch>
        </p:blipFill>
        <p:spPr>
          <a:xfrm>
            <a:off x="7434072" y="5600700"/>
            <a:ext cx="164592" cy="164592"/>
          </a:xfrm>
          <a:prstGeom prst="rect">
            <a:avLst/>
          </a:prstGeom>
        </p:spPr>
      </p:pic>
      <p:sp>
        <p:nvSpPr>
          <p:cNvPr id="27" name="Shape 19"/>
          <p:cNvSpPr/>
          <p:nvPr/>
        </p:nvSpPr>
        <p:spPr>
          <a:xfrm>
            <a:off x="7580376" y="5358743"/>
            <a:ext cx="1170432" cy="640080"/>
          </a:xfrm>
          <a:prstGeom prst="roundRect">
            <a:avLst>
              <a:gd name="adj" fmla="val 11429"/>
            </a:avLst>
          </a:prstGeom>
          <a:solidFill>
            <a:srgbClr val="39473D"/>
          </a:solidFill>
          <a:ln/>
        </p:spPr>
      </p:sp>
      <p:sp>
        <p:nvSpPr>
          <p:cNvPr id="28" name="Text 20"/>
          <p:cNvSpPr/>
          <p:nvPr/>
        </p:nvSpPr>
        <p:spPr>
          <a:xfrm>
            <a:off x="7589520" y="5394960"/>
            <a:ext cx="1170432" cy="640080"/>
          </a:xfrm>
          <a:prstGeom prst="rect">
            <a:avLst/>
          </a:prstGeom>
          <a:noFill/>
          <a:ln/>
        </p:spPr>
        <p:txBody>
          <a:bodyPr wrap="square" rtlCol="0" anchor="ctr"/>
          <a:lstStyle/>
          <a:p>
            <a:pPr marL="0" indent="0" algn="ctr">
              <a:lnSpc>
                <a:spcPct val="95000"/>
              </a:lnSpc>
              <a:buNone/>
            </a:pPr>
            <a:r>
              <a:rPr lang="en-US" sz="850" dirty="0">
                <a:solidFill>
                  <a:srgbClr val="FFFFFF"/>
                </a:solidFill>
                <a:latin typeface="Calibri" pitchFamily="34" charset="0"/>
                <a:ea typeface="Calibri" pitchFamily="34" charset="-122"/>
                <a:cs typeface="Calibri" pitchFamily="34" charset="-120"/>
              </a:rPr>
              <a:t>Don’t Know What to Cook</a:t>
            </a:r>
            <a:endParaRPr lang="en-US" sz="850" dirty="0"/>
          </a:p>
        </p:txBody>
      </p:sp>
      <p:pic>
        <p:nvPicPr>
          <p:cNvPr id="29" name="Image 6" descr="ic_arrow_green.png"/>
          <p:cNvPicPr>
            <a:picLocks noChangeAspect="1"/>
          </p:cNvPicPr>
          <p:nvPr/>
        </p:nvPicPr>
        <p:blipFill>
          <a:blip r:embed="rId7"/>
          <a:stretch>
            <a:fillRect/>
          </a:stretch>
        </p:blipFill>
        <p:spPr>
          <a:xfrm>
            <a:off x="8915400" y="5614416"/>
            <a:ext cx="164592" cy="164592"/>
          </a:xfrm>
          <a:prstGeom prst="rect">
            <a:avLst/>
          </a:prstGeom>
        </p:spPr>
      </p:pic>
      <p:sp>
        <p:nvSpPr>
          <p:cNvPr id="30" name="Shape 21"/>
          <p:cNvSpPr/>
          <p:nvPr/>
        </p:nvSpPr>
        <p:spPr>
          <a:xfrm>
            <a:off x="9089136" y="5376672"/>
            <a:ext cx="1024128" cy="640080"/>
          </a:xfrm>
          <a:prstGeom prst="roundRect">
            <a:avLst>
              <a:gd name="adj" fmla="val 11429"/>
            </a:avLst>
          </a:prstGeom>
          <a:solidFill>
            <a:srgbClr val="39473D"/>
          </a:solidFill>
          <a:ln/>
        </p:spPr>
        <p:txBody>
          <a:bodyPr/>
          <a:lstStyle/>
          <a:p>
            <a:endParaRPr lang="en-US" dirty="0"/>
          </a:p>
        </p:txBody>
      </p:sp>
      <p:sp>
        <p:nvSpPr>
          <p:cNvPr id="31" name="Text 22"/>
          <p:cNvSpPr/>
          <p:nvPr/>
        </p:nvSpPr>
        <p:spPr>
          <a:xfrm>
            <a:off x="9025128" y="5362956"/>
            <a:ext cx="1170432" cy="640080"/>
          </a:xfrm>
          <a:prstGeom prst="rect">
            <a:avLst/>
          </a:prstGeom>
          <a:noFill/>
          <a:ln/>
        </p:spPr>
        <p:txBody>
          <a:bodyPr wrap="square" rtlCol="0" anchor="ctr"/>
          <a:lstStyle/>
          <a:p>
            <a:pPr marL="0" indent="0" algn="ctr">
              <a:lnSpc>
                <a:spcPct val="95000"/>
              </a:lnSpc>
              <a:buNone/>
            </a:pPr>
            <a:r>
              <a:rPr lang="en-US" sz="850" dirty="0">
                <a:solidFill>
                  <a:srgbClr val="FFFFFF"/>
                </a:solidFill>
                <a:latin typeface="Calibri" pitchFamily="34" charset="0"/>
                <a:ea typeface="Calibri" pitchFamily="34" charset="-122"/>
                <a:cs typeface="Calibri" pitchFamily="34" charset="-120"/>
              </a:rPr>
              <a:t>Recipe Finder</a:t>
            </a:r>
            <a:endParaRPr lang="en-US" sz="850" dirty="0"/>
          </a:p>
        </p:txBody>
      </p:sp>
      <p:pic>
        <p:nvPicPr>
          <p:cNvPr id="32" name="Image 7" descr="ic_arrow_green.png"/>
          <p:cNvPicPr>
            <a:picLocks noChangeAspect="1"/>
          </p:cNvPicPr>
          <p:nvPr/>
        </p:nvPicPr>
        <p:blipFill>
          <a:blip r:embed="rId7"/>
          <a:stretch>
            <a:fillRect/>
          </a:stretch>
        </p:blipFill>
        <p:spPr>
          <a:xfrm>
            <a:off x="10145268" y="5596487"/>
            <a:ext cx="164592" cy="164592"/>
          </a:xfrm>
          <a:prstGeom prst="rect">
            <a:avLst/>
          </a:prstGeom>
        </p:spPr>
      </p:pic>
      <p:sp>
        <p:nvSpPr>
          <p:cNvPr id="33" name="Shape 23"/>
          <p:cNvSpPr/>
          <p:nvPr/>
        </p:nvSpPr>
        <p:spPr>
          <a:xfrm>
            <a:off x="10309860" y="5376672"/>
            <a:ext cx="1170432" cy="640080"/>
          </a:xfrm>
          <a:prstGeom prst="roundRect">
            <a:avLst>
              <a:gd name="adj" fmla="val 11429"/>
            </a:avLst>
          </a:prstGeom>
          <a:solidFill>
            <a:srgbClr val="39473D"/>
          </a:solidFill>
          <a:ln/>
        </p:spPr>
        <p:txBody>
          <a:bodyPr/>
          <a:lstStyle/>
          <a:p>
            <a:endParaRPr lang="en-US" dirty="0"/>
          </a:p>
        </p:txBody>
      </p:sp>
      <p:sp>
        <p:nvSpPr>
          <p:cNvPr id="34" name="Text 24"/>
          <p:cNvSpPr/>
          <p:nvPr/>
        </p:nvSpPr>
        <p:spPr>
          <a:xfrm>
            <a:off x="10228550" y="5376672"/>
            <a:ext cx="1170432" cy="640080"/>
          </a:xfrm>
          <a:prstGeom prst="rect">
            <a:avLst/>
          </a:prstGeom>
          <a:noFill/>
          <a:ln/>
        </p:spPr>
        <p:txBody>
          <a:bodyPr wrap="square" rtlCol="0" anchor="ctr"/>
          <a:lstStyle/>
          <a:p>
            <a:pPr marL="0" indent="0" algn="ctr">
              <a:lnSpc>
                <a:spcPct val="95000"/>
              </a:lnSpc>
              <a:buNone/>
            </a:pPr>
            <a:r>
              <a:rPr lang="en-US" sz="850" dirty="0">
                <a:solidFill>
                  <a:srgbClr val="FFFFFF"/>
                </a:solidFill>
                <a:latin typeface="Calibri" pitchFamily="34" charset="0"/>
                <a:ea typeface="Calibri" pitchFamily="34" charset="-122"/>
                <a:cs typeface="Calibri" pitchFamily="34" charset="-120"/>
              </a:rPr>
              <a:t>Matching Recipes</a:t>
            </a:r>
            <a:endParaRPr lang="en-US" sz="850" dirty="0"/>
          </a:p>
        </p:txBody>
      </p:sp>
      <p:sp>
        <p:nvSpPr>
          <p:cNvPr id="35" name="Text 25"/>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7A7267"/>
                </a:solidFill>
                <a:latin typeface="Calibri" pitchFamily="34" charset="0"/>
                <a:ea typeface="Calibri" pitchFamily="34" charset="-122"/>
                <a:cs typeface="Calibri" pitchFamily="34" charset="-120"/>
              </a:rPr>
              <a:t>Recipe Finder</a:t>
            </a:r>
            <a:endParaRPr lang="en-US" sz="900" dirty="0"/>
          </a:p>
        </p:txBody>
      </p:sp>
      <p:sp>
        <p:nvSpPr>
          <p:cNvPr id="36" name="Text 26"/>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7A7267"/>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058400" cy="548640"/>
          </a:xfrm>
          <a:prstGeom prst="rect">
            <a:avLst/>
          </a:prstGeom>
          <a:noFill/>
          <a:ln/>
        </p:spPr>
        <p:txBody>
          <a:bodyPr wrap="square" rtlCol="0" anchor="ctr"/>
          <a:lstStyle/>
          <a:p>
            <a:pPr marL="0" indent="0">
              <a:buNone/>
            </a:pPr>
            <a:r>
              <a:rPr lang="en-US" sz="2800" b="1" dirty="0">
                <a:solidFill>
                  <a:srgbClr val="46594B"/>
                </a:solidFill>
                <a:latin typeface="Poppins" pitchFamily="34" charset="0"/>
                <a:ea typeface="Poppins" pitchFamily="34" charset="-122"/>
                <a:cs typeface="Poppins" pitchFamily="34" charset="-120"/>
              </a:rPr>
              <a:t>Proposed Functionalities &amp; Workflow</a:t>
            </a:r>
            <a:endParaRPr lang="en-US" sz="2800" dirty="0"/>
          </a:p>
        </p:txBody>
      </p:sp>
      <p:sp>
        <p:nvSpPr>
          <p:cNvPr id="3" name="Shape 1"/>
          <p:cNvSpPr/>
          <p:nvPr/>
        </p:nvSpPr>
        <p:spPr>
          <a:xfrm>
            <a:off x="566928" y="868680"/>
            <a:ext cx="822960" cy="54864"/>
          </a:xfrm>
          <a:prstGeom prst="rect">
            <a:avLst/>
          </a:prstGeom>
          <a:solidFill>
            <a:srgbClr val="9C7A3C"/>
          </a:solidFill>
          <a:ln/>
        </p:spPr>
      </p:sp>
      <p:sp>
        <p:nvSpPr>
          <p:cNvPr id="4" name="Text 2"/>
          <p:cNvSpPr/>
          <p:nvPr/>
        </p:nvSpPr>
        <p:spPr>
          <a:xfrm>
            <a:off x="548640" y="1024128"/>
            <a:ext cx="3657600" cy="274320"/>
          </a:xfrm>
          <a:prstGeom prst="rect">
            <a:avLst/>
          </a:prstGeom>
          <a:noFill/>
          <a:ln/>
        </p:spPr>
        <p:txBody>
          <a:bodyPr wrap="square" rtlCol="0" anchor="ctr"/>
          <a:lstStyle/>
          <a:p>
            <a:pPr marL="0" indent="0">
              <a:buNone/>
            </a:pPr>
            <a:r>
              <a:rPr lang="en-US" sz="1200" b="1" kern="0" spc="100" dirty="0">
                <a:solidFill>
                  <a:srgbClr val="9C7A3C"/>
                </a:solidFill>
                <a:latin typeface="Calibri" pitchFamily="34" charset="0"/>
                <a:ea typeface="Calibri" pitchFamily="34" charset="-122"/>
                <a:cs typeface="Calibri" pitchFamily="34" charset="-120"/>
              </a:rPr>
              <a:t>WORKFLOW</a:t>
            </a:r>
            <a:endParaRPr lang="en-US" sz="1200" dirty="0"/>
          </a:p>
        </p:txBody>
      </p:sp>
      <p:sp>
        <p:nvSpPr>
          <p:cNvPr id="5" name="Shape 3"/>
          <p:cNvSpPr/>
          <p:nvPr/>
        </p:nvSpPr>
        <p:spPr>
          <a:xfrm>
            <a:off x="548640" y="1371600"/>
            <a:ext cx="310896" cy="310896"/>
          </a:xfrm>
          <a:prstGeom prst="ellipse">
            <a:avLst/>
          </a:prstGeom>
          <a:solidFill>
            <a:srgbClr val="4B321D"/>
          </a:solidFill>
          <a:ln/>
        </p:spPr>
      </p:sp>
      <p:sp>
        <p:nvSpPr>
          <p:cNvPr id="6" name="Text 4"/>
          <p:cNvSpPr/>
          <p:nvPr/>
        </p:nvSpPr>
        <p:spPr>
          <a:xfrm>
            <a:off x="548640" y="1371600"/>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1005840" y="1344168"/>
            <a:ext cx="2606040" cy="365760"/>
          </a:xfrm>
          <a:prstGeom prst="rect">
            <a:avLst/>
          </a:prstGeom>
          <a:noFill/>
          <a:ln/>
        </p:spPr>
        <p:txBody>
          <a:bodyPr wrap="square" rtlCol="0" anchor="ctr"/>
          <a:lstStyle/>
          <a:p>
            <a:pPr marL="0" indent="0">
              <a:lnSpc>
                <a:spcPct val="95000"/>
              </a:lnSpc>
              <a:buNone/>
            </a:pPr>
            <a:r>
              <a:rPr lang="en-US" sz="1050" dirty="0">
                <a:solidFill>
                  <a:srgbClr val="332A20"/>
                </a:solidFill>
                <a:latin typeface="Calibri" pitchFamily="34" charset="0"/>
                <a:ea typeface="Calibri" pitchFamily="34" charset="-122"/>
                <a:cs typeface="Calibri" pitchFamily="34" charset="-120"/>
              </a:rPr>
              <a:t>User has ingredients at home</a:t>
            </a:r>
            <a:endParaRPr lang="en-US" sz="1050" dirty="0"/>
          </a:p>
        </p:txBody>
      </p:sp>
      <p:sp>
        <p:nvSpPr>
          <p:cNvPr id="8" name="Shape 6"/>
          <p:cNvSpPr/>
          <p:nvPr/>
        </p:nvSpPr>
        <p:spPr>
          <a:xfrm>
            <a:off x="704088" y="1682496"/>
            <a:ext cx="0" cy="173736"/>
          </a:xfrm>
          <a:prstGeom prst="line">
            <a:avLst/>
          </a:prstGeom>
          <a:noFill/>
          <a:ln w="19050">
            <a:solidFill>
              <a:srgbClr val="D6DED4"/>
            </a:solidFill>
            <a:prstDash val="solid"/>
          </a:ln>
        </p:spPr>
      </p:sp>
      <p:sp>
        <p:nvSpPr>
          <p:cNvPr id="9" name="Shape 7"/>
          <p:cNvSpPr/>
          <p:nvPr/>
        </p:nvSpPr>
        <p:spPr>
          <a:xfrm>
            <a:off x="548640" y="1856232"/>
            <a:ext cx="310896" cy="310896"/>
          </a:xfrm>
          <a:prstGeom prst="ellipse">
            <a:avLst/>
          </a:prstGeom>
          <a:solidFill>
            <a:srgbClr val="4B321D"/>
          </a:solidFill>
          <a:ln/>
        </p:spPr>
      </p:sp>
      <p:sp>
        <p:nvSpPr>
          <p:cNvPr id="10" name="Text 8"/>
          <p:cNvSpPr/>
          <p:nvPr/>
        </p:nvSpPr>
        <p:spPr>
          <a:xfrm>
            <a:off x="548640" y="1856232"/>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9"/>
          <p:cNvSpPr/>
          <p:nvPr/>
        </p:nvSpPr>
        <p:spPr>
          <a:xfrm>
            <a:off x="1005840" y="1828800"/>
            <a:ext cx="2606040" cy="365760"/>
          </a:xfrm>
          <a:prstGeom prst="rect">
            <a:avLst/>
          </a:prstGeom>
          <a:noFill/>
          <a:ln/>
        </p:spPr>
        <p:txBody>
          <a:bodyPr wrap="square" rtlCol="0" anchor="ctr"/>
          <a:lstStyle/>
          <a:p>
            <a:pPr marL="0" indent="0">
              <a:lnSpc>
                <a:spcPct val="95000"/>
              </a:lnSpc>
              <a:buNone/>
            </a:pPr>
            <a:r>
              <a:rPr lang="en-US" sz="1050" dirty="0">
                <a:solidFill>
                  <a:srgbClr val="332A20"/>
                </a:solidFill>
                <a:latin typeface="Calibri" pitchFamily="34" charset="0"/>
                <a:ea typeface="Calibri" pitchFamily="34" charset="-122"/>
                <a:cs typeface="Calibri" pitchFamily="34" charset="-120"/>
              </a:rPr>
              <a:t>Enters ingredients into Recipe Finder</a:t>
            </a:r>
            <a:endParaRPr lang="en-US" sz="1050" dirty="0"/>
          </a:p>
        </p:txBody>
      </p:sp>
      <p:sp>
        <p:nvSpPr>
          <p:cNvPr id="12" name="Shape 10"/>
          <p:cNvSpPr/>
          <p:nvPr/>
        </p:nvSpPr>
        <p:spPr>
          <a:xfrm>
            <a:off x="704088" y="2167128"/>
            <a:ext cx="0" cy="173736"/>
          </a:xfrm>
          <a:prstGeom prst="line">
            <a:avLst/>
          </a:prstGeom>
          <a:noFill/>
          <a:ln w="19050">
            <a:solidFill>
              <a:srgbClr val="D6DED4"/>
            </a:solidFill>
            <a:prstDash val="solid"/>
          </a:ln>
        </p:spPr>
      </p:sp>
      <p:sp>
        <p:nvSpPr>
          <p:cNvPr id="13" name="Shape 11"/>
          <p:cNvSpPr/>
          <p:nvPr/>
        </p:nvSpPr>
        <p:spPr>
          <a:xfrm>
            <a:off x="548640" y="2340864"/>
            <a:ext cx="310896" cy="310896"/>
          </a:xfrm>
          <a:prstGeom prst="ellipse">
            <a:avLst/>
          </a:prstGeom>
          <a:solidFill>
            <a:srgbClr val="4B321D"/>
          </a:solidFill>
          <a:ln/>
        </p:spPr>
      </p:sp>
      <p:sp>
        <p:nvSpPr>
          <p:cNvPr id="14" name="Text 12"/>
          <p:cNvSpPr/>
          <p:nvPr/>
        </p:nvSpPr>
        <p:spPr>
          <a:xfrm>
            <a:off x="548640" y="2340864"/>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3"/>
          <p:cNvSpPr/>
          <p:nvPr/>
        </p:nvSpPr>
        <p:spPr>
          <a:xfrm>
            <a:off x="1005840" y="2313432"/>
            <a:ext cx="2606040" cy="365760"/>
          </a:xfrm>
          <a:prstGeom prst="rect">
            <a:avLst/>
          </a:prstGeom>
          <a:noFill/>
          <a:ln/>
        </p:spPr>
        <p:txBody>
          <a:bodyPr wrap="square" rtlCol="0" anchor="ctr"/>
          <a:lstStyle/>
          <a:p>
            <a:pPr marL="0" indent="0">
              <a:lnSpc>
                <a:spcPct val="95000"/>
              </a:lnSpc>
              <a:buNone/>
            </a:pPr>
            <a:r>
              <a:rPr lang="en-US" sz="1050" dirty="0">
                <a:solidFill>
                  <a:srgbClr val="332A20"/>
                </a:solidFill>
                <a:latin typeface="Calibri" pitchFamily="34" charset="0"/>
                <a:ea typeface="Calibri" pitchFamily="34" charset="-122"/>
                <a:cs typeface="Calibri" pitchFamily="34" charset="-120"/>
              </a:rPr>
              <a:t>System searches the database</a:t>
            </a:r>
            <a:endParaRPr lang="en-US" sz="1050" dirty="0"/>
          </a:p>
        </p:txBody>
      </p:sp>
      <p:sp>
        <p:nvSpPr>
          <p:cNvPr id="16" name="Shape 14"/>
          <p:cNvSpPr/>
          <p:nvPr/>
        </p:nvSpPr>
        <p:spPr>
          <a:xfrm>
            <a:off x="704088" y="2651760"/>
            <a:ext cx="0" cy="173736"/>
          </a:xfrm>
          <a:prstGeom prst="line">
            <a:avLst/>
          </a:prstGeom>
          <a:noFill/>
          <a:ln w="19050">
            <a:solidFill>
              <a:srgbClr val="D6DED4"/>
            </a:solidFill>
            <a:prstDash val="solid"/>
          </a:ln>
        </p:spPr>
      </p:sp>
      <p:sp>
        <p:nvSpPr>
          <p:cNvPr id="17" name="Shape 15"/>
          <p:cNvSpPr/>
          <p:nvPr/>
        </p:nvSpPr>
        <p:spPr>
          <a:xfrm>
            <a:off x="548640" y="2825496"/>
            <a:ext cx="310896" cy="310896"/>
          </a:xfrm>
          <a:prstGeom prst="ellipse">
            <a:avLst/>
          </a:prstGeom>
          <a:solidFill>
            <a:srgbClr val="4B321D"/>
          </a:solidFill>
          <a:ln/>
        </p:spPr>
      </p:sp>
      <p:sp>
        <p:nvSpPr>
          <p:cNvPr id="18" name="Text 16"/>
          <p:cNvSpPr/>
          <p:nvPr/>
        </p:nvSpPr>
        <p:spPr>
          <a:xfrm>
            <a:off x="548640" y="2825496"/>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9" name="Text 17"/>
          <p:cNvSpPr/>
          <p:nvPr/>
        </p:nvSpPr>
        <p:spPr>
          <a:xfrm>
            <a:off x="1005840" y="2798064"/>
            <a:ext cx="2606040" cy="365760"/>
          </a:xfrm>
          <a:prstGeom prst="rect">
            <a:avLst/>
          </a:prstGeom>
          <a:noFill/>
          <a:ln/>
        </p:spPr>
        <p:txBody>
          <a:bodyPr wrap="square" rtlCol="0" anchor="ctr"/>
          <a:lstStyle/>
          <a:p>
            <a:pPr marL="0" indent="0">
              <a:lnSpc>
                <a:spcPct val="95000"/>
              </a:lnSpc>
              <a:buNone/>
            </a:pPr>
            <a:r>
              <a:rPr lang="en-US" sz="1050" dirty="0">
                <a:solidFill>
                  <a:srgbClr val="332A20"/>
                </a:solidFill>
                <a:latin typeface="Calibri" pitchFamily="34" charset="0"/>
                <a:ea typeface="Calibri" pitchFamily="34" charset="-122"/>
                <a:cs typeface="Calibri" pitchFamily="34" charset="-120"/>
              </a:rPr>
              <a:t>Displays matching recipes</a:t>
            </a:r>
            <a:endParaRPr lang="en-US" sz="1050" dirty="0"/>
          </a:p>
        </p:txBody>
      </p:sp>
      <p:sp>
        <p:nvSpPr>
          <p:cNvPr id="20" name="Shape 18"/>
          <p:cNvSpPr/>
          <p:nvPr/>
        </p:nvSpPr>
        <p:spPr>
          <a:xfrm>
            <a:off x="704088" y="3136392"/>
            <a:ext cx="0" cy="173736"/>
          </a:xfrm>
          <a:prstGeom prst="line">
            <a:avLst/>
          </a:prstGeom>
          <a:noFill/>
          <a:ln w="19050">
            <a:solidFill>
              <a:srgbClr val="D6DED4"/>
            </a:solidFill>
            <a:prstDash val="solid"/>
          </a:ln>
        </p:spPr>
      </p:sp>
      <p:sp>
        <p:nvSpPr>
          <p:cNvPr id="21" name="Shape 19"/>
          <p:cNvSpPr/>
          <p:nvPr/>
        </p:nvSpPr>
        <p:spPr>
          <a:xfrm>
            <a:off x="548640" y="3310128"/>
            <a:ext cx="310896" cy="310896"/>
          </a:xfrm>
          <a:prstGeom prst="ellipse">
            <a:avLst/>
          </a:prstGeom>
          <a:solidFill>
            <a:srgbClr val="4B321D"/>
          </a:solidFill>
          <a:ln/>
        </p:spPr>
      </p:sp>
      <p:sp>
        <p:nvSpPr>
          <p:cNvPr id="22" name="Text 20"/>
          <p:cNvSpPr/>
          <p:nvPr/>
        </p:nvSpPr>
        <p:spPr>
          <a:xfrm>
            <a:off x="548640" y="3310128"/>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3" name="Text 21"/>
          <p:cNvSpPr/>
          <p:nvPr/>
        </p:nvSpPr>
        <p:spPr>
          <a:xfrm>
            <a:off x="1005840" y="3282696"/>
            <a:ext cx="2606040" cy="365760"/>
          </a:xfrm>
          <a:prstGeom prst="rect">
            <a:avLst/>
          </a:prstGeom>
          <a:noFill/>
          <a:ln/>
        </p:spPr>
        <p:txBody>
          <a:bodyPr wrap="square" rtlCol="0" anchor="ctr"/>
          <a:lstStyle/>
          <a:p>
            <a:pPr marL="0" indent="0">
              <a:lnSpc>
                <a:spcPct val="95000"/>
              </a:lnSpc>
              <a:buNone/>
            </a:pPr>
            <a:r>
              <a:rPr lang="en-US" sz="1050" dirty="0">
                <a:solidFill>
                  <a:srgbClr val="332A20"/>
                </a:solidFill>
                <a:latin typeface="Calibri" pitchFamily="34" charset="0"/>
                <a:ea typeface="Calibri" pitchFamily="34" charset="-122"/>
                <a:cs typeface="Calibri" pitchFamily="34" charset="-120"/>
              </a:rPr>
              <a:t>User selects a recipe</a:t>
            </a:r>
            <a:endParaRPr lang="en-US" sz="1050" dirty="0"/>
          </a:p>
        </p:txBody>
      </p:sp>
      <p:sp>
        <p:nvSpPr>
          <p:cNvPr id="24" name="Shape 22"/>
          <p:cNvSpPr/>
          <p:nvPr/>
        </p:nvSpPr>
        <p:spPr>
          <a:xfrm>
            <a:off x="704088" y="3621024"/>
            <a:ext cx="0" cy="173736"/>
          </a:xfrm>
          <a:prstGeom prst="line">
            <a:avLst/>
          </a:prstGeom>
          <a:noFill/>
          <a:ln w="19050">
            <a:solidFill>
              <a:srgbClr val="D6DED4"/>
            </a:solidFill>
            <a:prstDash val="solid"/>
          </a:ln>
        </p:spPr>
      </p:sp>
      <p:sp>
        <p:nvSpPr>
          <p:cNvPr id="25" name="Shape 23"/>
          <p:cNvSpPr/>
          <p:nvPr/>
        </p:nvSpPr>
        <p:spPr>
          <a:xfrm>
            <a:off x="548640" y="3794760"/>
            <a:ext cx="310896" cy="310896"/>
          </a:xfrm>
          <a:prstGeom prst="ellipse">
            <a:avLst/>
          </a:prstGeom>
          <a:solidFill>
            <a:srgbClr val="4B321D"/>
          </a:solidFill>
          <a:ln/>
        </p:spPr>
      </p:sp>
      <p:sp>
        <p:nvSpPr>
          <p:cNvPr id="26" name="Text 24"/>
          <p:cNvSpPr/>
          <p:nvPr/>
        </p:nvSpPr>
        <p:spPr>
          <a:xfrm>
            <a:off x="548640" y="3794760"/>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7" name="Text 25"/>
          <p:cNvSpPr/>
          <p:nvPr/>
        </p:nvSpPr>
        <p:spPr>
          <a:xfrm>
            <a:off x="1005840" y="3767328"/>
            <a:ext cx="2606040" cy="365760"/>
          </a:xfrm>
          <a:prstGeom prst="rect">
            <a:avLst/>
          </a:prstGeom>
          <a:noFill/>
          <a:ln/>
        </p:spPr>
        <p:txBody>
          <a:bodyPr wrap="square" rtlCol="0" anchor="ctr"/>
          <a:lstStyle/>
          <a:p>
            <a:pPr marL="0" indent="0">
              <a:lnSpc>
                <a:spcPct val="95000"/>
              </a:lnSpc>
              <a:buNone/>
            </a:pPr>
            <a:r>
              <a:rPr lang="en-US" sz="1050" dirty="0">
                <a:solidFill>
                  <a:srgbClr val="332A20"/>
                </a:solidFill>
                <a:latin typeface="Calibri" pitchFamily="34" charset="0"/>
                <a:ea typeface="Calibri" pitchFamily="34" charset="-122"/>
                <a:cs typeface="Calibri" pitchFamily="34" charset="-120"/>
              </a:rPr>
              <a:t>Shows complete recipe details</a:t>
            </a:r>
            <a:endParaRPr lang="en-US" sz="1050" dirty="0"/>
          </a:p>
        </p:txBody>
      </p:sp>
      <p:sp>
        <p:nvSpPr>
          <p:cNvPr id="28" name="Text 26"/>
          <p:cNvSpPr/>
          <p:nvPr/>
        </p:nvSpPr>
        <p:spPr>
          <a:xfrm>
            <a:off x="3886200" y="1024128"/>
            <a:ext cx="3657600" cy="274320"/>
          </a:xfrm>
          <a:prstGeom prst="rect">
            <a:avLst/>
          </a:prstGeom>
          <a:noFill/>
          <a:ln/>
        </p:spPr>
        <p:txBody>
          <a:bodyPr wrap="square" rtlCol="0" anchor="ctr"/>
          <a:lstStyle/>
          <a:p>
            <a:pPr marL="0" indent="0">
              <a:buNone/>
            </a:pPr>
            <a:r>
              <a:rPr lang="en-US" sz="1200" b="1" kern="0" spc="100" dirty="0">
                <a:solidFill>
                  <a:srgbClr val="9C7A3C"/>
                </a:solidFill>
                <a:latin typeface="Calibri" pitchFamily="34" charset="0"/>
                <a:ea typeface="Calibri" pitchFamily="34" charset="-122"/>
                <a:cs typeface="Calibri" pitchFamily="34" charset="-120"/>
              </a:rPr>
              <a:t>PROPOSED FUNCTIONALITIES</a:t>
            </a:r>
            <a:endParaRPr lang="en-US" sz="1200" dirty="0"/>
          </a:p>
        </p:txBody>
      </p:sp>
      <p:pic>
        <p:nvPicPr>
          <p:cNvPr id="29" name="Image 0" descr="ic_check_green.png"/>
          <p:cNvPicPr>
            <a:picLocks noChangeAspect="1"/>
          </p:cNvPicPr>
          <p:nvPr/>
        </p:nvPicPr>
        <p:blipFill>
          <a:blip r:embed="rId3"/>
          <a:stretch>
            <a:fillRect/>
          </a:stretch>
        </p:blipFill>
        <p:spPr>
          <a:xfrm>
            <a:off x="3886200" y="1435608"/>
            <a:ext cx="201168" cy="201168"/>
          </a:xfrm>
          <a:prstGeom prst="rect">
            <a:avLst/>
          </a:prstGeom>
        </p:spPr>
      </p:pic>
      <p:sp>
        <p:nvSpPr>
          <p:cNvPr id="30" name="Text 27"/>
          <p:cNvSpPr/>
          <p:nvPr/>
        </p:nvSpPr>
        <p:spPr>
          <a:xfrm>
            <a:off x="4187952" y="1362456"/>
            <a:ext cx="3566160" cy="347472"/>
          </a:xfrm>
          <a:prstGeom prst="rect">
            <a:avLst/>
          </a:prstGeom>
          <a:noFill/>
          <a:ln/>
        </p:spPr>
        <p:txBody>
          <a:bodyPr wrap="square" rtlCol="0" anchor="ctr"/>
          <a:lstStyle/>
          <a:p>
            <a:pPr marL="0" indent="0">
              <a:buNone/>
            </a:pPr>
            <a:r>
              <a:rPr lang="en-US" sz="1100" dirty="0">
                <a:solidFill>
                  <a:srgbClr val="332A20"/>
                </a:solidFill>
                <a:latin typeface="Calibri" pitchFamily="34" charset="0"/>
                <a:ea typeface="Calibri" pitchFamily="34" charset="-122"/>
                <a:cs typeface="Calibri" pitchFamily="34" charset="-120"/>
              </a:rPr>
              <a:t>Search recipes using ingredients</a:t>
            </a:r>
            <a:endParaRPr lang="en-US" sz="1100" dirty="0"/>
          </a:p>
        </p:txBody>
      </p:sp>
      <p:pic>
        <p:nvPicPr>
          <p:cNvPr id="31" name="Image 1" descr="ic_check_green.png"/>
          <p:cNvPicPr>
            <a:picLocks noChangeAspect="1"/>
          </p:cNvPicPr>
          <p:nvPr/>
        </p:nvPicPr>
        <p:blipFill>
          <a:blip r:embed="rId3"/>
          <a:stretch>
            <a:fillRect/>
          </a:stretch>
        </p:blipFill>
        <p:spPr>
          <a:xfrm>
            <a:off x="3886200" y="1856232"/>
            <a:ext cx="201168" cy="201168"/>
          </a:xfrm>
          <a:prstGeom prst="rect">
            <a:avLst/>
          </a:prstGeom>
        </p:spPr>
      </p:pic>
      <p:sp>
        <p:nvSpPr>
          <p:cNvPr id="32" name="Text 28"/>
          <p:cNvSpPr/>
          <p:nvPr/>
        </p:nvSpPr>
        <p:spPr>
          <a:xfrm>
            <a:off x="4187952" y="1783080"/>
            <a:ext cx="3566160" cy="347472"/>
          </a:xfrm>
          <a:prstGeom prst="rect">
            <a:avLst/>
          </a:prstGeom>
          <a:noFill/>
          <a:ln/>
        </p:spPr>
        <p:txBody>
          <a:bodyPr wrap="square" rtlCol="0" anchor="ctr"/>
          <a:lstStyle/>
          <a:p>
            <a:pPr marL="0" indent="0">
              <a:buNone/>
            </a:pPr>
            <a:r>
              <a:rPr lang="en-US" sz="1100" dirty="0">
                <a:solidFill>
                  <a:srgbClr val="332A20"/>
                </a:solidFill>
                <a:latin typeface="Calibri" pitchFamily="34" charset="0"/>
                <a:ea typeface="Calibri" pitchFamily="34" charset="-122"/>
                <a:cs typeface="Calibri" pitchFamily="34" charset="-120"/>
              </a:rPr>
              <a:t>Search recipes using recipe names</a:t>
            </a:r>
            <a:endParaRPr lang="en-US" sz="1100" dirty="0"/>
          </a:p>
        </p:txBody>
      </p:sp>
      <p:pic>
        <p:nvPicPr>
          <p:cNvPr id="33" name="Image 2" descr="ic_check_green.png"/>
          <p:cNvPicPr>
            <a:picLocks noChangeAspect="1"/>
          </p:cNvPicPr>
          <p:nvPr/>
        </p:nvPicPr>
        <p:blipFill>
          <a:blip r:embed="rId3"/>
          <a:stretch>
            <a:fillRect/>
          </a:stretch>
        </p:blipFill>
        <p:spPr>
          <a:xfrm>
            <a:off x="3886200" y="2276856"/>
            <a:ext cx="201168" cy="201168"/>
          </a:xfrm>
          <a:prstGeom prst="rect">
            <a:avLst/>
          </a:prstGeom>
        </p:spPr>
      </p:pic>
      <p:sp>
        <p:nvSpPr>
          <p:cNvPr id="34" name="Text 29"/>
          <p:cNvSpPr/>
          <p:nvPr/>
        </p:nvSpPr>
        <p:spPr>
          <a:xfrm>
            <a:off x="4187952" y="2203704"/>
            <a:ext cx="3566160" cy="347472"/>
          </a:xfrm>
          <a:prstGeom prst="rect">
            <a:avLst/>
          </a:prstGeom>
          <a:noFill/>
          <a:ln/>
        </p:spPr>
        <p:txBody>
          <a:bodyPr wrap="square" rtlCol="0" anchor="ctr"/>
          <a:lstStyle/>
          <a:p>
            <a:pPr marL="0" indent="0">
              <a:buNone/>
            </a:pPr>
            <a:r>
              <a:rPr lang="en-US" sz="1100" dirty="0">
                <a:solidFill>
                  <a:srgbClr val="332A20"/>
                </a:solidFill>
                <a:latin typeface="Calibri" pitchFamily="34" charset="0"/>
                <a:ea typeface="Calibri" pitchFamily="34" charset="-122"/>
                <a:cs typeface="Calibri" pitchFamily="34" charset="-120"/>
              </a:rPr>
              <a:t>Keyword-based recipe search</a:t>
            </a:r>
            <a:endParaRPr lang="en-US" sz="1100" dirty="0"/>
          </a:p>
        </p:txBody>
      </p:sp>
      <p:pic>
        <p:nvPicPr>
          <p:cNvPr id="35" name="Image 3" descr="ic_check_green.png"/>
          <p:cNvPicPr>
            <a:picLocks noChangeAspect="1"/>
          </p:cNvPicPr>
          <p:nvPr/>
        </p:nvPicPr>
        <p:blipFill>
          <a:blip r:embed="rId3"/>
          <a:stretch>
            <a:fillRect/>
          </a:stretch>
        </p:blipFill>
        <p:spPr>
          <a:xfrm>
            <a:off x="3886200" y="2697480"/>
            <a:ext cx="201168" cy="201168"/>
          </a:xfrm>
          <a:prstGeom prst="rect">
            <a:avLst/>
          </a:prstGeom>
        </p:spPr>
      </p:pic>
      <p:sp>
        <p:nvSpPr>
          <p:cNvPr id="36" name="Text 30"/>
          <p:cNvSpPr/>
          <p:nvPr/>
        </p:nvSpPr>
        <p:spPr>
          <a:xfrm>
            <a:off x="4187952" y="2624328"/>
            <a:ext cx="3566160" cy="347472"/>
          </a:xfrm>
          <a:prstGeom prst="rect">
            <a:avLst/>
          </a:prstGeom>
          <a:noFill/>
          <a:ln/>
        </p:spPr>
        <p:txBody>
          <a:bodyPr wrap="square" rtlCol="0" anchor="ctr"/>
          <a:lstStyle/>
          <a:p>
            <a:pPr marL="0" indent="0">
              <a:buNone/>
            </a:pPr>
            <a:r>
              <a:rPr lang="en-US" sz="1100" dirty="0">
                <a:solidFill>
                  <a:srgbClr val="332A20"/>
                </a:solidFill>
                <a:latin typeface="Calibri" pitchFamily="34" charset="0"/>
                <a:ea typeface="Calibri" pitchFamily="34" charset="-122"/>
                <a:cs typeface="Calibri" pitchFamily="34" charset="-120"/>
              </a:rPr>
              <a:t>View recipe details</a:t>
            </a:r>
            <a:endParaRPr lang="en-US" sz="1100" dirty="0"/>
          </a:p>
        </p:txBody>
      </p:sp>
      <p:pic>
        <p:nvPicPr>
          <p:cNvPr id="37" name="Image 4" descr="ic_check_green.png"/>
          <p:cNvPicPr>
            <a:picLocks noChangeAspect="1"/>
          </p:cNvPicPr>
          <p:nvPr/>
        </p:nvPicPr>
        <p:blipFill>
          <a:blip r:embed="rId3"/>
          <a:stretch>
            <a:fillRect/>
          </a:stretch>
        </p:blipFill>
        <p:spPr>
          <a:xfrm>
            <a:off x="3886200" y="3118104"/>
            <a:ext cx="201168" cy="201168"/>
          </a:xfrm>
          <a:prstGeom prst="rect">
            <a:avLst/>
          </a:prstGeom>
        </p:spPr>
      </p:pic>
      <p:sp>
        <p:nvSpPr>
          <p:cNvPr id="38" name="Text 31"/>
          <p:cNvSpPr/>
          <p:nvPr/>
        </p:nvSpPr>
        <p:spPr>
          <a:xfrm>
            <a:off x="4187952" y="3044952"/>
            <a:ext cx="3566160" cy="347472"/>
          </a:xfrm>
          <a:prstGeom prst="rect">
            <a:avLst/>
          </a:prstGeom>
          <a:noFill/>
          <a:ln/>
        </p:spPr>
        <p:txBody>
          <a:bodyPr wrap="square" rtlCol="0" anchor="ctr"/>
          <a:lstStyle/>
          <a:p>
            <a:pPr marL="0" indent="0">
              <a:buNone/>
            </a:pPr>
            <a:r>
              <a:rPr lang="en-US" sz="1100" dirty="0">
                <a:solidFill>
                  <a:srgbClr val="332A20"/>
                </a:solidFill>
                <a:latin typeface="Calibri" pitchFamily="34" charset="0"/>
                <a:ea typeface="Calibri" pitchFamily="34" charset="-122"/>
                <a:cs typeface="Calibri" pitchFamily="34" charset="-120"/>
              </a:rPr>
              <a:t>View cooking instructions</a:t>
            </a:r>
            <a:endParaRPr lang="en-US" sz="1100" dirty="0"/>
          </a:p>
        </p:txBody>
      </p:sp>
      <p:pic>
        <p:nvPicPr>
          <p:cNvPr id="39" name="Image 5" descr="ic_check_green.png"/>
          <p:cNvPicPr>
            <a:picLocks noChangeAspect="1"/>
          </p:cNvPicPr>
          <p:nvPr/>
        </p:nvPicPr>
        <p:blipFill>
          <a:blip r:embed="rId3"/>
          <a:stretch>
            <a:fillRect/>
          </a:stretch>
        </p:blipFill>
        <p:spPr>
          <a:xfrm>
            <a:off x="3886200" y="3538728"/>
            <a:ext cx="201168" cy="201168"/>
          </a:xfrm>
          <a:prstGeom prst="rect">
            <a:avLst/>
          </a:prstGeom>
        </p:spPr>
      </p:pic>
      <p:sp>
        <p:nvSpPr>
          <p:cNvPr id="40" name="Text 32"/>
          <p:cNvSpPr/>
          <p:nvPr/>
        </p:nvSpPr>
        <p:spPr>
          <a:xfrm>
            <a:off x="4187952" y="3465576"/>
            <a:ext cx="3566160" cy="347472"/>
          </a:xfrm>
          <a:prstGeom prst="rect">
            <a:avLst/>
          </a:prstGeom>
          <a:noFill/>
          <a:ln/>
        </p:spPr>
        <p:txBody>
          <a:bodyPr wrap="square" rtlCol="0" anchor="ctr"/>
          <a:lstStyle/>
          <a:p>
            <a:pPr marL="0" indent="0">
              <a:buNone/>
            </a:pPr>
            <a:r>
              <a:rPr lang="en-US" sz="1100" dirty="0">
                <a:solidFill>
                  <a:srgbClr val="332A20"/>
                </a:solidFill>
                <a:latin typeface="Calibri" pitchFamily="34" charset="0"/>
                <a:ea typeface="Calibri" pitchFamily="34" charset="-122"/>
                <a:cs typeface="Calibri" pitchFamily="34" charset="-120"/>
              </a:rPr>
              <a:t>Filter recipes by cuisine &amp; category</a:t>
            </a:r>
            <a:endParaRPr lang="en-US" sz="1100" dirty="0"/>
          </a:p>
        </p:txBody>
      </p:sp>
      <p:sp>
        <p:nvSpPr>
          <p:cNvPr id="41" name="Shape 33"/>
          <p:cNvSpPr/>
          <p:nvPr/>
        </p:nvSpPr>
        <p:spPr>
          <a:xfrm>
            <a:off x="8001000" y="1024128"/>
            <a:ext cx="3611880" cy="2468880"/>
          </a:xfrm>
          <a:prstGeom prst="roundRect">
            <a:avLst>
              <a:gd name="adj" fmla="val 4444"/>
            </a:avLst>
          </a:prstGeom>
          <a:solidFill>
            <a:srgbClr val="46594B"/>
          </a:solidFill>
          <a:ln/>
        </p:spPr>
      </p:sp>
      <p:sp>
        <p:nvSpPr>
          <p:cNvPr id="42" name="Shape 34"/>
          <p:cNvSpPr/>
          <p:nvPr/>
        </p:nvSpPr>
        <p:spPr>
          <a:xfrm>
            <a:off x="8275320" y="1234440"/>
            <a:ext cx="640080" cy="640080"/>
          </a:xfrm>
          <a:prstGeom prst="ellipse">
            <a:avLst/>
          </a:prstGeom>
          <a:solidFill>
            <a:srgbClr val="4B321D"/>
          </a:solidFill>
          <a:ln/>
        </p:spPr>
      </p:sp>
      <p:pic>
        <p:nvPicPr>
          <p:cNvPr id="43" name="Image 6" descr="ic_code_green.png"/>
          <p:cNvPicPr>
            <a:picLocks noChangeAspect="1"/>
          </p:cNvPicPr>
          <p:nvPr/>
        </p:nvPicPr>
        <p:blipFill>
          <a:blip r:embed="rId4"/>
          <a:stretch>
            <a:fillRect/>
          </a:stretch>
        </p:blipFill>
        <p:spPr>
          <a:xfrm>
            <a:off x="8419338" y="1378458"/>
            <a:ext cx="352044" cy="352044"/>
          </a:xfrm>
          <a:prstGeom prst="rect">
            <a:avLst/>
          </a:prstGeom>
        </p:spPr>
      </p:pic>
      <p:sp>
        <p:nvSpPr>
          <p:cNvPr id="44" name="Text 35"/>
          <p:cNvSpPr/>
          <p:nvPr/>
        </p:nvSpPr>
        <p:spPr>
          <a:xfrm>
            <a:off x="9052560" y="1280160"/>
            <a:ext cx="2468880" cy="5486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Current Focus</a:t>
            </a:r>
            <a:endParaRPr lang="en-US" sz="1400" dirty="0"/>
          </a:p>
        </p:txBody>
      </p:sp>
      <p:sp>
        <p:nvSpPr>
          <p:cNvPr id="45" name="Text 36"/>
          <p:cNvSpPr/>
          <p:nvPr/>
        </p:nvSpPr>
        <p:spPr>
          <a:xfrm>
            <a:off x="8275320" y="1965960"/>
            <a:ext cx="3063240" cy="1417320"/>
          </a:xfrm>
          <a:prstGeom prst="rect">
            <a:avLst/>
          </a:prstGeom>
          <a:noFill/>
          <a:ln/>
        </p:spPr>
        <p:txBody>
          <a:bodyPr wrap="square" rtlCol="0" anchor="ctr"/>
          <a:lstStyle/>
          <a:p>
            <a:pPr marL="0" indent="0">
              <a:lnSpc>
                <a:spcPct val="115000"/>
              </a:lnSpc>
              <a:buNone/>
            </a:pPr>
            <a:r>
              <a:rPr lang="en-US" sz="1100" dirty="0">
                <a:solidFill>
                  <a:srgbClr val="DCE3D8"/>
                </a:solidFill>
                <a:latin typeface="Calibri" pitchFamily="34" charset="0"/>
                <a:ea typeface="Calibri" pitchFamily="34" charset="-122"/>
                <a:cs typeface="Calibri" pitchFamily="34" charset="-120"/>
              </a:rPr>
              <a:t>Module 1 – String Algorithms: Naive Pattern Matching, KMP, and Rabin–Karp power fast recipe search by name, ingredient, keyword, and tag.</a:t>
            </a:r>
            <a:endParaRPr lang="en-US" sz="1100" dirty="0"/>
          </a:p>
        </p:txBody>
      </p:sp>
      <p:sp>
        <p:nvSpPr>
          <p:cNvPr id="46" name="Text 37"/>
          <p:cNvSpPr/>
          <p:nvPr/>
        </p:nvSpPr>
        <p:spPr>
          <a:xfrm>
            <a:off x="548640" y="3977640"/>
            <a:ext cx="7315200" cy="274320"/>
          </a:xfrm>
          <a:prstGeom prst="rect">
            <a:avLst/>
          </a:prstGeom>
          <a:noFill/>
          <a:ln/>
        </p:spPr>
        <p:txBody>
          <a:bodyPr wrap="square" rtlCol="0" anchor="ctr"/>
          <a:lstStyle/>
          <a:p>
            <a:pPr marL="0" indent="0">
              <a:buNone/>
            </a:pPr>
            <a:r>
              <a:rPr lang="en-US" sz="1200" b="1" kern="0" spc="100" dirty="0">
                <a:solidFill>
                  <a:srgbClr val="9C7A3C"/>
                </a:solidFill>
                <a:latin typeface="Calibri" pitchFamily="34" charset="0"/>
                <a:ea typeface="Calibri" pitchFamily="34" charset="-122"/>
                <a:cs typeface="Calibri" pitchFamily="34" charset="-120"/>
              </a:rPr>
              <a:t>DSA ALGORITHM MAPPING  (Based on DSA-3 Syllabus)</a:t>
            </a:r>
            <a:endParaRPr lang="en-US" sz="12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4279392"/>
          <a:ext cx="11064240" cy="2331720"/>
        </p:xfrm>
        <a:graphic>
          <a:graphicData uri="http://schemas.openxmlformats.org/drawingml/2006/table">
            <a:tbl>
              <a:tblPr/>
              <a:tblGrid>
                <a:gridCol w="36576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333103">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DSA Module</a:t>
                      </a:r>
                      <a:endParaRPr lang="en-US" sz="10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4B321D"/>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Algorithm(s) Used</a:t>
                      </a:r>
                      <a:endParaRPr lang="en-US" sz="10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4B321D"/>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Purpose in Recipe Finder</a:t>
                      </a:r>
                      <a:endParaRPr lang="en-US" sz="10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4B321D"/>
                    </a:solidFill>
                  </a:tcPr>
                </a:tc>
                <a:extLst>
                  <a:ext uri="{0D108BD9-81ED-4DB2-BD59-A6C34878D82A}">
                    <a16:rowId xmlns:a16="http://schemas.microsoft.com/office/drawing/2014/main" val="10000"/>
                  </a:ext>
                </a:extLst>
              </a:tr>
              <a:tr h="333103">
                <a:tc>
                  <a:txBody>
                    <a:bodyPr/>
                    <a:lstStyle/>
                    <a:p>
                      <a:pPr marL="0" indent="0" algn="l">
                        <a:buNone/>
                      </a:pPr>
                      <a:r>
                        <a:rPr lang="en-US" sz="950" b="1" dirty="0">
                          <a:solidFill>
                            <a:srgbClr val="332A20"/>
                          </a:solidFill>
                          <a:latin typeface="Calibri" pitchFamily="34" charset="0"/>
                          <a:ea typeface="Calibri" pitchFamily="34" charset="-122"/>
                          <a:cs typeface="Calibri" pitchFamily="34" charset="-120"/>
                        </a:rPr>
                        <a:t>Module 1 – String Algorithms (Current)</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1E6D2"/>
                    </a:solidFill>
                  </a:tcPr>
                </a:tc>
                <a:tc>
                  <a:txBody>
                    <a:bodyPr/>
                    <a:lstStyle/>
                    <a:p>
                      <a:pPr marL="0" indent="0" algn="l">
                        <a:buNone/>
                      </a:pPr>
                      <a:r>
                        <a:rPr lang="en-US" sz="950" dirty="0">
                          <a:solidFill>
                            <a:srgbClr val="332A20"/>
                          </a:solidFill>
                          <a:latin typeface="Calibri" pitchFamily="34" charset="0"/>
                          <a:ea typeface="Calibri" pitchFamily="34" charset="-122"/>
                          <a:cs typeface="Calibri" pitchFamily="34" charset="-120"/>
                        </a:rPr>
                        <a:t>Naive Pattern Matching, KMP, Rabin–Karp</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1E6D2"/>
                    </a:solidFill>
                  </a:tcPr>
                </a:tc>
                <a:tc>
                  <a:txBody>
                    <a:bodyPr/>
                    <a:lstStyle/>
                    <a:p>
                      <a:pPr marL="0" indent="0" algn="l">
                        <a:buNone/>
                      </a:pPr>
                      <a:r>
                        <a:rPr lang="en-US" sz="950" dirty="0">
                          <a:solidFill>
                            <a:srgbClr val="332A20"/>
                          </a:solidFill>
                          <a:latin typeface="Calibri" pitchFamily="34" charset="0"/>
                          <a:ea typeface="Calibri" pitchFamily="34" charset="-122"/>
                          <a:cs typeface="Calibri" pitchFamily="34" charset="-120"/>
                        </a:rPr>
                        <a:t>Fast recipe search by name, ingredients, keywords &amp; tags</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1E6D2"/>
                    </a:solidFill>
                  </a:tcPr>
                </a:tc>
                <a:extLst>
                  <a:ext uri="{0D108BD9-81ED-4DB2-BD59-A6C34878D82A}">
                    <a16:rowId xmlns:a16="http://schemas.microsoft.com/office/drawing/2014/main" val="10001"/>
                  </a:ext>
                </a:extLst>
              </a:tr>
              <a:tr h="333103">
                <a:tc>
                  <a:txBody>
                    <a:bodyPr/>
                    <a:lstStyle/>
                    <a:p>
                      <a:pPr marL="0" indent="0" algn="l">
                        <a:buNone/>
                      </a:pPr>
                      <a:r>
                        <a:rPr lang="en-US" sz="950" dirty="0">
                          <a:solidFill>
                            <a:srgbClr val="7A7267"/>
                          </a:solidFill>
                          <a:latin typeface="Calibri" pitchFamily="34" charset="0"/>
                          <a:ea typeface="Calibri" pitchFamily="34" charset="-122"/>
                          <a:cs typeface="Calibri" pitchFamily="34" charset="-120"/>
                        </a:rPr>
                        <a:t>Module 2 – Dynamic Programming (Planned)</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l">
                        <a:buNone/>
                      </a:pPr>
                      <a:r>
                        <a:rPr lang="en-US" sz="950" dirty="0">
                          <a:solidFill>
                            <a:srgbClr val="7A7267"/>
                          </a:solidFill>
                          <a:latin typeface="Calibri" pitchFamily="34" charset="0"/>
                          <a:ea typeface="Calibri" pitchFamily="34" charset="-122"/>
                          <a:cs typeface="Calibri" pitchFamily="34" charset="-120"/>
                        </a:rPr>
                        <a:t>Levenshtein Edit Distance</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l">
                        <a:buNone/>
                      </a:pPr>
                      <a:r>
                        <a:rPr lang="en-US" sz="950" dirty="0">
                          <a:solidFill>
                            <a:srgbClr val="7A7267"/>
                          </a:solidFill>
                          <a:latin typeface="Calibri" pitchFamily="34" charset="0"/>
                          <a:ea typeface="Calibri" pitchFamily="34" charset="-122"/>
                          <a:cs typeface="Calibri" pitchFamily="34" charset="-120"/>
                        </a:rPr>
                        <a:t>Typo correction and fuzzy search</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2"/>
                  </a:ext>
                </a:extLst>
              </a:tr>
              <a:tr h="333103">
                <a:tc>
                  <a:txBody>
                    <a:bodyPr/>
                    <a:lstStyle/>
                    <a:p>
                      <a:pPr marL="0" indent="0" algn="l">
                        <a:buNone/>
                      </a:pPr>
                      <a:r>
                        <a:rPr lang="en-US" sz="950" dirty="0">
                          <a:solidFill>
                            <a:srgbClr val="7A7267"/>
                          </a:solidFill>
                          <a:latin typeface="Calibri" pitchFamily="34" charset="0"/>
                          <a:ea typeface="Calibri" pitchFamily="34" charset="-122"/>
                          <a:cs typeface="Calibri" pitchFamily="34" charset="-120"/>
                        </a:rPr>
                        <a:t>Module 3 – Network Flow (Planned)</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l">
                        <a:buNone/>
                      </a:pPr>
                      <a:r>
                        <a:rPr lang="en-US" sz="950" dirty="0">
                          <a:solidFill>
                            <a:srgbClr val="7A7267"/>
                          </a:solidFill>
                          <a:latin typeface="Calibri" pitchFamily="34" charset="0"/>
                          <a:ea typeface="Calibri" pitchFamily="34" charset="-122"/>
                          <a:cs typeface="Calibri" pitchFamily="34" charset="-120"/>
                        </a:rPr>
                        <a:t>Ford–Fulkerson</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l">
                        <a:buNone/>
                      </a:pPr>
                      <a:r>
                        <a:rPr lang="en-US" sz="950" dirty="0">
                          <a:solidFill>
                            <a:srgbClr val="7A7267"/>
                          </a:solidFill>
                          <a:latin typeface="Calibri" pitchFamily="34" charset="0"/>
                          <a:ea typeface="Calibri" pitchFamily="34" charset="-122"/>
                          <a:cs typeface="Calibri" pitchFamily="34" charset="-120"/>
                        </a:rPr>
                        <a:t>Smart meal planning and ingredient allocation</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3"/>
                  </a:ext>
                </a:extLst>
              </a:tr>
              <a:tr h="333103">
                <a:tc>
                  <a:txBody>
                    <a:bodyPr/>
                    <a:lstStyle/>
                    <a:p>
                      <a:pPr marL="0" indent="0" algn="l">
                        <a:buNone/>
                      </a:pPr>
                      <a:r>
                        <a:rPr lang="en-US" sz="950" dirty="0">
                          <a:solidFill>
                            <a:srgbClr val="7A7267"/>
                          </a:solidFill>
                          <a:latin typeface="Calibri" pitchFamily="34" charset="0"/>
                          <a:ea typeface="Calibri" pitchFamily="34" charset="-122"/>
                          <a:cs typeface="Calibri" pitchFamily="34" charset="-120"/>
                        </a:rPr>
                        <a:t>Module 4 – NP-Completeness &amp; Approx. (Planned)</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l">
                        <a:buNone/>
                      </a:pPr>
                      <a:r>
                        <a:rPr lang="en-US" sz="950" dirty="0">
                          <a:solidFill>
                            <a:srgbClr val="7A7267"/>
                          </a:solidFill>
                          <a:latin typeface="Calibri" pitchFamily="34" charset="0"/>
                          <a:ea typeface="Calibri" pitchFamily="34" charset="-122"/>
                          <a:cs typeface="Calibri" pitchFamily="34" charset="-120"/>
                        </a:rPr>
                        <a:t>Greedy Approximation</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l">
                        <a:buNone/>
                      </a:pPr>
                      <a:r>
                        <a:rPr lang="en-US" sz="950" dirty="0">
                          <a:solidFill>
                            <a:srgbClr val="7A7267"/>
                          </a:solidFill>
                          <a:latin typeface="Calibri" pitchFamily="34" charset="0"/>
                          <a:ea typeface="Calibri" pitchFamily="34" charset="-122"/>
                          <a:cs typeface="Calibri" pitchFamily="34" charset="-120"/>
                        </a:rPr>
                        <a:t>Recommendation by budget, calories &amp; cooking time</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4"/>
                  </a:ext>
                </a:extLst>
              </a:tr>
              <a:tr h="333103">
                <a:tc>
                  <a:txBody>
                    <a:bodyPr/>
                    <a:lstStyle/>
                    <a:p>
                      <a:pPr marL="0" indent="0" algn="l">
                        <a:buNone/>
                      </a:pPr>
                      <a:r>
                        <a:rPr lang="en-US" sz="950" dirty="0">
                          <a:solidFill>
                            <a:srgbClr val="7A7267"/>
                          </a:solidFill>
                          <a:latin typeface="Calibri" pitchFamily="34" charset="0"/>
                          <a:ea typeface="Calibri" pitchFamily="34" charset="-122"/>
                          <a:cs typeface="Calibri" pitchFamily="34" charset="-120"/>
                        </a:rPr>
                        <a:t>Module 5 – Randomized Algorithms (Planned)</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l">
                        <a:buNone/>
                      </a:pPr>
                      <a:r>
                        <a:rPr lang="en-US" sz="950" dirty="0">
                          <a:solidFill>
                            <a:srgbClr val="7A7267"/>
                          </a:solidFill>
                          <a:latin typeface="Calibri" pitchFamily="34" charset="0"/>
                          <a:ea typeface="Calibri" pitchFamily="34" charset="-122"/>
                          <a:cs typeface="Calibri" pitchFamily="34" charset="-120"/>
                        </a:rPr>
                        <a:t>Randomized Hashing</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l">
                        <a:buNone/>
                      </a:pPr>
                      <a:r>
                        <a:rPr lang="en-US" sz="950" dirty="0">
                          <a:solidFill>
                            <a:srgbClr val="7A7267"/>
                          </a:solidFill>
                          <a:latin typeface="Calibri" pitchFamily="34" charset="0"/>
                          <a:ea typeface="Calibri" pitchFamily="34" charset="-122"/>
                          <a:cs typeface="Calibri" pitchFamily="34" charset="-120"/>
                        </a:rPr>
                        <a:t>Random recipe suggestion ("Surprise Me")</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5"/>
                  </a:ext>
                </a:extLst>
              </a:tr>
              <a:tr h="333103">
                <a:tc>
                  <a:txBody>
                    <a:bodyPr/>
                    <a:lstStyle/>
                    <a:p>
                      <a:pPr marL="0" indent="0" algn="l">
                        <a:buNone/>
                      </a:pPr>
                      <a:r>
                        <a:rPr lang="en-US" sz="950" dirty="0">
                          <a:solidFill>
                            <a:srgbClr val="7A7267"/>
                          </a:solidFill>
                          <a:latin typeface="Calibri" pitchFamily="34" charset="0"/>
                          <a:ea typeface="Calibri" pitchFamily="34" charset="-122"/>
                          <a:cs typeface="Calibri" pitchFamily="34" charset="-120"/>
                        </a:rPr>
                        <a:t>Module 6 – Parallel Algorithms (Planned)</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l">
                        <a:buNone/>
                      </a:pPr>
                      <a:r>
                        <a:rPr lang="en-US" sz="950" dirty="0">
                          <a:solidFill>
                            <a:srgbClr val="7A7267"/>
                          </a:solidFill>
                          <a:latin typeface="Calibri" pitchFamily="34" charset="0"/>
                          <a:ea typeface="Calibri" pitchFamily="34" charset="-122"/>
                          <a:cs typeface="Calibri" pitchFamily="34" charset="-120"/>
                        </a:rPr>
                        <a:t>Parallel Search</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l">
                        <a:buNone/>
                      </a:pPr>
                      <a:r>
                        <a:rPr lang="en-US" sz="950" dirty="0">
                          <a:solidFill>
                            <a:srgbClr val="7A7267"/>
                          </a:solidFill>
                          <a:latin typeface="Calibri" pitchFamily="34" charset="0"/>
                          <a:ea typeface="Calibri" pitchFamily="34" charset="-122"/>
                          <a:cs typeface="Calibri" pitchFamily="34" charset="-120"/>
                        </a:rPr>
                        <a:t>Faster searching and filtering of recipes</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8" name="Text 38"/>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7A7267"/>
                </a:solidFill>
                <a:latin typeface="Calibri" pitchFamily="34" charset="0"/>
                <a:ea typeface="Calibri" pitchFamily="34" charset="-122"/>
                <a:cs typeface="Calibri" pitchFamily="34" charset="-120"/>
              </a:rPr>
              <a:t>Recipe Finder</a:t>
            </a:r>
            <a:endParaRPr lang="en-US" sz="900" dirty="0"/>
          </a:p>
        </p:txBody>
      </p:sp>
      <p:sp>
        <p:nvSpPr>
          <p:cNvPr id="49" name="Text 39"/>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7A7267"/>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ic_tomato_orange.png"/>
          <p:cNvPicPr>
            <a:picLocks noChangeAspect="1"/>
          </p:cNvPicPr>
          <p:nvPr/>
        </p:nvPicPr>
        <p:blipFill>
          <a:blip r:embed="rId3">
            <a:alphaModFix amt="10000"/>
          </a:blip>
          <a:stretch>
            <a:fillRect/>
          </a:stretch>
        </p:blipFill>
        <p:spPr>
          <a:xfrm>
            <a:off x="10378440" y="-502920"/>
            <a:ext cx="2194560" cy="2194560"/>
          </a:xfrm>
          <a:prstGeom prst="rect">
            <a:avLst/>
          </a:prstGeom>
        </p:spPr>
      </p:pic>
      <p:pic>
        <p:nvPicPr>
          <p:cNvPr id="3" name="Image 1" descr="ic_carrot_orange.png"/>
          <p:cNvPicPr>
            <a:picLocks noChangeAspect="1"/>
          </p:cNvPicPr>
          <p:nvPr/>
        </p:nvPicPr>
        <p:blipFill>
          <a:blip r:embed="rId4">
            <a:alphaModFix amt="8000"/>
          </a:blip>
          <a:stretch>
            <a:fillRect/>
          </a:stretch>
        </p:blipFill>
        <p:spPr>
          <a:xfrm rot="-1200000">
            <a:off x="-548640" y="5577840"/>
            <a:ext cx="2103120" cy="2103120"/>
          </a:xfrm>
          <a:prstGeom prst="rect">
            <a:avLst/>
          </a:prstGeom>
        </p:spPr>
      </p:pic>
      <p:sp>
        <p:nvSpPr>
          <p:cNvPr id="4" name="Shape 0"/>
          <p:cNvSpPr/>
          <p:nvPr/>
        </p:nvSpPr>
        <p:spPr>
          <a:xfrm>
            <a:off x="548640" y="347472"/>
            <a:ext cx="566928" cy="566928"/>
          </a:xfrm>
          <a:prstGeom prst="ellipse">
            <a:avLst/>
          </a:prstGeom>
          <a:solidFill>
            <a:srgbClr val="9C7A3C"/>
          </a:solidFill>
          <a:ln/>
        </p:spPr>
      </p:sp>
      <p:pic>
        <p:nvPicPr>
          <p:cNvPr id="5" name="Image 2" descr="ic_chefhat_white.png"/>
          <p:cNvPicPr>
            <a:picLocks noChangeAspect="1"/>
          </p:cNvPicPr>
          <p:nvPr/>
        </p:nvPicPr>
        <p:blipFill>
          <a:blip r:embed="rId5"/>
          <a:stretch>
            <a:fillRect/>
          </a:stretch>
        </p:blipFill>
        <p:spPr>
          <a:xfrm>
            <a:off x="667695" y="466527"/>
            <a:ext cx="328818" cy="328818"/>
          </a:xfrm>
          <a:prstGeom prst="rect">
            <a:avLst/>
          </a:prstGeom>
        </p:spPr>
      </p:pic>
      <p:sp>
        <p:nvSpPr>
          <p:cNvPr id="6" name="Text 1"/>
          <p:cNvSpPr/>
          <p:nvPr/>
        </p:nvSpPr>
        <p:spPr>
          <a:xfrm>
            <a:off x="1280160" y="320040"/>
            <a:ext cx="7772400" cy="594360"/>
          </a:xfrm>
          <a:prstGeom prst="rect">
            <a:avLst/>
          </a:prstGeom>
          <a:noFill/>
          <a:ln/>
        </p:spPr>
        <p:txBody>
          <a:bodyPr wrap="square" rtlCol="0" anchor="ctr"/>
          <a:lstStyle/>
          <a:p>
            <a:pPr marL="0" indent="0">
              <a:buNone/>
            </a:pPr>
            <a:r>
              <a:rPr lang="en-US" sz="3200" b="1" dirty="0">
                <a:solidFill>
                  <a:srgbClr val="46594B"/>
                </a:solidFill>
                <a:latin typeface="Poppins" pitchFamily="34" charset="0"/>
                <a:ea typeface="Poppins" pitchFamily="34" charset="-122"/>
                <a:cs typeface="Poppins" pitchFamily="34" charset="-120"/>
              </a:rPr>
              <a:t>Tools &amp; Technologies</a:t>
            </a:r>
            <a:endParaRPr lang="en-US" sz="3200" dirty="0"/>
          </a:p>
        </p:txBody>
      </p:sp>
      <p:sp>
        <p:nvSpPr>
          <p:cNvPr id="7" name="Text 2"/>
          <p:cNvSpPr/>
          <p:nvPr/>
        </p:nvSpPr>
        <p:spPr>
          <a:xfrm>
            <a:off x="1298448" y="896112"/>
            <a:ext cx="7315200" cy="274320"/>
          </a:xfrm>
          <a:prstGeom prst="rect">
            <a:avLst/>
          </a:prstGeom>
          <a:noFill/>
          <a:ln/>
        </p:spPr>
        <p:txBody>
          <a:bodyPr wrap="square" rtlCol="0" anchor="ctr"/>
          <a:lstStyle/>
          <a:p>
            <a:pPr marL="0" indent="0">
              <a:buNone/>
            </a:pPr>
            <a:r>
              <a:rPr lang="en-US" sz="1200" b="1" kern="0" spc="150" dirty="0">
                <a:solidFill>
                  <a:srgbClr val="9C7A3C"/>
                </a:solidFill>
                <a:latin typeface="Calibri" pitchFamily="34" charset="0"/>
                <a:ea typeface="Calibri" pitchFamily="34" charset="-122"/>
                <a:cs typeface="Calibri" pitchFamily="34" charset="-120"/>
              </a:rPr>
              <a:t>RECIPE CARD  –  Building Recipe Finder</a:t>
            </a:r>
            <a:endParaRPr lang="en-US" sz="1200" dirty="0"/>
          </a:p>
        </p:txBody>
      </p:sp>
      <p:sp>
        <p:nvSpPr>
          <p:cNvPr id="8" name="Shape 3"/>
          <p:cNvSpPr/>
          <p:nvPr/>
        </p:nvSpPr>
        <p:spPr>
          <a:xfrm>
            <a:off x="640080" y="1417320"/>
            <a:ext cx="3429000" cy="3429000"/>
          </a:xfrm>
          <a:prstGeom prst="roundRect">
            <a:avLst>
              <a:gd name="adj" fmla="val 3733"/>
            </a:avLst>
          </a:prstGeom>
          <a:solidFill>
            <a:srgbClr val="ECEFEA"/>
          </a:solidFill>
          <a:ln/>
        </p:spPr>
      </p:sp>
      <p:sp>
        <p:nvSpPr>
          <p:cNvPr id="9" name="Shape 4"/>
          <p:cNvSpPr/>
          <p:nvPr/>
        </p:nvSpPr>
        <p:spPr>
          <a:xfrm>
            <a:off x="1988820" y="1709928"/>
            <a:ext cx="731520" cy="731520"/>
          </a:xfrm>
          <a:prstGeom prst="ellipse">
            <a:avLst/>
          </a:prstGeom>
          <a:solidFill>
            <a:srgbClr val="FFFFFF"/>
          </a:solidFill>
          <a:ln/>
        </p:spPr>
      </p:sp>
      <p:pic>
        <p:nvPicPr>
          <p:cNvPr id="10" name="Image 3" descr="ic_java.png"/>
          <p:cNvPicPr>
            <a:picLocks noChangeAspect="1"/>
          </p:cNvPicPr>
          <p:nvPr/>
        </p:nvPicPr>
        <p:blipFill>
          <a:blip r:embed="rId6"/>
          <a:stretch>
            <a:fillRect/>
          </a:stretch>
        </p:blipFill>
        <p:spPr>
          <a:xfrm>
            <a:off x="2171700" y="1892808"/>
            <a:ext cx="365760" cy="365760"/>
          </a:xfrm>
          <a:prstGeom prst="rect">
            <a:avLst/>
          </a:prstGeom>
        </p:spPr>
      </p:pic>
      <p:sp>
        <p:nvSpPr>
          <p:cNvPr id="11" name="Text 5"/>
          <p:cNvSpPr/>
          <p:nvPr/>
        </p:nvSpPr>
        <p:spPr>
          <a:xfrm>
            <a:off x="822960" y="2587752"/>
            <a:ext cx="3063240" cy="411480"/>
          </a:xfrm>
          <a:prstGeom prst="rect">
            <a:avLst/>
          </a:prstGeom>
          <a:noFill/>
          <a:ln/>
        </p:spPr>
        <p:txBody>
          <a:bodyPr wrap="square" rtlCol="0" anchor="t"/>
          <a:lstStyle/>
          <a:p>
            <a:pPr marL="0" indent="0" algn="ctr">
              <a:buNone/>
            </a:pPr>
            <a:r>
              <a:rPr lang="en-US" sz="1450" b="1" dirty="0">
                <a:solidFill>
                  <a:srgbClr val="46594B"/>
                </a:solidFill>
                <a:latin typeface="Calibri" pitchFamily="34" charset="0"/>
                <a:ea typeface="Calibri" pitchFamily="34" charset="-122"/>
                <a:cs typeface="Calibri" pitchFamily="34" charset="-120"/>
              </a:rPr>
              <a:t>Programming Language</a:t>
            </a:r>
            <a:endParaRPr lang="en-US" sz="1450" dirty="0"/>
          </a:p>
        </p:txBody>
      </p:sp>
      <p:sp>
        <p:nvSpPr>
          <p:cNvPr id="12" name="Text 6"/>
          <p:cNvSpPr/>
          <p:nvPr/>
        </p:nvSpPr>
        <p:spPr>
          <a:xfrm>
            <a:off x="960120" y="2990088"/>
            <a:ext cx="2788920" cy="502920"/>
          </a:xfrm>
          <a:prstGeom prst="rect">
            <a:avLst/>
          </a:prstGeom>
          <a:noFill/>
          <a:ln/>
        </p:spPr>
        <p:txBody>
          <a:bodyPr wrap="square" rtlCol="0" anchor="t"/>
          <a:lstStyle/>
          <a:p>
            <a:pPr marL="0" indent="0" algn="ctr">
              <a:lnSpc>
                <a:spcPct val="110000"/>
              </a:lnSpc>
              <a:buNone/>
            </a:pPr>
            <a:r>
              <a:rPr lang="en-US" sz="1050" i="1" dirty="0">
                <a:solidFill>
                  <a:srgbClr val="7A7267"/>
                </a:solidFill>
                <a:latin typeface="Calibri" pitchFamily="34" charset="0"/>
                <a:ea typeface="Calibri" pitchFamily="34" charset="-122"/>
                <a:cs typeface="Calibri" pitchFamily="34" charset="-120"/>
              </a:rPr>
              <a:t>The base broth of every module.</a:t>
            </a:r>
            <a:endParaRPr lang="en-US" sz="1050" dirty="0"/>
          </a:p>
        </p:txBody>
      </p:sp>
      <p:sp>
        <p:nvSpPr>
          <p:cNvPr id="13" name="Shape 7"/>
          <p:cNvSpPr/>
          <p:nvPr/>
        </p:nvSpPr>
        <p:spPr>
          <a:xfrm>
            <a:off x="1211580" y="3657600"/>
            <a:ext cx="2286000" cy="420624"/>
          </a:xfrm>
          <a:prstGeom prst="roundRect">
            <a:avLst>
              <a:gd name="adj" fmla="val 21739"/>
            </a:avLst>
          </a:prstGeom>
          <a:solidFill>
            <a:srgbClr val="FFFFFF"/>
          </a:solidFill>
          <a:ln/>
        </p:spPr>
      </p:sp>
      <p:pic>
        <p:nvPicPr>
          <p:cNvPr id="14" name="Image 4" descr="ic_java.png"/>
          <p:cNvPicPr>
            <a:picLocks noChangeAspect="1"/>
          </p:cNvPicPr>
          <p:nvPr/>
        </p:nvPicPr>
        <p:blipFill>
          <a:blip r:embed="rId6"/>
          <a:stretch>
            <a:fillRect/>
          </a:stretch>
        </p:blipFill>
        <p:spPr>
          <a:xfrm>
            <a:off x="1339596" y="3758184"/>
            <a:ext cx="219456" cy="219456"/>
          </a:xfrm>
          <a:prstGeom prst="rect">
            <a:avLst/>
          </a:prstGeom>
        </p:spPr>
      </p:pic>
      <p:sp>
        <p:nvSpPr>
          <p:cNvPr id="15" name="Text 8"/>
          <p:cNvSpPr/>
          <p:nvPr/>
        </p:nvSpPr>
        <p:spPr>
          <a:xfrm>
            <a:off x="1650492" y="3657600"/>
            <a:ext cx="1737360" cy="420624"/>
          </a:xfrm>
          <a:prstGeom prst="rect">
            <a:avLst/>
          </a:prstGeom>
          <a:noFill/>
          <a:ln/>
        </p:spPr>
        <p:txBody>
          <a:bodyPr wrap="square" rtlCol="0" anchor="ctr"/>
          <a:lstStyle/>
          <a:p>
            <a:pPr marL="0" indent="0">
              <a:buNone/>
            </a:pPr>
            <a:r>
              <a:rPr lang="en-US" sz="1200" b="1" dirty="0">
                <a:solidFill>
                  <a:srgbClr val="332A20"/>
                </a:solidFill>
                <a:latin typeface="Calibri" pitchFamily="34" charset="0"/>
                <a:ea typeface="Calibri" pitchFamily="34" charset="-122"/>
                <a:cs typeface="Calibri" pitchFamily="34" charset="-120"/>
              </a:rPr>
              <a:t>Java</a:t>
            </a:r>
            <a:endParaRPr lang="en-US" sz="1200" dirty="0"/>
          </a:p>
        </p:txBody>
      </p:sp>
      <p:sp>
        <p:nvSpPr>
          <p:cNvPr id="16" name="Shape 9"/>
          <p:cNvSpPr/>
          <p:nvPr/>
        </p:nvSpPr>
        <p:spPr>
          <a:xfrm>
            <a:off x="4379976" y="1417320"/>
            <a:ext cx="3429000" cy="3429000"/>
          </a:xfrm>
          <a:prstGeom prst="roundRect">
            <a:avLst>
              <a:gd name="adj" fmla="val 3733"/>
            </a:avLst>
          </a:prstGeom>
          <a:solidFill>
            <a:srgbClr val="F1E6D2"/>
          </a:solidFill>
          <a:ln/>
        </p:spPr>
      </p:sp>
      <p:sp>
        <p:nvSpPr>
          <p:cNvPr id="17" name="Shape 10"/>
          <p:cNvSpPr/>
          <p:nvPr/>
        </p:nvSpPr>
        <p:spPr>
          <a:xfrm>
            <a:off x="5728716" y="1709928"/>
            <a:ext cx="731520" cy="731520"/>
          </a:xfrm>
          <a:prstGeom prst="ellipse">
            <a:avLst/>
          </a:prstGeom>
          <a:solidFill>
            <a:srgbClr val="FFFFFF"/>
          </a:solidFill>
          <a:ln/>
        </p:spPr>
      </p:sp>
      <p:pic>
        <p:nvPicPr>
          <p:cNvPr id="18" name="Image 5" descr="ic_vscode.png"/>
          <p:cNvPicPr>
            <a:picLocks noChangeAspect="1"/>
          </p:cNvPicPr>
          <p:nvPr/>
        </p:nvPicPr>
        <p:blipFill>
          <a:blip r:embed="rId7"/>
          <a:stretch>
            <a:fillRect/>
          </a:stretch>
        </p:blipFill>
        <p:spPr>
          <a:xfrm>
            <a:off x="5911596" y="1892808"/>
            <a:ext cx="365760" cy="365760"/>
          </a:xfrm>
          <a:prstGeom prst="rect">
            <a:avLst/>
          </a:prstGeom>
        </p:spPr>
      </p:pic>
      <p:sp>
        <p:nvSpPr>
          <p:cNvPr id="19" name="Text 11"/>
          <p:cNvSpPr/>
          <p:nvPr/>
        </p:nvSpPr>
        <p:spPr>
          <a:xfrm>
            <a:off x="4562856" y="2587752"/>
            <a:ext cx="3063240" cy="411480"/>
          </a:xfrm>
          <a:prstGeom prst="rect">
            <a:avLst/>
          </a:prstGeom>
          <a:noFill/>
          <a:ln/>
        </p:spPr>
        <p:txBody>
          <a:bodyPr wrap="square" rtlCol="0" anchor="t"/>
          <a:lstStyle/>
          <a:p>
            <a:pPr marL="0" indent="0" algn="ctr">
              <a:buNone/>
            </a:pPr>
            <a:r>
              <a:rPr lang="en-US" sz="1450" b="1" dirty="0">
                <a:solidFill>
                  <a:srgbClr val="46594B"/>
                </a:solidFill>
                <a:latin typeface="Calibri" pitchFamily="34" charset="0"/>
                <a:ea typeface="Calibri" pitchFamily="34" charset="-122"/>
                <a:cs typeface="Calibri" pitchFamily="34" charset="-120"/>
              </a:rPr>
              <a:t>Code Editor</a:t>
            </a:r>
            <a:endParaRPr lang="en-US" sz="1450" dirty="0"/>
          </a:p>
        </p:txBody>
      </p:sp>
      <p:sp>
        <p:nvSpPr>
          <p:cNvPr id="20" name="Text 12"/>
          <p:cNvSpPr/>
          <p:nvPr/>
        </p:nvSpPr>
        <p:spPr>
          <a:xfrm>
            <a:off x="4700016" y="2990088"/>
            <a:ext cx="2788920" cy="502920"/>
          </a:xfrm>
          <a:prstGeom prst="rect">
            <a:avLst/>
          </a:prstGeom>
          <a:noFill/>
          <a:ln/>
        </p:spPr>
        <p:txBody>
          <a:bodyPr wrap="square" rtlCol="0" anchor="t"/>
          <a:lstStyle/>
          <a:p>
            <a:pPr marL="0" indent="0" algn="ctr">
              <a:lnSpc>
                <a:spcPct val="110000"/>
              </a:lnSpc>
              <a:buNone/>
            </a:pPr>
            <a:r>
              <a:rPr lang="en-US" sz="1050" i="1" dirty="0">
                <a:solidFill>
                  <a:srgbClr val="7A7267"/>
                </a:solidFill>
                <a:latin typeface="Calibri" pitchFamily="34" charset="0"/>
                <a:ea typeface="Calibri" pitchFamily="34" charset="-122"/>
                <a:cs typeface="Calibri" pitchFamily="34" charset="-120"/>
              </a:rPr>
              <a:t>Where the recipe gets written.</a:t>
            </a:r>
            <a:endParaRPr lang="en-US" sz="1050" dirty="0"/>
          </a:p>
        </p:txBody>
      </p:sp>
      <p:sp>
        <p:nvSpPr>
          <p:cNvPr id="21" name="Shape 13"/>
          <p:cNvSpPr/>
          <p:nvPr/>
        </p:nvSpPr>
        <p:spPr>
          <a:xfrm>
            <a:off x="4951476" y="3657600"/>
            <a:ext cx="2286000" cy="420624"/>
          </a:xfrm>
          <a:prstGeom prst="roundRect">
            <a:avLst>
              <a:gd name="adj" fmla="val 21739"/>
            </a:avLst>
          </a:prstGeom>
          <a:solidFill>
            <a:srgbClr val="FFFFFF"/>
          </a:solidFill>
          <a:ln/>
        </p:spPr>
      </p:sp>
      <p:pic>
        <p:nvPicPr>
          <p:cNvPr id="22" name="Image 6" descr="ic_vscode.png"/>
          <p:cNvPicPr>
            <a:picLocks noChangeAspect="1"/>
          </p:cNvPicPr>
          <p:nvPr/>
        </p:nvPicPr>
        <p:blipFill>
          <a:blip r:embed="rId7"/>
          <a:stretch>
            <a:fillRect/>
          </a:stretch>
        </p:blipFill>
        <p:spPr>
          <a:xfrm>
            <a:off x="5079492" y="3758184"/>
            <a:ext cx="219456" cy="219456"/>
          </a:xfrm>
          <a:prstGeom prst="rect">
            <a:avLst/>
          </a:prstGeom>
        </p:spPr>
      </p:pic>
      <p:sp>
        <p:nvSpPr>
          <p:cNvPr id="23" name="Text 14"/>
          <p:cNvSpPr/>
          <p:nvPr/>
        </p:nvSpPr>
        <p:spPr>
          <a:xfrm>
            <a:off x="5390388" y="3657600"/>
            <a:ext cx="1737360" cy="420624"/>
          </a:xfrm>
          <a:prstGeom prst="rect">
            <a:avLst/>
          </a:prstGeom>
          <a:noFill/>
          <a:ln/>
        </p:spPr>
        <p:txBody>
          <a:bodyPr wrap="square" rtlCol="0" anchor="ctr"/>
          <a:lstStyle/>
          <a:p>
            <a:pPr marL="0" indent="0">
              <a:buNone/>
            </a:pPr>
            <a:r>
              <a:rPr lang="en-US" sz="1200" b="1" dirty="0">
                <a:solidFill>
                  <a:srgbClr val="332A20"/>
                </a:solidFill>
                <a:latin typeface="Calibri" pitchFamily="34" charset="0"/>
                <a:ea typeface="Calibri" pitchFamily="34" charset="-122"/>
                <a:cs typeface="Calibri" pitchFamily="34" charset="-120"/>
              </a:rPr>
              <a:t>VS Code</a:t>
            </a:r>
            <a:endParaRPr lang="en-US" sz="1200" dirty="0"/>
          </a:p>
        </p:txBody>
      </p:sp>
      <p:sp>
        <p:nvSpPr>
          <p:cNvPr id="24" name="Shape 15"/>
          <p:cNvSpPr/>
          <p:nvPr/>
        </p:nvSpPr>
        <p:spPr>
          <a:xfrm>
            <a:off x="8119872" y="1417320"/>
            <a:ext cx="3429000" cy="3429000"/>
          </a:xfrm>
          <a:prstGeom prst="roundRect">
            <a:avLst>
              <a:gd name="adj" fmla="val 3733"/>
            </a:avLst>
          </a:prstGeom>
          <a:solidFill>
            <a:srgbClr val="46594B"/>
          </a:solidFill>
          <a:ln/>
        </p:spPr>
      </p:sp>
      <p:sp>
        <p:nvSpPr>
          <p:cNvPr id="25" name="Shape 16"/>
          <p:cNvSpPr/>
          <p:nvPr/>
        </p:nvSpPr>
        <p:spPr>
          <a:xfrm>
            <a:off x="9468612" y="1709928"/>
            <a:ext cx="731520" cy="731520"/>
          </a:xfrm>
          <a:prstGeom prst="ellipse">
            <a:avLst/>
          </a:prstGeom>
          <a:solidFill>
            <a:srgbClr val="FFFFFF"/>
          </a:solidFill>
          <a:ln/>
        </p:spPr>
      </p:sp>
      <p:pic>
        <p:nvPicPr>
          <p:cNvPr id="26" name="Image 7" descr="ic_git.png"/>
          <p:cNvPicPr>
            <a:picLocks noChangeAspect="1"/>
          </p:cNvPicPr>
          <p:nvPr/>
        </p:nvPicPr>
        <p:blipFill>
          <a:blip r:embed="rId8"/>
          <a:stretch>
            <a:fillRect/>
          </a:stretch>
        </p:blipFill>
        <p:spPr>
          <a:xfrm>
            <a:off x="9651492" y="1892808"/>
            <a:ext cx="365760" cy="365760"/>
          </a:xfrm>
          <a:prstGeom prst="rect">
            <a:avLst/>
          </a:prstGeom>
        </p:spPr>
      </p:pic>
      <p:sp>
        <p:nvSpPr>
          <p:cNvPr id="27" name="Text 17"/>
          <p:cNvSpPr/>
          <p:nvPr/>
        </p:nvSpPr>
        <p:spPr>
          <a:xfrm>
            <a:off x="8302752" y="2587752"/>
            <a:ext cx="3063240" cy="411480"/>
          </a:xfrm>
          <a:prstGeom prst="rect">
            <a:avLst/>
          </a:prstGeom>
          <a:noFill/>
          <a:ln/>
        </p:spPr>
        <p:txBody>
          <a:bodyPr wrap="square" rtlCol="0" anchor="t"/>
          <a:lstStyle/>
          <a:p>
            <a:pPr marL="0" indent="0" algn="ctr">
              <a:buNone/>
            </a:pPr>
            <a:r>
              <a:rPr lang="en-US" sz="1450" b="1" dirty="0">
                <a:solidFill>
                  <a:srgbClr val="9C7A3C"/>
                </a:solidFill>
                <a:latin typeface="Calibri" pitchFamily="34" charset="0"/>
                <a:ea typeface="Calibri" pitchFamily="34" charset="-122"/>
                <a:cs typeface="Calibri" pitchFamily="34" charset="-120"/>
              </a:rPr>
              <a:t>Version Control</a:t>
            </a:r>
            <a:endParaRPr lang="en-US" sz="1450" dirty="0"/>
          </a:p>
        </p:txBody>
      </p:sp>
      <p:sp>
        <p:nvSpPr>
          <p:cNvPr id="28" name="Text 18"/>
          <p:cNvSpPr/>
          <p:nvPr/>
        </p:nvSpPr>
        <p:spPr>
          <a:xfrm>
            <a:off x="8439912" y="2990088"/>
            <a:ext cx="2788920" cy="502920"/>
          </a:xfrm>
          <a:prstGeom prst="rect">
            <a:avLst/>
          </a:prstGeom>
          <a:noFill/>
          <a:ln/>
        </p:spPr>
        <p:txBody>
          <a:bodyPr wrap="square" rtlCol="0" anchor="t"/>
          <a:lstStyle/>
          <a:p>
            <a:pPr marL="0" indent="0" algn="ctr">
              <a:lnSpc>
                <a:spcPct val="110000"/>
              </a:lnSpc>
              <a:buNone/>
            </a:pPr>
            <a:r>
              <a:rPr lang="en-US" sz="1050" i="1" dirty="0">
                <a:solidFill>
                  <a:srgbClr val="C8E6C9"/>
                </a:solidFill>
                <a:latin typeface="Calibri" pitchFamily="34" charset="0"/>
                <a:ea typeface="Calibri" pitchFamily="34" charset="-122"/>
                <a:cs typeface="Calibri" pitchFamily="34" charset="-120"/>
              </a:rPr>
              <a:t>Keeps every batch traceable.</a:t>
            </a:r>
            <a:endParaRPr lang="en-US" sz="1050" dirty="0"/>
          </a:p>
        </p:txBody>
      </p:sp>
      <p:sp>
        <p:nvSpPr>
          <p:cNvPr id="29" name="Shape 19"/>
          <p:cNvSpPr/>
          <p:nvPr/>
        </p:nvSpPr>
        <p:spPr>
          <a:xfrm>
            <a:off x="8691372" y="3657600"/>
            <a:ext cx="2286000" cy="420624"/>
          </a:xfrm>
          <a:prstGeom prst="roundRect">
            <a:avLst>
              <a:gd name="adj" fmla="val 21739"/>
            </a:avLst>
          </a:prstGeom>
          <a:solidFill>
            <a:srgbClr val="39473D"/>
          </a:solidFill>
          <a:ln/>
        </p:spPr>
      </p:sp>
      <p:pic>
        <p:nvPicPr>
          <p:cNvPr id="30" name="Image 8" descr="ic_git.png"/>
          <p:cNvPicPr>
            <a:picLocks noChangeAspect="1"/>
          </p:cNvPicPr>
          <p:nvPr/>
        </p:nvPicPr>
        <p:blipFill>
          <a:blip r:embed="rId8"/>
          <a:stretch>
            <a:fillRect/>
          </a:stretch>
        </p:blipFill>
        <p:spPr>
          <a:xfrm>
            <a:off x="8819388" y="3758184"/>
            <a:ext cx="219456" cy="219456"/>
          </a:xfrm>
          <a:prstGeom prst="rect">
            <a:avLst/>
          </a:prstGeom>
        </p:spPr>
      </p:pic>
      <p:sp>
        <p:nvSpPr>
          <p:cNvPr id="31" name="Text 20"/>
          <p:cNvSpPr/>
          <p:nvPr/>
        </p:nvSpPr>
        <p:spPr>
          <a:xfrm>
            <a:off x="9130284" y="3657600"/>
            <a:ext cx="1737360" cy="42062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Git</a:t>
            </a:r>
            <a:endParaRPr lang="en-US" sz="1200" dirty="0"/>
          </a:p>
        </p:txBody>
      </p:sp>
      <p:sp>
        <p:nvSpPr>
          <p:cNvPr id="32" name="Shape 21"/>
          <p:cNvSpPr/>
          <p:nvPr/>
        </p:nvSpPr>
        <p:spPr>
          <a:xfrm>
            <a:off x="8691372" y="4206240"/>
            <a:ext cx="2286000" cy="420624"/>
          </a:xfrm>
          <a:prstGeom prst="roundRect">
            <a:avLst>
              <a:gd name="adj" fmla="val 21739"/>
            </a:avLst>
          </a:prstGeom>
          <a:solidFill>
            <a:srgbClr val="39473D"/>
          </a:solidFill>
          <a:ln/>
        </p:spPr>
      </p:sp>
      <p:pic>
        <p:nvPicPr>
          <p:cNvPr id="33" name="Image 9" descr="ic_github.png"/>
          <p:cNvPicPr>
            <a:picLocks noChangeAspect="1"/>
          </p:cNvPicPr>
          <p:nvPr/>
        </p:nvPicPr>
        <p:blipFill>
          <a:blip r:embed="rId9"/>
          <a:stretch>
            <a:fillRect/>
          </a:stretch>
        </p:blipFill>
        <p:spPr>
          <a:xfrm>
            <a:off x="8819388" y="4306824"/>
            <a:ext cx="219456" cy="219456"/>
          </a:xfrm>
          <a:prstGeom prst="rect">
            <a:avLst/>
          </a:prstGeom>
        </p:spPr>
      </p:pic>
      <p:sp>
        <p:nvSpPr>
          <p:cNvPr id="34" name="Text 22"/>
          <p:cNvSpPr/>
          <p:nvPr/>
        </p:nvSpPr>
        <p:spPr>
          <a:xfrm>
            <a:off x="9130284" y="4206240"/>
            <a:ext cx="1737360" cy="42062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GitHub</a:t>
            </a:r>
            <a:endParaRPr lang="en-US" sz="1200" dirty="0"/>
          </a:p>
        </p:txBody>
      </p:sp>
      <p:pic>
        <p:nvPicPr>
          <p:cNvPr id="35" name="Image 10" descr="ic_knifefork_green.png"/>
          <p:cNvPicPr>
            <a:picLocks noChangeAspect="1"/>
          </p:cNvPicPr>
          <p:nvPr/>
        </p:nvPicPr>
        <p:blipFill>
          <a:blip r:embed="rId10"/>
          <a:stretch>
            <a:fillRect/>
          </a:stretch>
        </p:blipFill>
        <p:spPr>
          <a:xfrm>
            <a:off x="4677156" y="5230368"/>
            <a:ext cx="164592" cy="164592"/>
          </a:xfrm>
          <a:prstGeom prst="rect">
            <a:avLst/>
          </a:prstGeom>
        </p:spPr>
      </p:pic>
      <p:sp>
        <p:nvSpPr>
          <p:cNvPr id="36" name="Text 23"/>
          <p:cNvSpPr/>
          <p:nvPr/>
        </p:nvSpPr>
        <p:spPr>
          <a:xfrm>
            <a:off x="4905756" y="5184648"/>
            <a:ext cx="2377440" cy="256032"/>
          </a:xfrm>
          <a:prstGeom prst="rect">
            <a:avLst/>
          </a:prstGeom>
          <a:noFill/>
          <a:ln/>
        </p:spPr>
        <p:txBody>
          <a:bodyPr wrap="square" rtlCol="0" anchor="ctr"/>
          <a:lstStyle/>
          <a:p>
            <a:pPr marL="0" indent="0">
              <a:buNone/>
            </a:pPr>
            <a:r>
              <a:rPr lang="en-US" sz="1000" b="1" kern="0" spc="150" dirty="0">
                <a:solidFill>
                  <a:srgbClr val="4B321D"/>
                </a:solidFill>
                <a:latin typeface="Calibri" pitchFamily="34" charset="0"/>
                <a:ea typeface="Calibri" pitchFamily="34" charset="-122"/>
                <a:cs typeface="Calibri" pitchFamily="34" charset="-120"/>
              </a:rPr>
              <a:t>FULL TECH STACK</a:t>
            </a:r>
            <a:endParaRPr lang="en-US" sz="1000" dirty="0"/>
          </a:p>
        </p:txBody>
      </p:sp>
      <p:sp>
        <p:nvSpPr>
          <p:cNvPr id="37" name="Shape 24"/>
          <p:cNvSpPr/>
          <p:nvPr/>
        </p:nvSpPr>
        <p:spPr>
          <a:xfrm>
            <a:off x="3305556" y="5532120"/>
            <a:ext cx="502920" cy="502920"/>
          </a:xfrm>
          <a:prstGeom prst="ellipse">
            <a:avLst/>
          </a:prstGeom>
          <a:solidFill>
            <a:srgbClr val="F1E6D2"/>
          </a:solidFill>
          <a:ln/>
        </p:spPr>
      </p:sp>
      <p:pic>
        <p:nvPicPr>
          <p:cNvPr id="38" name="Image 11" descr="ic_java.png"/>
          <p:cNvPicPr>
            <a:picLocks noChangeAspect="1"/>
          </p:cNvPicPr>
          <p:nvPr/>
        </p:nvPicPr>
        <p:blipFill>
          <a:blip r:embed="rId6"/>
          <a:stretch>
            <a:fillRect/>
          </a:stretch>
        </p:blipFill>
        <p:spPr>
          <a:xfrm>
            <a:off x="3418713" y="5645277"/>
            <a:ext cx="276606" cy="276606"/>
          </a:xfrm>
          <a:prstGeom prst="rect">
            <a:avLst/>
          </a:prstGeom>
        </p:spPr>
      </p:pic>
      <p:sp>
        <p:nvSpPr>
          <p:cNvPr id="39" name="Text 25"/>
          <p:cNvSpPr/>
          <p:nvPr/>
        </p:nvSpPr>
        <p:spPr>
          <a:xfrm>
            <a:off x="2871216" y="6080760"/>
            <a:ext cx="1371600" cy="237744"/>
          </a:xfrm>
          <a:prstGeom prst="rect">
            <a:avLst/>
          </a:prstGeom>
          <a:noFill/>
          <a:ln/>
        </p:spPr>
        <p:txBody>
          <a:bodyPr wrap="square" rtlCol="0" anchor="ctr"/>
          <a:lstStyle/>
          <a:p>
            <a:pPr marL="0" indent="0" algn="ctr">
              <a:buNone/>
            </a:pPr>
            <a:r>
              <a:rPr lang="en-US" sz="1050" b="1" dirty="0">
                <a:solidFill>
                  <a:srgbClr val="46594B"/>
                </a:solidFill>
                <a:latin typeface="Calibri" pitchFamily="34" charset="0"/>
                <a:ea typeface="Calibri" pitchFamily="34" charset="-122"/>
                <a:cs typeface="Calibri" pitchFamily="34" charset="-120"/>
              </a:rPr>
              <a:t>Java</a:t>
            </a:r>
            <a:endParaRPr lang="en-US" sz="1050" dirty="0"/>
          </a:p>
        </p:txBody>
      </p:sp>
      <p:sp>
        <p:nvSpPr>
          <p:cNvPr id="40" name="Shape 26"/>
          <p:cNvSpPr/>
          <p:nvPr/>
        </p:nvSpPr>
        <p:spPr>
          <a:xfrm>
            <a:off x="4997196" y="5532120"/>
            <a:ext cx="502920" cy="502920"/>
          </a:xfrm>
          <a:prstGeom prst="ellipse">
            <a:avLst/>
          </a:prstGeom>
          <a:solidFill>
            <a:srgbClr val="F1E6D2"/>
          </a:solidFill>
          <a:ln/>
        </p:spPr>
      </p:sp>
      <p:pic>
        <p:nvPicPr>
          <p:cNvPr id="41" name="Image 12" descr="ic_vscode.png"/>
          <p:cNvPicPr>
            <a:picLocks noChangeAspect="1"/>
          </p:cNvPicPr>
          <p:nvPr/>
        </p:nvPicPr>
        <p:blipFill>
          <a:blip r:embed="rId7"/>
          <a:stretch>
            <a:fillRect/>
          </a:stretch>
        </p:blipFill>
        <p:spPr>
          <a:xfrm>
            <a:off x="5110353" y="5645277"/>
            <a:ext cx="276606" cy="276606"/>
          </a:xfrm>
          <a:prstGeom prst="rect">
            <a:avLst/>
          </a:prstGeom>
        </p:spPr>
      </p:pic>
      <p:sp>
        <p:nvSpPr>
          <p:cNvPr id="42" name="Text 27"/>
          <p:cNvSpPr/>
          <p:nvPr/>
        </p:nvSpPr>
        <p:spPr>
          <a:xfrm>
            <a:off x="4562856" y="6080760"/>
            <a:ext cx="1371600" cy="237744"/>
          </a:xfrm>
          <a:prstGeom prst="rect">
            <a:avLst/>
          </a:prstGeom>
          <a:noFill/>
          <a:ln/>
        </p:spPr>
        <p:txBody>
          <a:bodyPr wrap="square" rtlCol="0" anchor="ctr"/>
          <a:lstStyle/>
          <a:p>
            <a:pPr marL="0" indent="0" algn="ctr">
              <a:buNone/>
            </a:pPr>
            <a:r>
              <a:rPr lang="en-US" sz="1050" b="1" dirty="0">
                <a:solidFill>
                  <a:srgbClr val="46594B"/>
                </a:solidFill>
                <a:latin typeface="Calibri" pitchFamily="34" charset="0"/>
                <a:ea typeface="Calibri" pitchFamily="34" charset="-122"/>
                <a:cs typeface="Calibri" pitchFamily="34" charset="-120"/>
              </a:rPr>
              <a:t>VS Code</a:t>
            </a:r>
            <a:endParaRPr lang="en-US" sz="1050" dirty="0"/>
          </a:p>
        </p:txBody>
      </p:sp>
      <p:sp>
        <p:nvSpPr>
          <p:cNvPr id="43" name="Shape 28"/>
          <p:cNvSpPr/>
          <p:nvPr/>
        </p:nvSpPr>
        <p:spPr>
          <a:xfrm>
            <a:off x="6688836" y="5532120"/>
            <a:ext cx="502920" cy="502920"/>
          </a:xfrm>
          <a:prstGeom prst="ellipse">
            <a:avLst/>
          </a:prstGeom>
          <a:solidFill>
            <a:srgbClr val="F1E6D2"/>
          </a:solidFill>
          <a:ln/>
        </p:spPr>
      </p:sp>
      <p:pic>
        <p:nvPicPr>
          <p:cNvPr id="44" name="Image 13" descr="ic_git.png"/>
          <p:cNvPicPr>
            <a:picLocks noChangeAspect="1"/>
          </p:cNvPicPr>
          <p:nvPr/>
        </p:nvPicPr>
        <p:blipFill>
          <a:blip r:embed="rId8"/>
          <a:stretch>
            <a:fillRect/>
          </a:stretch>
        </p:blipFill>
        <p:spPr>
          <a:xfrm>
            <a:off x="6801993" y="5645277"/>
            <a:ext cx="276606" cy="276606"/>
          </a:xfrm>
          <a:prstGeom prst="rect">
            <a:avLst/>
          </a:prstGeom>
        </p:spPr>
      </p:pic>
      <p:sp>
        <p:nvSpPr>
          <p:cNvPr id="45" name="Text 29"/>
          <p:cNvSpPr/>
          <p:nvPr/>
        </p:nvSpPr>
        <p:spPr>
          <a:xfrm>
            <a:off x="6254496" y="6080760"/>
            <a:ext cx="1371600" cy="237744"/>
          </a:xfrm>
          <a:prstGeom prst="rect">
            <a:avLst/>
          </a:prstGeom>
          <a:noFill/>
          <a:ln/>
        </p:spPr>
        <p:txBody>
          <a:bodyPr wrap="square" rtlCol="0" anchor="ctr"/>
          <a:lstStyle/>
          <a:p>
            <a:pPr marL="0" indent="0" algn="ctr">
              <a:buNone/>
            </a:pPr>
            <a:r>
              <a:rPr lang="en-US" sz="1050" b="1" dirty="0">
                <a:solidFill>
                  <a:srgbClr val="46594B"/>
                </a:solidFill>
                <a:latin typeface="Calibri" pitchFamily="34" charset="0"/>
                <a:ea typeface="Calibri" pitchFamily="34" charset="-122"/>
                <a:cs typeface="Calibri" pitchFamily="34" charset="-120"/>
              </a:rPr>
              <a:t>Git</a:t>
            </a:r>
            <a:endParaRPr lang="en-US" sz="1050" dirty="0"/>
          </a:p>
        </p:txBody>
      </p:sp>
      <p:sp>
        <p:nvSpPr>
          <p:cNvPr id="46" name="Shape 30"/>
          <p:cNvSpPr/>
          <p:nvPr/>
        </p:nvSpPr>
        <p:spPr>
          <a:xfrm>
            <a:off x="8380476" y="5532120"/>
            <a:ext cx="502920" cy="502920"/>
          </a:xfrm>
          <a:prstGeom prst="ellipse">
            <a:avLst/>
          </a:prstGeom>
          <a:solidFill>
            <a:srgbClr val="F1E6D2"/>
          </a:solidFill>
          <a:ln/>
        </p:spPr>
      </p:sp>
      <p:pic>
        <p:nvPicPr>
          <p:cNvPr id="47" name="Image 14" descr="ic_github.png"/>
          <p:cNvPicPr>
            <a:picLocks noChangeAspect="1"/>
          </p:cNvPicPr>
          <p:nvPr/>
        </p:nvPicPr>
        <p:blipFill>
          <a:blip r:embed="rId9"/>
          <a:stretch>
            <a:fillRect/>
          </a:stretch>
        </p:blipFill>
        <p:spPr>
          <a:xfrm>
            <a:off x="8493633" y="5645277"/>
            <a:ext cx="276606" cy="276606"/>
          </a:xfrm>
          <a:prstGeom prst="rect">
            <a:avLst/>
          </a:prstGeom>
        </p:spPr>
      </p:pic>
      <p:sp>
        <p:nvSpPr>
          <p:cNvPr id="48" name="Text 31"/>
          <p:cNvSpPr/>
          <p:nvPr/>
        </p:nvSpPr>
        <p:spPr>
          <a:xfrm>
            <a:off x="7946136" y="6080760"/>
            <a:ext cx="1371600" cy="237744"/>
          </a:xfrm>
          <a:prstGeom prst="rect">
            <a:avLst/>
          </a:prstGeom>
          <a:noFill/>
          <a:ln/>
        </p:spPr>
        <p:txBody>
          <a:bodyPr wrap="square" rtlCol="0" anchor="ctr"/>
          <a:lstStyle/>
          <a:p>
            <a:pPr marL="0" indent="0" algn="ctr">
              <a:buNone/>
            </a:pPr>
            <a:r>
              <a:rPr lang="en-US" sz="1050" b="1" dirty="0">
                <a:solidFill>
                  <a:srgbClr val="46594B"/>
                </a:solidFill>
                <a:latin typeface="Calibri" pitchFamily="34" charset="0"/>
                <a:ea typeface="Calibri" pitchFamily="34" charset="-122"/>
                <a:cs typeface="Calibri" pitchFamily="34" charset="-120"/>
              </a:rPr>
              <a:t>GitHub</a:t>
            </a:r>
            <a:endParaRPr lang="en-US" sz="1050" dirty="0"/>
          </a:p>
        </p:txBody>
      </p:sp>
      <p:sp>
        <p:nvSpPr>
          <p:cNvPr id="49" name="Text 32"/>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7A7267"/>
                </a:solidFill>
                <a:latin typeface="Calibri" pitchFamily="34" charset="0"/>
                <a:ea typeface="Calibri" pitchFamily="34" charset="-122"/>
                <a:cs typeface="Calibri" pitchFamily="34" charset="-120"/>
              </a:rPr>
              <a:t>Recipe Finder</a:t>
            </a:r>
            <a:endParaRPr lang="en-US" sz="900" dirty="0"/>
          </a:p>
        </p:txBody>
      </p:sp>
      <p:sp>
        <p:nvSpPr>
          <p:cNvPr id="50" name="Text 33"/>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7A7267"/>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rtlCol="0" anchor="ctr"/>
          <a:lstStyle/>
          <a:p>
            <a:pPr marL="0" indent="0">
              <a:buNone/>
            </a:pPr>
            <a:r>
              <a:rPr lang="en-US" sz="3400" b="1" dirty="0">
                <a:solidFill>
                  <a:srgbClr val="46594B"/>
                </a:solidFill>
                <a:latin typeface="Poppins" pitchFamily="34" charset="0"/>
                <a:ea typeface="Poppins" pitchFamily="34" charset="-122"/>
                <a:cs typeface="Poppins" pitchFamily="34" charset="-120"/>
              </a:rPr>
              <a:t>Expected Outcome</a:t>
            </a:r>
            <a:endParaRPr lang="en-US" sz="3400" dirty="0"/>
          </a:p>
        </p:txBody>
      </p:sp>
      <p:sp>
        <p:nvSpPr>
          <p:cNvPr id="3" name="Shape 1"/>
          <p:cNvSpPr/>
          <p:nvPr/>
        </p:nvSpPr>
        <p:spPr>
          <a:xfrm>
            <a:off x="566928" y="1051560"/>
            <a:ext cx="822960" cy="54864"/>
          </a:xfrm>
          <a:prstGeom prst="rect">
            <a:avLst/>
          </a:prstGeom>
          <a:solidFill>
            <a:srgbClr val="9C7A3C"/>
          </a:solidFill>
          <a:ln/>
        </p:spPr>
      </p:sp>
      <p:sp>
        <p:nvSpPr>
          <p:cNvPr id="4" name="Shape 2"/>
          <p:cNvSpPr/>
          <p:nvPr/>
        </p:nvSpPr>
        <p:spPr>
          <a:xfrm>
            <a:off x="548640" y="1463040"/>
            <a:ext cx="457200" cy="457200"/>
          </a:xfrm>
          <a:prstGeom prst="ellipse">
            <a:avLst/>
          </a:prstGeom>
          <a:solidFill>
            <a:srgbClr val="ECEFEA"/>
          </a:solidFill>
          <a:ln/>
        </p:spPr>
      </p:sp>
      <p:pic>
        <p:nvPicPr>
          <p:cNvPr id="5" name="Image 0" descr="ic_check_green.png"/>
          <p:cNvPicPr>
            <a:picLocks noChangeAspect="1"/>
          </p:cNvPicPr>
          <p:nvPr/>
        </p:nvPicPr>
        <p:blipFill>
          <a:blip r:embed="rId3"/>
          <a:stretch>
            <a:fillRect/>
          </a:stretch>
        </p:blipFill>
        <p:spPr>
          <a:xfrm>
            <a:off x="651510" y="1565910"/>
            <a:ext cx="251460" cy="251460"/>
          </a:xfrm>
          <a:prstGeom prst="rect">
            <a:avLst/>
          </a:prstGeom>
        </p:spPr>
      </p:pic>
      <p:sp>
        <p:nvSpPr>
          <p:cNvPr id="6" name="Text 3"/>
          <p:cNvSpPr/>
          <p:nvPr/>
        </p:nvSpPr>
        <p:spPr>
          <a:xfrm>
            <a:off x="1188720" y="1463040"/>
            <a:ext cx="5577840" cy="457200"/>
          </a:xfrm>
          <a:prstGeom prst="rect">
            <a:avLst/>
          </a:prstGeom>
          <a:noFill/>
          <a:ln/>
        </p:spPr>
        <p:txBody>
          <a:bodyPr wrap="square" rtlCol="0" anchor="ctr"/>
          <a:lstStyle/>
          <a:p>
            <a:pPr marL="0" indent="0">
              <a:lnSpc>
                <a:spcPct val="100000"/>
              </a:lnSpc>
              <a:buNone/>
            </a:pPr>
            <a:r>
              <a:rPr lang="en-US" sz="1250" dirty="0">
                <a:solidFill>
                  <a:srgbClr val="332A20"/>
                </a:solidFill>
                <a:latin typeface="Calibri" pitchFamily="34" charset="0"/>
                <a:ea typeface="Calibri" pitchFamily="34" charset="-122"/>
                <a:cs typeface="Calibri" pitchFamily="34" charset="-120"/>
              </a:rPr>
              <a:t>Enable users to search recipes using ingredients and keywords</a:t>
            </a:r>
            <a:endParaRPr lang="en-US" sz="1250" dirty="0"/>
          </a:p>
        </p:txBody>
      </p:sp>
      <p:sp>
        <p:nvSpPr>
          <p:cNvPr id="7" name="Shape 4"/>
          <p:cNvSpPr/>
          <p:nvPr/>
        </p:nvSpPr>
        <p:spPr>
          <a:xfrm>
            <a:off x="548640" y="2084832"/>
            <a:ext cx="457200" cy="457200"/>
          </a:xfrm>
          <a:prstGeom prst="ellipse">
            <a:avLst/>
          </a:prstGeom>
          <a:solidFill>
            <a:srgbClr val="F1E6D2"/>
          </a:solidFill>
          <a:ln/>
        </p:spPr>
      </p:sp>
      <p:pic>
        <p:nvPicPr>
          <p:cNvPr id="8" name="Image 1" descr="ic_check_green.png"/>
          <p:cNvPicPr>
            <a:picLocks noChangeAspect="1"/>
          </p:cNvPicPr>
          <p:nvPr/>
        </p:nvPicPr>
        <p:blipFill>
          <a:blip r:embed="rId3"/>
          <a:stretch>
            <a:fillRect/>
          </a:stretch>
        </p:blipFill>
        <p:spPr>
          <a:xfrm>
            <a:off x="651510" y="2187702"/>
            <a:ext cx="251460" cy="251460"/>
          </a:xfrm>
          <a:prstGeom prst="rect">
            <a:avLst/>
          </a:prstGeom>
        </p:spPr>
      </p:pic>
      <p:sp>
        <p:nvSpPr>
          <p:cNvPr id="9" name="Text 5"/>
          <p:cNvSpPr/>
          <p:nvPr/>
        </p:nvSpPr>
        <p:spPr>
          <a:xfrm>
            <a:off x="1188720" y="2084832"/>
            <a:ext cx="5577840" cy="457200"/>
          </a:xfrm>
          <a:prstGeom prst="rect">
            <a:avLst/>
          </a:prstGeom>
          <a:noFill/>
          <a:ln/>
        </p:spPr>
        <p:txBody>
          <a:bodyPr wrap="square" rtlCol="0" anchor="ctr"/>
          <a:lstStyle/>
          <a:p>
            <a:pPr marL="0" indent="0">
              <a:lnSpc>
                <a:spcPct val="100000"/>
              </a:lnSpc>
              <a:buNone/>
            </a:pPr>
            <a:r>
              <a:rPr lang="en-US" sz="1250" dirty="0">
                <a:solidFill>
                  <a:srgbClr val="332A20"/>
                </a:solidFill>
                <a:latin typeface="Calibri" pitchFamily="34" charset="0"/>
                <a:ea typeface="Calibri" pitchFamily="34" charset="-122"/>
                <a:cs typeface="Calibri" pitchFamily="34" charset="-120"/>
              </a:rPr>
              <a:t>Display accurate and relevant recipe recommendations</a:t>
            </a:r>
            <a:endParaRPr lang="en-US" sz="1250" dirty="0"/>
          </a:p>
        </p:txBody>
      </p:sp>
      <p:sp>
        <p:nvSpPr>
          <p:cNvPr id="10" name="Shape 6"/>
          <p:cNvSpPr/>
          <p:nvPr/>
        </p:nvSpPr>
        <p:spPr>
          <a:xfrm>
            <a:off x="548640" y="2706624"/>
            <a:ext cx="457200" cy="457200"/>
          </a:xfrm>
          <a:prstGeom prst="ellipse">
            <a:avLst/>
          </a:prstGeom>
          <a:solidFill>
            <a:srgbClr val="ECEFEA"/>
          </a:solidFill>
          <a:ln/>
        </p:spPr>
      </p:sp>
      <p:pic>
        <p:nvPicPr>
          <p:cNvPr id="11" name="Image 2" descr="ic_check_green.png"/>
          <p:cNvPicPr>
            <a:picLocks noChangeAspect="1"/>
          </p:cNvPicPr>
          <p:nvPr/>
        </p:nvPicPr>
        <p:blipFill>
          <a:blip r:embed="rId3"/>
          <a:stretch>
            <a:fillRect/>
          </a:stretch>
        </p:blipFill>
        <p:spPr>
          <a:xfrm>
            <a:off x="651510" y="2809494"/>
            <a:ext cx="251460" cy="251460"/>
          </a:xfrm>
          <a:prstGeom prst="rect">
            <a:avLst/>
          </a:prstGeom>
        </p:spPr>
      </p:pic>
      <p:sp>
        <p:nvSpPr>
          <p:cNvPr id="12" name="Text 7"/>
          <p:cNvSpPr/>
          <p:nvPr/>
        </p:nvSpPr>
        <p:spPr>
          <a:xfrm>
            <a:off x="1188720" y="2706624"/>
            <a:ext cx="5577840" cy="457200"/>
          </a:xfrm>
          <a:prstGeom prst="rect">
            <a:avLst/>
          </a:prstGeom>
          <a:noFill/>
          <a:ln/>
        </p:spPr>
        <p:txBody>
          <a:bodyPr wrap="square" rtlCol="0" anchor="ctr"/>
          <a:lstStyle/>
          <a:p>
            <a:pPr marL="0" indent="0">
              <a:lnSpc>
                <a:spcPct val="100000"/>
              </a:lnSpc>
              <a:buNone/>
            </a:pPr>
            <a:r>
              <a:rPr lang="en-US" sz="1250" dirty="0">
                <a:solidFill>
                  <a:srgbClr val="332A20"/>
                </a:solidFill>
                <a:latin typeface="Calibri" pitchFamily="34" charset="0"/>
                <a:ea typeface="Calibri" pitchFamily="34" charset="-122"/>
                <a:cs typeface="Calibri" pitchFamily="34" charset="-120"/>
              </a:rPr>
              <a:t>Provide complete recipe information: ingredients, instructions, prep &amp; cook time</a:t>
            </a:r>
            <a:endParaRPr lang="en-US" sz="1250" dirty="0"/>
          </a:p>
        </p:txBody>
      </p:sp>
      <p:sp>
        <p:nvSpPr>
          <p:cNvPr id="13" name="Shape 8"/>
          <p:cNvSpPr/>
          <p:nvPr/>
        </p:nvSpPr>
        <p:spPr>
          <a:xfrm>
            <a:off x="548640" y="3328416"/>
            <a:ext cx="457200" cy="457200"/>
          </a:xfrm>
          <a:prstGeom prst="ellipse">
            <a:avLst/>
          </a:prstGeom>
          <a:solidFill>
            <a:srgbClr val="F1E6D2"/>
          </a:solidFill>
          <a:ln/>
        </p:spPr>
      </p:sp>
      <p:pic>
        <p:nvPicPr>
          <p:cNvPr id="14" name="Image 3" descr="ic_check_green.png"/>
          <p:cNvPicPr>
            <a:picLocks noChangeAspect="1"/>
          </p:cNvPicPr>
          <p:nvPr/>
        </p:nvPicPr>
        <p:blipFill>
          <a:blip r:embed="rId3"/>
          <a:stretch>
            <a:fillRect/>
          </a:stretch>
        </p:blipFill>
        <p:spPr>
          <a:xfrm>
            <a:off x="651510" y="3431286"/>
            <a:ext cx="251460" cy="251460"/>
          </a:xfrm>
          <a:prstGeom prst="rect">
            <a:avLst/>
          </a:prstGeom>
        </p:spPr>
      </p:pic>
      <p:sp>
        <p:nvSpPr>
          <p:cNvPr id="15" name="Text 9"/>
          <p:cNvSpPr/>
          <p:nvPr/>
        </p:nvSpPr>
        <p:spPr>
          <a:xfrm>
            <a:off x="1188720" y="3328416"/>
            <a:ext cx="5577840" cy="457200"/>
          </a:xfrm>
          <a:prstGeom prst="rect">
            <a:avLst/>
          </a:prstGeom>
          <a:noFill/>
          <a:ln/>
        </p:spPr>
        <p:txBody>
          <a:bodyPr wrap="square" rtlCol="0" anchor="ctr"/>
          <a:lstStyle/>
          <a:p>
            <a:pPr marL="0" indent="0">
              <a:lnSpc>
                <a:spcPct val="100000"/>
              </a:lnSpc>
              <a:buNone/>
            </a:pPr>
            <a:r>
              <a:rPr lang="en-US" sz="1250" dirty="0">
                <a:solidFill>
                  <a:srgbClr val="332A20"/>
                </a:solidFill>
                <a:latin typeface="Calibri" pitchFamily="34" charset="0"/>
                <a:ea typeface="Calibri" pitchFamily="34" charset="-122"/>
                <a:cs typeface="Calibri" pitchFamily="34" charset="-120"/>
              </a:rPr>
              <a:t>Reduce the time required to discover suitable recipes</a:t>
            </a:r>
            <a:endParaRPr lang="en-US" sz="1250" dirty="0"/>
          </a:p>
        </p:txBody>
      </p:sp>
      <p:sp>
        <p:nvSpPr>
          <p:cNvPr id="16" name="Shape 10"/>
          <p:cNvSpPr/>
          <p:nvPr/>
        </p:nvSpPr>
        <p:spPr>
          <a:xfrm>
            <a:off x="548640" y="3950208"/>
            <a:ext cx="457200" cy="457200"/>
          </a:xfrm>
          <a:prstGeom prst="ellipse">
            <a:avLst/>
          </a:prstGeom>
          <a:solidFill>
            <a:srgbClr val="ECEFEA"/>
          </a:solidFill>
          <a:ln/>
        </p:spPr>
      </p:sp>
      <p:pic>
        <p:nvPicPr>
          <p:cNvPr id="17" name="Image 4" descr="ic_check_green.png"/>
          <p:cNvPicPr>
            <a:picLocks noChangeAspect="1"/>
          </p:cNvPicPr>
          <p:nvPr/>
        </p:nvPicPr>
        <p:blipFill>
          <a:blip r:embed="rId3"/>
          <a:stretch>
            <a:fillRect/>
          </a:stretch>
        </p:blipFill>
        <p:spPr>
          <a:xfrm>
            <a:off x="651510" y="4053078"/>
            <a:ext cx="251460" cy="251460"/>
          </a:xfrm>
          <a:prstGeom prst="rect">
            <a:avLst/>
          </a:prstGeom>
        </p:spPr>
      </p:pic>
      <p:sp>
        <p:nvSpPr>
          <p:cNvPr id="18" name="Text 11"/>
          <p:cNvSpPr/>
          <p:nvPr/>
        </p:nvSpPr>
        <p:spPr>
          <a:xfrm>
            <a:off x="1188720" y="3950208"/>
            <a:ext cx="5577840" cy="457200"/>
          </a:xfrm>
          <a:prstGeom prst="rect">
            <a:avLst/>
          </a:prstGeom>
          <a:noFill/>
          <a:ln/>
        </p:spPr>
        <p:txBody>
          <a:bodyPr wrap="square" rtlCol="0" anchor="ctr"/>
          <a:lstStyle/>
          <a:p>
            <a:pPr marL="0" indent="0">
              <a:lnSpc>
                <a:spcPct val="100000"/>
              </a:lnSpc>
              <a:buNone/>
            </a:pPr>
            <a:r>
              <a:rPr lang="en-US" sz="1250" dirty="0">
                <a:solidFill>
                  <a:srgbClr val="332A20"/>
                </a:solidFill>
                <a:latin typeface="Calibri" pitchFamily="34" charset="0"/>
                <a:ea typeface="Calibri" pitchFamily="34" charset="-122"/>
                <a:cs typeface="Calibri" pitchFamily="34" charset="-120"/>
              </a:rPr>
              <a:t>Help users utilize available ingredients effectively and reduce food waste</a:t>
            </a:r>
            <a:endParaRPr lang="en-US" sz="1250" dirty="0"/>
          </a:p>
        </p:txBody>
      </p:sp>
      <p:sp>
        <p:nvSpPr>
          <p:cNvPr id="19" name="Shape 12"/>
          <p:cNvSpPr/>
          <p:nvPr/>
        </p:nvSpPr>
        <p:spPr>
          <a:xfrm>
            <a:off x="548640" y="4572000"/>
            <a:ext cx="457200" cy="457200"/>
          </a:xfrm>
          <a:prstGeom prst="ellipse">
            <a:avLst/>
          </a:prstGeom>
          <a:solidFill>
            <a:srgbClr val="F1E6D2"/>
          </a:solidFill>
          <a:ln/>
        </p:spPr>
      </p:sp>
      <p:pic>
        <p:nvPicPr>
          <p:cNvPr id="20" name="Image 5" descr="ic_check_green.png"/>
          <p:cNvPicPr>
            <a:picLocks noChangeAspect="1"/>
          </p:cNvPicPr>
          <p:nvPr/>
        </p:nvPicPr>
        <p:blipFill>
          <a:blip r:embed="rId3"/>
          <a:stretch>
            <a:fillRect/>
          </a:stretch>
        </p:blipFill>
        <p:spPr>
          <a:xfrm>
            <a:off x="651510" y="4674870"/>
            <a:ext cx="251460" cy="251460"/>
          </a:xfrm>
          <a:prstGeom prst="rect">
            <a:avLst/>
          </a:prstGeom>
        </p:spPr>
      </p:pic>
      <p:sp>
        <p:nvSpPr>
          <p:cNvPr id="21" name="Text 13"/>
          <p:cNvSpPr/>
          <p:nvPr/>
        </p:nvSpPr>
        <p:spPr>
          <a:xfrm>
            <a:off x="1188720" y="4572000"/>
            <a:ext cx="5577840" cy="457200"/>
          </a:xfrm>
          <a:prstGeom prst="rect">
            <a:avLst/>
          </a:prstGeom>
          <a:noFill/>
          <a:ln/>
        </p:spPr>
        <p:txBody>
          <a:bodyPr wrap="square" rtlCol="0" anchor="ctr"/>
          <a:lstStyle/>
          <a:p>
            <a:pPr marL="0" indent="0">
              <a:lnSpc>
                <a:spcPct val="100000"/>
              </a:lnSpc>
              <a:buNone/>
            </a:pPr>
            <a:r>
              <a:rPr lang="en-US" sz="1250" dirty="0">
                <a:solidFill>
                  <a:srgbClr val="332A20"/>
                </a:solidFill>
                <a:latin typeface="Calibri" pitchFamily="34" charset="0"/>
                <a:ea typeface="Calibri" pitchFamily="34" charset="-122"/>
                <a:cs typeface="Calibri" pitchFamily="34" charset="-120"/>
              </a:rPr>
              <a:t>Demonstrate the practical implementation of String Algorithms in Java</a:t>
            </a:r>
            <a:endParaRPr lang="en-US" sz="1250" dirty="0"/>
          </a:p>
        </p:txBody>
      </p:sp>
      <p:sp>
        <p:nvSpPr>
          <p:cNvPr id="22" name="Shape 14"/>
          <p:cNvSpPr/>
          <p:nvPr/>
        </p:nvSpPr>
        <p:spPr>
          <a:xfrm>
            <a:off x="548640" y="5193792"/>
            <a:ext cx="457200" cy="457200"/>
          </a:xfrm>
          <a:prstGeom prst="ellipse">
            <a:avLst/>
          </a:prstGeom>
          <a:solidFill>
            <a:srgbClr val="ECEFEA"/>
          </a:solidFill>
          <a:ln/>
        </p:spPr>
      </p:sp>
      <p:pic>
        <p:nvPicPr>
          <p:cNvPr id="23" name="Image 6" descr="ic_check_green.png"/>
          <p:cNvPicPr>
            <a:picLocks noChangeAspect="1"/>
          </p:cNvPicPr>
          <p:nvPr/>
        </p:nvPicPr>
        <p:blipFill>
          <a:blip r:embed="rId3"/>
          <a:stretch>
            <a:fillRect/>
          </a:stretch>
        </p:blipFill>
        <p:spPr>
          <a:xfrm>
            <a:off x="651510" y="5296662"/>
            <a:ext cx="251460" cy="251460"/>
          </a:xfrm>
          <a:prstGeom prst="rect">
            <a:avLst/>
          </a:prstGeom>
        </p:spPr>
      </p:pic>
      <p:sp>
        <p:nvSpPr>
          <p:cNvPr id="24" name="Text 15"/>
          <p:cNvSpPr/>
          <p:nvPr/>
        </p:nvSpPr>
        <p:spPr>
          <a:xfrm>
            <a:off x="1188720" y="5193792"/>
            <a:ext cx="5577840" cy="457200"/>
          </a:xfrm>
          <a:prstGeom prst="rect">
            <a:avLst/>
          </a:prstGeom>
          <a:noFill/>
          <a:ln/>
        </p:spPr>
        <p:txBody>
          <a:bodyPr wrap="square" rtlCol="0" anchor="ctr"/>
          <a:lstStyle/>
          <a:p>
            <a:pPr marL="0" indent="0">
              <a:lnSpc>
                <a:spcPct val="100000"/>
              </a:lnSpc>
              <a:buNone/>
            </a:pPr>
            <a:r>
              <a:rPr lang="en-US" sz="1250" dirty="0">
                <a:solidFill>
                  <a:srgbClr val="332A20"/>
                </a:solidFill>
                <a:latin typeface="Calibri" pitchFamily="34" charset="0"/>
                <a:ea typeface="Calibri" pitchFamily="34" charset="-122"/>
                <a:cs typeface="Calibri" pitchFamily="34" charset="-120"/>
              </a:rPr>
              <a:t>Provide a simple, user-friendly, and efficient recipe search system</a:t>
            </a:r>
            <a:endParaRPr lang="en-US" sz="1250" dirty="0"/>
          </a:p>
        </p:txBody>
      </p:sp>
      <p:sp>
        <p:nvSpPr>
          <p:cNvPr id="25" name="Shape 16"/>
          <p:cNvSpPr/>
          <p:nvPr/>
        </p:nvSpPr>
        <p:spPr>
          <a:xfrm>
            <a:off x="7407985" y="1605579"/>
            <a:ext cx="4206240" cy="4846320"/>
          </a:xfrm>
          <a:prstGeom prst="roundRect">
            <a:avLst>
              <a:gd name="adj" fmla="val 2609"/>
            </a:avLst>
          </a:prstGeom>
          <a:solidFill>
            <a:srgbClr val="46594B"/>
          </a:solidFill>
          <a:ln/>
        </p:spPr>
      </p:sp>
      <p:sp>
        <p:nvSpPr>
          <p:cNvPr id="26" name="Shape 17"/>
          <p:cNvSpPr/>
          <p:nvPr/>
        </p:nvSpPr>
        <p:spPr>
          <a:xfrm>
            <a:off x="9005944" y="1757038"/>
            <a:ext cx="822960" cy="822960"/>
          </a:xfrm>
          <a:prstGeom prst="ellipse">
            <a:avLst/>
          </a:prstGeom>
          <a:solidFill>
            <a:srgbClr val="39473D"/>
          </a:solidFill>
          <a:ln/>
        </p:spPr>
      </p:sp>
      <p:pic>
        <p:nvPicPr>
          <p:cNvPr id="27" name="Image 7" descr="ic_search_orange.png"/>
          <p:cNvPicPr>
            <a:picLocks noChangeAspect="1"/>
          </p:cNvPicPr>
          <p:nvPr/>
        </p:nvPicPr>
        <p:blipFill>
          <a:blip r:embed="rId4"/>
          <a:stretch>
            <a:fillRect/>
          </a:stretch>
        </p:blipFill>
        <p:spPr>
          <a:xfrm>
            <a:off x="9211684" y="2043281"/>
            <a:ext cx="411480" cy="411480"/>
          </a:xfrm>
          <a:prstGeom prst="rect">
            <a:avLst/>
          </a:prstGeom>
        </p:spPr>
      </p:pic>
      <p:sp>
        <p:nvSpPr>
          <p:cNvPr id="28" name="Text 18"/>
          <p:cNvSpPr/>
          <p:nvPr/>
        </p:nvSpPr>
        <p:spPr>
          <a:xfrm>
            <a:off x="7635240" y="2526030"/>
            <a:ext cx="374904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Search</a:t>
            </a:r>
            <a:endParaRPr lang="en-US" sz="1300" dirty="0"/>
          </a:p>
        </p:txBody>
      </p:sp>
      <p:pic>
        <p:nvPicPr>
          <p:cNvPr id="29" name="Image 8" descr="ic_arrowdown_orange.png"/>
          <p:cNvPicPr>
            <a:picLocks noChangeAspect="1"/>
          </p:cNvPicPr>
          <p:nvPr/>
        </p:nvPicPr>
        <p:blipFill>
          <a:blip r:embed="rId5"/>
          <a:stretch>
            <a:fillRect/>
          </a:stretch>
        </p:blipFill>
        <p:spPr>
          <a:xfrm>
            <a:off x="9354312" y="3035808"/>
            <a:ext cx="219456" cy="219456"/>
          </a:xfrm>
          <a:prstGeom prst="rect">
            <a:avLst/>
          </a:prstGeom>
        </p:spPr>
      </p:pic>
      <p:sp>
        <p:nvSpPr>
          <p:cNvPr id="30" name="Shape 19"/>
          <p:cNvSpPr/>
          <p:nvPr/>
        </p:nvSpPr>
        <p:spPr>
          <a:xfrm>
            <a:off x="9005944" y="2827782"/>
            <a:ext cx="822960" cy="822960"/>
          </a:xfrm>
          <a:prstGeom prst="ellipse">
            <a:avLst/>
          </a:prstGeom>
          <a:solidFill>
            <a:srgbClr val="39473D"/>
          </a:solidFill>
          <a:ln/>
        </p:spPr>
      </p:sp>
      <p:pic>
        <p:nvPicPr>
          <p:cNvPr id="31" name="Image 9" descr="ic_book_white.png"/>
          <p:cNvPicPr>
            <a:picLocks noChangeAspect="1"/>
          </p:cNvPicPr>
          <p:nvPr/>
        </p:nvPicPr>
        <p:blipFill>
          <a:blip r:embed="rId6"/>
          <a:stretch>
            <a:fillRect/>
          </a:stretch>
        </p:blipFill>
        <p:spPr>
          <a:xfrm>
            <a:off x="9258300" y="3028950"/>
            <a:ext cx="411480" cy="411480"/>
          </a:xfrm>
          <a:prstGeom prst="rect">
            <a:avLst/>
          </a:prstGeom>
        </p:spPr>
      </p:pic>
      <p:sp>
        <p:nvSpPr>
          <p:cNvPr id="32" name="Text 20"/>
          <p:cNvSpPr/>
          <p:nvPr/>
        </p:nvSpPr>
        <p:spPr>
          <a:xfrm>
            <a:off x="7589520" y="3643032"/>
            <a:ext cx="374904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Recipes</a:t>
            </a:r>
            <a:endParaRPr lang="en-US" sz="1300" dirty="0"/>
          </a:p>
        </p:txBody>
      </p:sp>
      <p:pic>
        <p:nvPicPr>
          <p:cNvPr id="33" name="Image 10" descr="ic_arrowdown_orange.png"/>
          <p:cNvPicPr>
            <a:picLocks noChangeAspect="1"/>
          </p:cNvPicPr>
          <p:nvPr/>
        </p:nvPicPr>
        <p:blipFill>
          <a:blip r:embed="rId5"/>
          <a:stretch>
            <a:fillRect/>
          </a:stretch>
        </p:blipFill>
        <p:spPr>
          <a:xfrm>
            <a:off x="9354312" y="4087368"/>
            <a:ext cx="219456" cy="219456"/>
          </a:xfrm>
          <a:prstGeom prst="rect">
            <a:avLst/>
          </a:prstGeom>
        </p:spPr>
      </p:pic>
      <p:sp>
        <p:nvSpPr>
          <p:cNvPr id="34" name="Shape 21"/>
          <p:cNvSpPr/>
          <p:nvPr/>
        </p:nvSpPr>
        <p:spPr>
          <a:xfrm>
            <a:off x="9052560" y="3931920"/>
            <a:ext cx="822960" cy="822960"/>
          </a:xfrm>
          <a:prstGeom prst="ellipse">
            <a:avLst/>
          </a:prstGeom>
          <a:solidFill>
            <a:srgbClr val="39473D"/>
          </a:solidFill>
          <a:ln/>
        </p:spPr>
      </p:sp>
      <p:pic>
        <p:nvPicPr>
          <p:cNvPr id="35" name="Image 11" descr="ic_chef_green.png"/>
          <p:cNvPicPr>
            <a:picLocks noChangeAspect="1"/>
          </p:cNvPicPr>
          <p:nvPr/>
        </p:nvPicPr>
        <p:blipFill>
          <a:blip r:embed="rId7"/>
          <a:stretch>
            <a:fillRect/>
          </a:stretch>
        </p:blipFill>
        <p:spPr>
          <a:xfrm>
            <a:off x="9258300" y="4137660"/>
            <a:ext cx="411480" cy="411480"/>
          </a:xfrm>
          <a:prstGeom prst="rect">
            <a:avLst/>
          </a:prstGeom>
        </p:spPr>
      </p:pic>
      <p:sp>
        <p:nvSpPr>
          <p:cNvPr id="36" name="Text 22"/>
          <p:cNvSpPr/>
          <p:nvPr/>
        </p:nvSpPr>
        <p:spPr>
          <a:xfrm>
            <a:off x="7635240" y="4730228"/>
            <a:ext cx="374904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Cooking</a:t>
            </a:r>
            <a:endParaRPr lang="en-US" sz="1300" dirty="0"/>
          </a:p>
        </p:txBody>
      </p:sp>
      <p:pic>
        <p:nvPicPr>
          <p:cNvPr id="37" name="Image 12" descr="ic_arrowdown_orange.png"/>
          <p:cNvPicPr>
            <a:picLocks noChangeAspect="1"/>
          </p:cNvPicPr>
          <p:nvPr/>
        </p:nvPicPr>
        <p:blipFill>
          <a:blip r:embed="rId5"/>
          <a:stretch>
            <a:fillRect/>
          </a:stretch>
        </p:blipFill>
        <p:spPr>
          <a:xfrm>
            <a:off x="9354312" y="5138928"/>
            <a:ext cx="219456" cy="219456"/>
          </a:xfrm>
          <a:prstGeom prst="rect">
            <a:avLst/>
          </a:prstGeom>
        </p:spPr>
      </p:pic>
      <p:sp>
        <p:nvSpPr>
          <p:cNvPr id="38" name="Shape 23"/>
          <p:cNvSpPr/>
          <p:nvPr/>
        </p:nvSpPr>
        <p:spPr>
          <a:xfrm>
            <a:off x="9052560" y="4983480"/>
            <a:ext cx="822960" cy="822960"/>
          </a:xfrm>
          <a:prstGeom prst="ellipse">
            <a:avLst/>
          </a:prstGeom>
          <a:solidFill>
            <a:srgbClr val="39473D"/>
          </a:solidFill>
          <a:ln/>
        </p:spPr>
      </p:sp>
      <p:pic>
        <p:nvPicPr>
          <p:cNvPr id="39" name="Image 13" descr="ic_smile_orange.png"/>
          <p:cNvPicPr>
            <a:picLocks noChangeAspect="1"/>
          </p:cNvPicPr>
          <p:nvPr/>
        </p:nvPicPr>
        <p:blipFill>
          <a:blip r:embed="rId8"/>
          <a:stretch>
            <a:fillRect/>
          </a:stretch>
        </p:blipFill>
        <p:spPr>
          <a:xfrm>
            <a:off x="9258300" y="5189220"/>
            <a:ext cx="411480" cy="411480"/>
          </a:xfrm>
          <a:prstGeom prst="rect">
            <a:avLst/>
          </a:prstGeom>
        </p:spPr>
      </p:pic>
      <p:sp>
        <p:nvSpPr>
          <p:cNvPr id="40" name="Text 24"/>
          <p:cNvSpPr/>
          <p:nvPr/>
        </p:nvSpPr>
        <p:spPr>
          <a:xfrm>
            <a:off x="7635240" y="5852160"/>
            <a:ext cx="374904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Happy User</a:t>
            </a:r>
            <a:endParaRPr lang="en-US" sz="1300" dirty="0"/>
          </a:p>
        </p:txBody>
      </p:sp>
      <p:sp>
        <p:nvSpPr>
          <p:cNvPr id="41" name="Text 25"/>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7A7267"/>
                </a:solidFill>
                <a:latin typeface="Calibri" pitchFamily="34" charset="0"/>
                <a:ea typeface="Calibri" pitchFamily="34" charset="-122"/>
                <a:cs typeface="Calibri" pitchFamily="34" charset="-120"/>
              </a:rPr>
              <a:t>Recipe Finder</a:t>
            </a:r>
            <a:endParaRPr lang="en-US" sz="900" dirty="0"/>
          </a:p>
        </p:txBody>
      </p:sp>
      <p:sp>
        <p:nvSpPr>
          <p:cNvPr id="42" name="Text 26"/>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7A7267"/>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thankyou_photo.jpg"/>
          <p:cNvPicPr>
            <a:picLocks noChangeAspect="1"/>
          </p:cNvPicPr>
          <p:nvPr/>
        </p:nvPicPr>
        <p:blipFill>
          <a:blip r:embed="rId3"/>
          <a:srcRect/>
          <a:stretch/>
        </p:blipFill>
        <p:spPr>
          <a:xfrm>
            <a:off x="0" y="0"/>
            <a:ext cx="12188952" cy="6858000"/>
          </a:xfrm>
          <a:prstGeom prst="rect">
            <a:avLst/>
          </a:prstGeom>
        </p:spPr>
      </p:pic>
      <p:sp>
        <p:nvSpPr>
          <p:cNvPr id="3" name="Shape 0"/>
          <p:cNvSpPr/>
          <p:nvPr/>
        </p:nvSpPr>
        <p:spPr>
          <a:xfrm>
            <a:off x="0" y="0"/>
            <a:ext cx="12188952" cy="6858000"/>
          </a:xfrm>
          <a:prstGeom prst="rect">
            <a:avLst/>
          </a:prstGeom>
          <a:solidFill>
            <a:srgbClr val="1C160F">
              <a:alpha val="62000"/>
            </a:srgbClr>
          </a:solidFill>
          <a:ln/>
        </p:spPr>
      </p:sp>
      <p:sp>
        <p:nvSpPr>
          <p:cNvPr id="4" name="Shape 1"/>
          <p:cNvSpPr/>
          <p:nvPr/>
        </p:nvSpPr>
        <p:spPr>
          <a:xfrm>
            <a:off x="0" y="1920240"/>
            <a:ext cx="12188952" cy="3017520"/>
          </a:xfrm>
          <a:prstGeom prst="rect">
            <a:avLst/>
          </a:prstGeom>
          <a:solidFill>
            <a:srgbClr val="000000">
              <a:alpha val="65000"/>
            </a:srgbClr>
          </a:solidFill>
          <a:ln/>
        </p:spPr>
      </p:sp>
      <p:sp>
        <p:nvSpPr>
          <p:cNvPr id="5" name="Text 2"/>
          <p:cNvSpPr/>
          <p:nvPr/>
        </p:nvSpPr>
        <p:spPr>
          <a:xfrm>
            <a:off x="548640" y="292608"/>
            <a:ext cx="3657600" cy="365760"/>
          </a:xfrm>
          <a:prstGeom prst="rect">
            <a:avLst/>
          </a:prstGeom>
          <a:noFill/>
          <a:ln/>
        </p:spPr>
        <p:txBody>
          <a:bodyPr wrap="square" rtlCol="0" anchor="ctr"/>
          <a:lstStyle/>
          <a:p>
            <a:pPr marL="0" indent="0">
              <a:buNone/>
            </a:pPr>
            <a:r>
              <a:rPr lang="en-US" sz="1500" b="1" kern="0" spc="150" dirty="0">
                <a:solidFill>
                  <a:srgbClr val="FFFFFF"/>
                </a:solidFill>
                <a:latin typeface="Poppins" pitchFamily="34" charset="0"/>
                <a:ea typeface="Poppins" pitchFamily="34" charset="-122"/>
                <a:cs typeface="Poppins" pitchFamily="34" charset="-120"/>
              </a:rPr>
              <a:t>RECIPE FINDER</a:t>
            </a:r>
            <a:endParaRPr lang="en-US" sz="1500" dirty="0"/>
          </a:p>
        </p:txBody>
      </p:sp>
      <p:sp>
        <p:nvSpPr>
          <p:cNvPr id="6" name="Shape 3"/>
          <p:cNvSpPr/>
          <p:nvPr/>
        </p:nvSpPr>
        <p:spPr>
          <a:xfrm>
            <a:off x="548640" y="777240"/>
            <a:ext cx="11091672" cy="0"/>
          </a:xfrm>
          <a:prstGeom prst="line">
            <a:avLst/>
          </a:prstGeom>
          <a:noFill/>
          <a:ln w="9525">
            <a:solidFill>
              <a:srgbClr val="FFFFFF">
                <a:alpha val="40000"/>
              </a:srgbClr>
            </a:solidFill>
            <a:prstDash val="solid"/>
          </a:ln>
        </p:spPr>
      </p:sp>
      <p:sp>
        <p:nvSpPr>
          <p:cNvPr id="7" name="Text 4"/>
          <p:cNvSpPr/>
          <p:nvPr/>
        </p:nvSpPr>
        <p:spPr>
          <a:xfrm>
            <a:off x="0" y="2514600"/>
            <a:ext cx="12188952" cy="1005840"/>
          </a:xfrm>
          <a:prstGeom prst="rect">
            <a:avLst/>
          </a:prstGeom>
          <a:noFill/>
          <a:ln/>
        </p:spPr>
        <p:txBody>
          <a:bodyPr wrap="square" rtlCol="0" anchor="ctr"/>
          <a:lstStyle/>
          <a:p>
            <a:pPr marL="0" indent="0" algn="ctr">
              <a:buNone/>
            </a:pPr>
            <a:r>
              <a:rPr lang="en-US" sz="5000" b="1" dirty="0">
                <a:solidFill>
                  <a:srgbClr val="FFFFFF"/>
                </a:solidFill>
                <a:latin typeface="Poppins" pitchFamily="34" charset="0"/>
                <a:ea typeface="Poppins" pitchFamily="34" charset="-122"/>
                <a:cs typeface="Poppins" pitchFamily="34" charset="-120"/>
              </a:rPr>
              <a:t>THANK YOU!</a:t>
            </a:r>
            <a:endParaRPr lang="en-US" sz="5000" dirty="0"/>
          </a:p>
        </p:txBody>
      </p:sp>
      <p:sp>
        <p:nvSpPr>
          <p:cNvPr id="8" name="Text 5"/>
          <p:cNvSpPr/>
          <p:nvPr/>
        </p:nvSpPr>
        <p:spPr>
          <a:xfrm>
            <a:off x="0" y="3584448"/>
            <a:ext cx="12188952" cy="548640"/>
          </a:xfrm>
          <a:prstGeom prst="rect">
            <a:avLst/>
          </a:prstGeom>
          <a:noFill/>
          <a:ln/>
        </p:spPr>
        <p:txBody>
          <a:bodyPr wrap="square" rtlCol="0" anchor="ctr"/>
          <a:lstStyle/>
          <a:p>
            <a:pPr marL="0" indent="0" algn="ctr">
              <a:buNone/>
            </a:pPr>
            <a:r>
              <a:rPr lang="en-US" sz="2000" i="1" dirty="0">
                <a:solidFill>
                  <a:srgbClr val="E7D9B8"/>
                </a:solidFill>
                <a:latin typeface="Calibri" pitchFamily="34" charset="0"/>
                <a:ea typeface="Calibri" pitchFamily="34" charset="-122"/>
                <a:cs typeface="Calibri" pitchFamily="34" charset="-120"/>
              </a:rPr>
              <a:t>Questions &amp; Discussion</a:t>
            </a:r>
            <a:endParaRPr lang="en-US" sz="2000" dirty="0"/>
          </a:p>
        </p:txBody>
      </p:sp>
      <p:sp>
        <p:nvSpPr>
          <p:cNvPr id="9" name="Shape 6"/>
          <p:cNvSpPr/>
          <p:nvPr/>
        </p:nvSpPr>
        <p:spPr>
          <a:xfrm>
            <a:off x="4494276" y="6291072"/>
            <a:ext cx="3200400" cy="384048"/>
          </a:xfrm>
          <a:prstGeom prst="roundRect">
            <a:avLst>
              <a:gd name="adj" fmla="val 50000"/>
            </a:avLst>
          </a:prstGeom>
          <a:solidFill>
            <a:srgbClr val="FFFFFF"/>
          </a:solidFill>
          <a:ln/>
        </p:spPr>
      </p:sp>
      <p:sp>
        <p:nvSpPr>
          <p:cNvPr id="10" name="Text 7"/>
          <p:cNvSpPr/>
          <p:nvPr/>
        </p:nvSpPr>
        <p:spPr>
          <a:xfrm>
            <a:off x="4494276" y="6291072"/>
            <a:ext cx="3200400" cy="384048"/>
          </a:xfrm>
          <a:prstGeom prst="rect">
            <a:avLst/>
          </a:prstGeom>
          <a:noFill/>
          <a:ln/>
        </p:spPr>
        <p:txBody>
          <a:bodyPr wrap="square" rtlCol="0" anchor="ctr"/>
          <a:lstStyle/>
          <a:p>
            <a:pPr marL="0" indent="0" algn="ctr">
              <a:buNone/>
            </a:pPr>
            <a:r>
              <a:rPr lang="en-US" sz="1050" b="1" dirty="0">
                <a:solidFill>
                  <a:srgbClr val="332A20"/>
                </a:solidFill>
                <a:latin typeface="Calibri" pitchFamily="34" charset="0"/>
                <a:ea typeface="Calibri" pitchFamily="34" charset="-122"/>
                <a:cs typeface="Calibri" pitchFamily="34" charset="-120"/>
              </a:rPr>
              <a:t>Recipe Finder · DSA Project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662</Words>
  <Application>Microsoft Office PowerPoint</Application>
  <PresentationFormat>Widescreen</PresentationFormat>
  <Paragraphs>124</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Monisha Raghini Chelle</cp:lastModifiedBy>
  <cp:revision>3</cp:revision>
  <dcterms:created xsi:type="dcterms:W3CDTF">2026-08-02T15:51:46Z</dcterms:created>
  <dcterms:modified xsi:type="dcterms:W3CDTF">2026-08-02T16:01:14Z</dcterms:modified>
</cp:coreProperties>
</file>